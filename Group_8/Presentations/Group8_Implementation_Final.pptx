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0">
  <p:sldMasterIdLst>
    <p:sldMasterId id="2147483672" r:id="rId1"/>
  </p:sldMasterIdLst>
  <p:notesMasterIdLst>
    <p:notesMasterId r:id="rId24"/>
  </p:notesMasterIdLst>
  <p:handoutMasterIdLst>
    <p:handoutMasterId r:id="rId25"/>
  </p:handoutMasterIdLst>
  <p:sldIdLst>
    <p:sldId id="313" r:id="rId2"/>
    <p:sldId id="314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8" r:id="rId16"/>
    <p:sldId id="327" r:id="rId17"/>
    <p:sldId id="329" r:id="rId18"/>
    <p:sldId id="330" r:id="rId19"/>
    <p:sldId id="331" r:id="rId20"/>
    <p:sldId id="332" r:id="rId21"/>
    <p:sldId id="333" r:id="rId22"/>
    <p:sldId id="334" r:id="rId23"/>
  </p:sldIdLst>
  <p:sldSz cx="12192000" cy="6858000"/>
  <p:notesSz cx="6858000" cy="9144000"/>
  <p:defaultTextStyle>
    <a:lvl1pPr marL="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Calibri" pitchFamily="34" charset="0"/>
        <a:sym typeface="Calibri" pitchFamily="34" charset="0"/>
      </a:defRPr>
    </a:lvl1pPr>
    <a:lvl2pPr marL="4572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Calibri" pitchFamily="34" charset="0"/>
        <a:sym typeface="Calibri" pitchFamily="34" charset="0"/>
      </a:defRPr>
    </a:lvl2pPr>
    <a:lvl3pPr marL="9144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Calibri" pitchFamily="34" charset="0"/>
        <a:sym typeface="Calibri" pitchFamily="34" charset="0"/>
      </a:defRPr>
    </a:lvl3pPr>
    <a:lvl4pPr marL="13716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Calibri" pitchFamily="34" charset="0"/>
        <a:sym typeface="Calibri" pitchFamily="34" charset="0"/>
      </a:defRPr>
    </a:lvl4pPr>
    <a:lvl5pPr marL="18288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Calibri" pitchFamily="34" charset="0"/>
        <a:sym typeface="Calibri" pitchFamily="34" charset="0"/>
      </a:defRPr>
    </a:lvl5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41" autoAdjust="0"/>
    <p:restoredTop sz="94660"/>
  </p:normalViewPr>
  <p:slideViewPr>
    <p:cSldViewPr snapToGrid="0">
      <p:cViewPr varScale="1">
        <p:scale>
          <a:sx n="55" d="100"/>
          <a:sy n="55" d="100"/>
        </p:scale>
        <p:origin x="763" y="3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endParaRPr lang="en-IN" altLang="en-US" sz="1200"/>
          </a:p>
        </p:txBody>
      </p:sp>
      <p:sp>
        <p:nvSpPr>
          <p:cNvPr id="1048917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algn="r"/>
            <a:fld id="{566ABCEB-ACFC-4714-9973-3DA970169C29}" type="datetime1">
              <a:rPr lang="en-IN" altLang="en-US" sz="1200"/>
              <a:pPr lvl="0" algn="r"/>
              <a:t>07-04-2025</a:t>
            </a:fld>
            <a:endParaRPr lang="en-IN" altLang="en-US" sz="1200"/>
          </a:p>
        </p:txBody>
      </p:sp>
      <p:sp>
        <p:nvSpPr>
          <p:cNvPr id="1048918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IN" altLang="en-US" sz="1200"/>
          </a:p>
        </p:txBody>
      </p:sp>
      <p:sp>
        <p:nvSpPr>
          <p:cNvPr id="1048919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566ABCEB-ACFC-4714-9973-3DA970169C29}" type="slidenum">
              <a:rPr lang="en-IN" altLang="en-US" sz="1200"/>
              <a:pPr lvl="0" algn="r"/>
              <a:t>‹#›</a:t>
            </a:fld>
            <a:endParaRPr lang="en-IN" altLang="en-US" sz="120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dk1" tx1="dk1" bg2="dk1" tx2="dk1" accent1="dk1" accent2="dk1" accent3="dk1" accent4="dk1" accent5="dk1" accent6="dk1" hlink="dk1" folHlink="dk1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endParaRPr lang="en-IN" altLang="en-US" sz="1200"/>
          </a:p>
        </p:txBody>
      </p:sp>
      <p:sp>
        <p:nvSpPr>
          <p:cNvPr id="1048911" name="Date Placeholder 2"/>
          <p:cNvSpPr>
            <a:spLocks noGrp="1"/>
          </p:cNvSpPr>
          <p:nvPr>
            <p:ph type="dt" idx="1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algn="r"/>
            <a:fld id="{566ABCEB-ACFC-4714-9973-3DA970169C29}" type="datetime1">
              <a:rPr lang="en-IN" altLang="en-US" sz="1200"/>
              <a:pPr lvl="0" algn="r"/>
              <a:t>07-04-2025</a:t>
            </a:fld>
            <a:endParaRPr lang="en-IN" altLang="en-US" sz="1200"/>
          </a:p>
        </p:txBody>
      </p:sp>
      <p:sp>
        <p:nvSpPr>
          <p:cNvPr id="104891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91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91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IN" altLang="en-US" sz="1200"/>
          </a:p>
        </p:txBody>
      </p:sp>
      <p:sp>
        <p:nvSpPr>
          <p:cNvPr id="104891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566ABCEB-ACFC-4714-9973-3DA970169C29}" type="slidenum">
              <a:rPr lang="en-IN" altLang="en-US" sz="1200"/>
              <a:pPr lvl="0" algn="r"/>
              <a:t>‹#›</a:t>
            </a:fld>
            <a:endParaRPr lang="en-IN" altLang="en-US" sz="1200"/>
          </a:p>
        </p:txBody>
      </p:sp>
    </p:spTree>
  </p:cSld>
  <p:clrMap bg1="dk1" tx1="dk1" bg2="dk1" tx2="dk1" accent1="dk1" accent2="dk1" accent3="dk1" accent4="dk1" accent5="dk1" accent6="dk1" hlink="dk1" folHlink="dk1"/>
  <p:notesStyle>
    <a:lvl1pPr marL="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Calibri" pitchFamily="34" charset="0"/>
      </a:defRPr>
    </a:lvl1pPr>
    <a:lvl2pPr marL="4572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Calibri" pitchFamily="34" charset="0"/>
      </a:defRPr>
    </a:lvl2pPr>
    <a:lvl3pPr marL="9144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Calibri" pitchFamily="34" charset="0"/>
      </a:defRPr>
    </a:lvl3pPr>
    <a:lvl4pPr marL="13716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Calibri" pitchFamily="34" charset="0"/>
      </a:defRPr>
    </a:lvl4pPr>
    <a:lvl5pPr marL="18288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Calibri" pitchFamily="34" charset="0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/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C6989-DC50-BB4D-32DA-E5A3371B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4D8DAD41-6FFD-339E-F228-8ABB5ACC0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D8A3091A-DFF0-182B-928E-A041049E5C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2EDD843C-9BCD-E876-CA18-ACB07798972C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27529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FBBA0-C9BE-06AA-68FD-B82360D59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05BC795E-5FB6-B314-05B2-0292951E8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0AAB65AB-78CE-9163-186F-C8FE4FF92B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C0FCF9D9-8EE7-6EF6-CD8F-F5DA210C5325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811639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01289-95A0-FAD1-F44E-E7192D6F0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A9F0107D-3C71-27A3-D211-D4CC32C7D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E84C7502-54F6-DC9D-E0C9-893C9DC191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DEE1CD2D-AE15-49CA-1EB3-523CC046F22B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449132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9EBCF-F663-BF89-EFA0-2F06B7270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57A3C153-8CE4-8303-3014-224208B36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08755035-BCBB-A5E6-6560-9231760B0E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57957A0C-F3BF-EB15-0A27-F59C95F3BD13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963420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C7B41-F04C-9769-5EEB-55480714A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AF76C9C9-47B6-0E90-2F96-2B5A9FD24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C7FCC8DA-D6C9-C42D-62E5-D44991FB3E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9CF17D37-518F-E9D3-9C35-2AFD6C9BC1E6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680662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7BC5B-CFB2-DD49-8B0A-BCB22A84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17F9C35F-D3E9-C8C2-2F70-84D5D16DC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F0B91DE3-1372-E4E4-A648-7193C59D3D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2138F3A4-6D86-AA6B-8B22-7475A6E779F3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308977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D7C5B-0DEB-BC9B-F520-C9344030D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B0775194-6D6E-41EE-ACDB-323687B14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AE572409-4FB4-DA85-C8BC-5D3EC4D35D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A48E1ACA-4D9A-7CEC-F59E-4FEF9A1E2F1E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666574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7246A-D57B-54D4-3AF3-0AA146038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20335943-4E15-7BCE-190C-D26A37BCF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63EF1A02-2316-7E74-E7EF-639B3B7180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F92FCACA-CDB4-D584-5A09-DC28C5D9D059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854652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53B8-BC91-8DE5-1817-A6F229022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F8A3E57A-974B-9DD3-5CCD-B187CE850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62F27623-7E41-57D1-4935-07EED03BC58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589B1E82-0C2E-9E06-B570-ED7F0C558465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058036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88D30-ED13-0F28-9626-CFBD7890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B926240C-92C8-A7C5-5532-9EC7339C9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F22E619B-0AB1-4F9B-315F-8FCE137481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9DA8B1E4-7064-FA28-1EA7-08F1FB859E5A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920954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28F0-3DEC-3803-80FA-14CD206DF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BE8F8A3B-BE8A-354E-866A-0A9401D1E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4DC9D2B6-E1B1-CF6B-0659-8979643292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25A9E596-3E0B-2E5C-81E1-A047C5938A3F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631122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DA26E-1DA9-64CD-9BE2-D4E78EAD7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EE23F220-9921-F666-4AD7-ACC8617DB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63E80D76-EAF3-26A8-20BA-4F5B99E603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D0E578AB-73E1-0A41-B195-56A0576A7403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65654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73C28-3A2A-EE09-D1B8-0950B166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B6507FFA-2E0F-1983-3451-BBECD9BAA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B717DD02-093D-6B4E-70E7-E81E6FB7E1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42DAD3C2-8AA4-F7EB-8BE4-56665C2AA592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733123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2756-37B5-F6BB-5750-0B7433D6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DA8D16DF-3F7A-81FA-D2F3-40E5EC79F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6743FF51-369B-E8A9-C784-7AF507A35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405B6F63-09F9-6F2C-2951-CAAD2C33C1C3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585079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1A97C-0ADA-C7EF-A419-9D32CB13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DBA75814-2421-3D37-C7FE-CD4CBE14E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9BDA68BC-23DF-FFA0-9833-4F10CA5D0E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BA960414-1F7E-10CA-8AFC-18D8FA562C32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8149177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3FB4-9EE8-5958-6C9F-18202477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6879EDE7-CE1A-88B1-A022-9A04C7BB4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994ACEDB-B99B-2F90-AA66-5807BB8677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E9136D7B-CE4A-CE54-D816-A5C8833C46CB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0095694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66E4-D299-7C9E-D087-A734B408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486B066D-A725-BA85-2EB7-B67DA263C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5473D919-387D-D611-A969-F2D70B0A79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A3C5F47A-96BC-134F-23F9-51C7AD3BFDC4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824866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BFD7B-9730-8825-563F-4B067D16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A029D21D-DB86-50DC-DDAC-586083745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D4442A34-D0EE-CF35-7B77-20287D1828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6157C126-F755-837A-816A-2466EEDE03DF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0530899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BEC51-DE0F-4C7D-9E8F-66B8C00F4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403595B5-D1FF-3EF5-8BF7-701ABF4B9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F74EB721-0633-4C0E-F7C8-82E3AB9DB5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65AFB11F-8577-4830-A425-BC92779F0626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9270968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724D2-B79A-A9A9-98DC-F2273333D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8BDC9F7D-6D39-BAFE-15F8-2CE891968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9E69086C-44F0-643E-D401-8FF871EF1E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A8B1A6AB-A426-6348-8079-CD6BEC4B2B46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9461239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2109C-AEFE-EA67-4B08-B53FE1F3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>
            <a:extLst>
              <a:ext uri="{FF2B5EF4-FFF2-40B4-BE49-F238E27FC236}">
                <a16:creationId xmlns:a16="http://schemas.microsoft.com/office/drawing/2014/main" id="{D6D33D94-BC2F-6CAB-2296-90EDFABFA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86" name="Notes Placeholder 2">
            <a:extLst>
              <a:ext uri="{FF2B5EF4-FFF2-40B4-BE49-F238E27FC236}">
                <a16:creationId xmlns:a16="http://schemas.microsoft.com/office/drawing/2014/main" id="{CF753F54-BDE9-610B-7410-FB1DD878C3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IN" altLang="en-US"/>
              <a:t>Sample slide</a:t>
            </a:r>
          </a:p>
        </p:txBody>
      </p:sp>
      <p:sp>
        <p:nvSpPr>
          <p:cNvPr id="1048587" name="Footer Placeholder 3">
            <a:extLst>
              <a:ext uri="{FF2B5EF4-FFF2-40B4-BE49-F238E27FC236}">
                <a16:creationId xmlns:a16="http://schemas.microsoft.com/office/drawing/2014/main" id="{ED00646D-8F42-B347-E11D-E8E84D2E8012}"/>
              </a:ext>
            </a:extLst>
          </p:cNvPr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/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702902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IN" altLang="en-US" sz="1200">
                <a:solidFill>
                  <a:srgbClr val="898989"/>
                </a:solidFill>
              </a:rPr>
              <a:pPr lvl="0" algn="r" eaLnBrk="1" hangingPunct="1"/>
              <a:t>‹#›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Rectangle 6"/>
          <p:cNvSpPr/>
          <p:nvPr/>
        </p:nvSpPr>
        <p:spPr>
          <a:xfrm>
            <a:off x="0" y="6430962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FFFFFF"/>
              </a:solidFill>
            </a:endParaRPr>
          </a:p>
        </p:txBody>
      </p:sp>
      <p:pic>
        <p:nvPicPr>
          <p:cNvPr id="2097156" name="Group 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096500" y="5994400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1" name="Date Placeholder 3"/>
          <p:cNvSpPr>
            <a:spLocks noGrp="1"/>
          </p:cNvSpPr>
          <p:nvPr>
            <p:ph type="dt" sz="half" idx="2"/>
          </p:nvPr>
        </p:nvSpPr>
        <p:spPr>
          <a:xfrm>
            <a:off x="819150" y="61737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0658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r>
              <a:rPr lang="en-IN" altLang="en-US" sz="1200" b="1">
                <a:solidFill>
                  <a:srgbClr val="A32837"/>
                </a:solidFill>
              </a:rPr>
              <a:t>Gajendra Singh</a:t>
            </a:r>
          </a:p>
          <a:p>
            <a:pPr lvl="0" eaLnBrk="1" hangingPunct="1"/>
            <a:r>
              <a:rPr lang="en-IN" altLang="en-US" sz="1200" b="1">
                <a:solidFill>
                  <a:srgbClr val="A32837"/>
                </a:solidFill>
              </a:rPr>
              <a:t>PA to Vice-Chancellor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838200" y="1401761"/>
            <a:ext cx="10515600" cy="4592639"/>
          </a:xfrm>
        </p:spPr>
        <p:txBody>
          <a:bodyPr/>
          <a:lstStyle>
            <a:lvl1pPr marL="228600" indent="-228600">
              <a:buClr>
                <a:srgbClr val="C00000"/>
              </a:buClr>
              <a:buFont typeface="Wingdings" panose="05000000000000000000" pitchFamily="2" charset="2"/>
              <a:buChar char="v"/>
              <a:defRPr sz="2500" b="0">
                <a:latin typeface="Poopins "/>
              </a:defRPr>
            </a:lvl1pPr>
            <a:lvl2pPr marL="685800" indent="-228600">
              <a:buClr>
                <a:srgbClr val="C00000"/>
              </a:buClr>
              <a:buFont typeface="Courier New" panose="02070309020205020404" pitchFamily="49" charset="0"/>
              <a:buChar char="o"/>
              <a:defRPr sz="2400">
                <a:latin typeface="Avenir LT Pro 65 Medium" panose="020B0603020203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4685"/>
          </a:xfrm>
        </p:spPr>
        <p:txBody>
          <a:bodyPr/>
          <a:lstStyle>
            <a:lvl1pPr>
              <a:defRPr sz="4000" b="1">
                <a:solidFill>
                  <a:srgbClr val="A3283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9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90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IN" altLang="en-US" sz="1200">
                <a:solidFill>
                  <a:srgbClr val="898989"/>
                </a:solidFill>
              </a:rPr>
              <a:pPr lvl="0" algn="r" eaLnBrk="1" hangingPunct="1"/>
              <a:t>‹#›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92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93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IN" altLang="en-US" sz="1200">
                <a:solidFill>
                  <a:srgbClr val="898989"/>
                </a:solidFill>
              </a:rPr>
              <a:pPr lvl="0" algn="r" eaLnBrk="1" hangingPunct="1"/>
              <a:t>‹#›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9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9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9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9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IN" altLang="en-US" sz="1200">
                <a:solidFill>
                  <a:srgbClr val="898989"/>
                </a:solidFill>
              </a:rPr>
              <a:pPr lvl="0" algn="r" eaLnBrk="1" hangingPunct="1"/>
              <a:t>‹#›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IN" altLang="en-US" sz="1200">
                <a:solidFill>
                  <a:srgbClr val="898989"/>
                </a:solidFill>
              </a:rPr>
              <a:pPr lvl="0" algn="r" eaLnBrk="1" hangingPunct="1"/>
              <a:t>‹#›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IN" altLang="en-US" sz="1200">
                <a:solidFill>
                  <a:srgbClr val="898989"/>
                </a:solidFill>
              </a:rPr>
              <a:pPr lvl="0" algn="r" eaLnBrk="1" hangingPunct="1"/>
              <a:t>‹#›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0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0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IN" altLang="en-US" sz="1200">
                <a:solidFill>
                  <a:srgbClr val="898989"/>
                </a:solidFill>
              </a:rPr>
              <a:pPr lvl="0" algn="r" eaLnBrk="1" hangingPunct="1"/>
              <a:t>‹#›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04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90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IN" altLang="en-US" sz="1200">
                <a:solidFill>
                  <a:srgbClr val="898989"/>
                </a:solidFill>
              </a:rPr>
              <a:pPr lvl="0" algn="r" eaLnBrk="1" hangingPunct="1"/>
              <a:t>‹#›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0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IN" altLang="en-US" sz="1200">
                <a:solidFill>
                  <a:srgbClr val="898989"/>
                </a:solidFill>
              </a:rPr>
              <a:pPr lvl="0" algn="r" eaLnBrk="1" hangingPunct="1"/>
              <a:t>‹#›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0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IN" altLang="en-US" sz="1200">
                <a:solidFill>
                  <a:srgbClr val="898989"/>
                </a:solidFill>
              </a:rPr>
              <a:pPr lvl="0" algn="r" eaLnBrk="1" hangingPunct="1"/>
              <a:t>‹#›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IN" altLang="en-US" sz="1200">
                <a:solidFill>
                  <a:srgbClr val="898989"/>
                </a:solidFill>
              </a:rPr>
              <a:pPr lvl="0" eaLnBrk="1" hangingPunct="1"/>
              <a:t>07-04-2025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 eaLnBrk="1" hangingPunct="1"/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IN" altLang="en-US" sz="1200">
                <a:solidFill>
                  <a:srgbClr val="898989"/>
                </a:solidFill>
              </a:rPr>
              <a:pPr lvl="0" algn="r" eaLnBrk="1" hangingPunct="1"/>
              <a:t>‹#›</a:t>
            </a:fld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extBox 5"/>
          <p:cNvSpPr txBox="1"/>
          <p:nvPr/>
        </p:nvSpPr>
        <p:spPr>
          <a:xfrm>
            <a:off x="1330325" y="534987"/>
            <a:ext cx="9307512" cy="59262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228600" indent="-228600" algn="l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685800" indent="-228600" algn="l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Implementation Presentation</a:t>
            </a: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on</a:t>
            </a:r>
          </a:p>
          <a:p>
            <a:pPr marL="0" lvl="0" indent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Times New Roman" pitchFamily="18" charset="0"/>
              </a:rPr>
              <a:t>Topic</a:t>
            </a:r>
            <a:br>
              <a:rPr lang="en-US" altLang="en-US" sz="1100" b="1" dirty="0">
                <a:latin typeface="Times New Roman" pitchFamily="18" charset="0"/>
                <a:ea typeface="Calibri" pitchFamily="34" charset="0"/>
              </a:rPr>
            </a:br>
            <a:r>
              <a:rPr lang="en-GB" altLang="en-US" sz="2400" b="1" dirty="0">
                <a:latin typeface="Times New Roman" pitchFamily="18" charset="0"/>
                <a:ea typeface="Calibri" pitchFamily="34" charset="0"/>
              </a:rPr>
              <a:t>Smart Vitality Tracker with AI</a:t>
            </a:r>
            <a:br>
              <a:rPr lang="en-US" altLang="en-US" sz="800" dirty="0">
                <a:ea typeface="Calibri" pitchFamily="34" charset="0"/>
              </a:rPr>
            </a:b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 </a:t>
            </a:r>
          </a:p>
          <a:p>
            <a:pPr marL="0" lvl="0" indent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Submitted by</a:t>
            </a: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Aditya Raj Singh Tomar                EN22CS301062</a:t>
            </a: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Akash Ghosh                                   EN22CS301082</a:t>
            </a: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Akash Ravi Jaisinghani                  EN22CS301084</a:t>
            </a:r>
          </a:p>
          <a:p>
            <a:pPr marL="0" lvl="0" indent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sz="1800" dirty="0">
                <a:latin typeface="Times New Roman" pitchFamily="18" charset="0"/>
                <a:ea typeface="Calibri" pitchFamily="34" charset="0"/>
              </a:rPr>
              <a:t> </a:t>
            </a:r>
          </a:p>
          <a:p>
            <a:pPr marL="0" lvl="0" indent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Under the supervision of</a:t>
            </a: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Prof. </a:t>
            </a:r>
            <a:r>
              <a:rPr lang="en-US" altLang="en-US" sz="1800" b="1" dirty="0" err="1">
                <a:latin typeface="Times New Roman" pitchFamily="18" charset="0"/>
                <a:ea typeface="Calibri" pitchFamily="34" charset="0"/>
              </a:rPr>
              <a:t>Jyotsana</a:t>
            </a: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 </a:t>
            </a:r>
            <a:r>
              <a:rPr lang="en-US" altLang="en-US" sz="1800" b="1" dirty="0" err="1">
                <a:latin typeface="Times New Roman" pitchFamily="18" charset="0"/>
                <a:ea typeface="Calibri" pitchFamily="34" charset="0"/>
              </a:rPr>
              <a:t>Goyal</a:t>
            </a:r>
            <a:endParaRPr lang="en-US" altLang="en-US" sz="1800" b="1" dirty="0">
              <a:latin typeface="Times New Roman" pitchFamily="18" charset="0"/>
              <a:ea typeface="Calibri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 dirty="0">
              <a:latin typeface="Times New Roman" pitchFamily="18" charset="0"/>
              <a:ea typeface="Calibri" pitchFamily="34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Department of</a:t>
            </a:r>
            <a:r>
              <a:rPr lang="en-US" altLang="en-US" sz="1800" dirty="0">
                <a:latin typeface="Times New Roman" pitchFamily="18" charset="0"/>
                <a:ea typeface="Calibri" pitchFamily="34" charset="0"/>
              </a:rPr>
              <a:t> </a:t>
            </a: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Computer Science &amp; Engineering</a:t>
            </a: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Faculty of</a:t>
            </a:r>
            <a:r>
              <a:rPr lang="en-US" altLang="en-US" sz="1800" dirty="0">
                <a:latin typeface="Times New Roman" pitchFamily="18" charset="0"/>
                <a:ea typeface="Calibri" pitchFamily="34" charset="0"/>
              </a:rPr>
              <a:t> </a:t>
            </a: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Engineering</a:t>
            </a: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Times New Roman" pitchFamily="18" charset="0"/>
                <a:ea typeface="Calibri" pitchFamily="34" charset="0"/>
              </a:rPr>
              <a:t>Medi</a:t>
            </a: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-Caps University, Indore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imes New Roman" pitchFamily="18" charset="0"/>
                <a:ea typeface="Calibri" pitchFamily="34" charset="0"/>
              </a:rPr>
              <a:t> </a:t>
            </a:r>
          </a:p>
        </p:txBody>
      </p:sp>
      <p:pic>
        <p:nvPicPr>
          <p:cNvPr id="2097154" name="Picture 7" descr="logo M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5"/>
            <a:ext cx="1662112" cy="12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/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7187E-9701-7D6D-D2F9-81212C0C4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8F3161CA-DE22-6A5B-549D-C948BA593AC1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5"/>
            <a:ext cx="1662112" cy="12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69B47B67-A856-BFB3-CDC9-D1AA3D4ED74C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D49B79EE-D10D-EFBA-3BCE-7F857BBB0878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41EA7-B068-53C1-BBED-848AE8B9F2FE}"/>
              </a:ext>
            </a:extLst>
          </p:cNvPr>
          <p:cNvSpPr txBox="1"/>
          <p:nvPr/>
        </p:nvSpPr>
        <p:spPr>
          <a:xfrm>
            <a:off x="1925637" y="2971618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Gill Sans MT" panose="020B0502020104020203" pitchFamily="34" charset="0"/>
              </a:rPr>
              <a:t>Implementation of Smart Vitality Tracker with AI</a:t>
            </a:r>
            <a:endParaRPr lang="en-IN" sz="36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86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10CC1-C085-244E-4153-DDD7937F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C1F7F262-C1A1-325B-3219-B833ADFBBA07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03A5E966-565B-84AA-5E67-3805FD4F45B6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25C6F573-F935-B935-5593-6D950A8DAD95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6F54D-3B09-5FFC-92F2-ADA614F5CDB5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Gill Sans MT" panose="020B0502020104020203" pitchFamily="34" charset="0"/>
              </a:rPr>
              <a:t>Technologies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C69320-8A71-9EAD-7D43-00249E223647}"/>
              </a:ext>
            </a:extLst>
          </p:cNvPr>
          <p:cNvSpPr txBox="1"/>
          <p:nvPr/>
        </p:nvSpPr>
        <p:spPr>
          <a:xfrm>
            <a:off x="593558" y="1061363"/>
            <a:ext cx="1018673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Pandas : Pandas is used for handling data in .csv format as </a:t>
            </a:r>
            <a:r>
              <a:rPr lang="en-US" dirty="0" err="1"/>
              <a:t>DataFrames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NumPy : NumPy provides an array object of arbitrary homogeneous items, fast mathematical operations over arrays.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SkLearn</a:t>
            </a:r>
            <a:r>
              <a:rPr lang="en-US" dirty="0"/>
              <a:t> : </a:t>
            </a:r>
            <a:r>
              <a:rPr lang="en-US" dirty="0" err="1"/>
              <a:t>SkLearn</a:t>
            </a:r>
            <a:r>
              <a:rPr lang="en-US" dirty="0"/>
              <a:t> is a Python module integrating classical machine learning algorithms in the tightly-knit world of scientific Python packages (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, matplotlib).</a:t>
            </a:r>
          </a:p>
          <a:p>
            <a:r>
              <a:rPr lang="en-US" dirty="0"/>
              <a:t>Metrics(</a:t>
            </a:r>
            <a:r>
              <a:rPr lang="en-US" dirty="0" err="1"/>
              <a:t>mean_squared_error</a:t>
            </a:r>
            <a:r>
              <a:rPr lang="en-US" dirty="0"/>
              <a:t>), Model selection(</a:t>
            </a:r>
            <a:r>
              <a:rPr lang="en-US" dirty="0" err="1"/>
              <a:t>train_test_split</a:t>
            </a:r>
            <a:r>
              <a:rPr lang="en-US" dirty="0"/>
              <a:t>), Pipeline(Pipeline, </a:t>
            </a:r>
            <a:r>
              <a:rPr lang="en-US" dirty="0" err="1"/>
              <a:t>make_pipeline</a:t>
            </a:r>
            <a:r>
              <a:rPr lang="en-US" dirty="0"/>
              <a:t>), Impute(</a:t>
            </a:r>
            <a:r>
              <a:rPr lang="en-US" dirty="0" err="1"/>
              <a:t>SimpleImputer</a:t>
            </a:r>
            <a:r>
              <a:rPr lang="en-US" dirty="0"/>
              <a:t>), Preprocessing (</a:t>
            </a:r>
            <a:r>
              <a:rPr lang="en-US" dirty="0" err="1"/>
              <a:t>StandardScaler</a:t>
            </a:r>
            <a:r>
              <a:rPr lang="en-US" dirty="0"/>
              <a:t>), Linear Model (</a:t>
            </a:r>
            <a:r>
              <a:rPr lang="en-US" dirty="0" err="1"/>
              <a:t>LinearRegression</a:t>
            </a:r>
            <a:r>
              <a:rPr lang="en-US" dirty="0"/>
              <a:t>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Seaborn/</a:t>
            </a:r>
            <a:r>
              <a:rPr lang="en-US" dirty="0" err="1"/>
              <a:t>MatPlotLib</a:t>
            </a:r>
            <a:r>
              <a:rPr lang="en-US" dirty="0"/>
              <a:t> : Seaborn/</a:t>
            </a:r>
            <a:r>
              <a:rPr lang="en-US" dirty="0" err="1"/>
              <a:t>MatPlotLib</a:t>
            </a:r>
            <a:r>
              <a:rPr lang="en-US" dirty="0"/>
              <a:t> are libraries used for plotting of data.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PyQt5 :  A package developed for easy UI designing and event handling connections (signals/slots).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SciPy : Fundamental algorithms for optimization, Extends NumPy, Provides Specialized data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JobLib</a:t>
            </a:r>
            <a:r>
              <a:rPr lang="en-US" dirty="0"/>
              <a:t> : </a:t>
            </a:r>
            <a:r>
              <a:rPr lang="en-US" dirty="0" err="1"/>
              <a:t>Joblib</a:t>
            </a:r>
            <a:r>
              <a:rPr lang="en-US" dirty="0"/>
              <a:t> enables multiprocessing across several machines or cores on a single machine, which enables programmers to parallelize jobs across numerous machines. Saves and Loads ML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426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4AFAF-5A5B-A7D1-FD8F-18FE0B68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69242B8C-6F2E-3D16-3A1D-94FD5A0FA080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AEC99525-A756-C33E-DAA8-A5DFF21A72D7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3C2CB584-CAAC-C76A-8EFB-05A0D0549A25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BABF1-81A8-D831-199D-8AE7B81CA2AB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Dataset Sample (Sleep Efficiency)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E09C72-E0C7-94EA-B62F-169CBB7CD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385215"/>
              </p:ext>
            </p:extLst>
          </p:nvPr>
        </p:nvGraphicFramePr>
        <p:xfrm>
          <a:off x="263525" y="696901"/>
          <a:ext cx="11495344" cy="4856174"/>
        </p:xfrm>
        <a:graphic>
          <a:graphicData uri="http://schemas.openxmlformats.org/drawingml/2006/table">
            <a:tbl>
              <a:tblPr/>
              <a:tblGrid>
                <a:gridCol w="718459">
                  <a:extLst>
                    <a:ext uri="{9D8B030D-6E8A-4147-A177-3AD203B41FA5}">
                      <a16:colId xmlns:a16="http://schemas.microsoft.com/office/drawing/2014/main" val="3378891431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3760917555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934907738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3292992202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690963282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1517043043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2730402175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3159115894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1157928654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3165847786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2365115209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1408078202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3984341305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3970547079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3787967066"/>
                    </a:ext>
                  </a:extLst>
                </a:gridCol>
                <a:gridCol w="718459">
                  <a:extLst>
                    <a:ext uri="{9D8B030D-6E8A-4147-A177-3AD203B41FA5}">
                      <a16:colId xmlns:a16="http://schemas.microsoft.com/office/drawing/2014/main" val="353588951"/>
                    </a:ext>
                  </a:extLst>
                </a:gridCol>
              </a:tblGrid>
              <a:tr h="785804"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ID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Gender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Bedtime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Wakeup time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Sleep duration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Sleep efficiency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REM sleep percentage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Deep sleep percentage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Light sleep percentage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Awakenings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Caffeine consumption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Alcohol consumption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Smoking status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Exercise frequency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153720"/>
                  </a:ext>
                </a:extLst>
              </a:tr>
              <a:tr h="678395"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65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2021-03-06 01:00:00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2021-03-06 07:00:00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0.88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113073"/>
                  </a:ext>
                </a:extLst>
              </a:tr>
              <a:tr h="678395"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69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2021-12-05 02:00:00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2021-12-05 09:00:00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0.66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24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53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286909"/>
                  </a:ext>
                </a:extLst>
              </a:tr>
              <a:tr h="678395"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2021-05-25 21:30:00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2021-05-25 05:30:00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8.0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0.89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No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301131"/>
                  </a:ext>
                </a:extLst>
              </a:tr>
              <a:tr h="678395"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2021-11-03 02:30:00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2021-11-03 08:30:00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0.51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52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968971"/>
                  </a:ext>
                </a:extLst>
              </a:tr>
              <a:tr h="678395"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2021-03-13 01:00:00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2021-03-13 09:00:00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0.76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459615"/>
                  </a:ext>
                </a:extLst>
              </a:tr>
              <a:tr h="678395">
                <a:tc>
                  <a:txBody>
                    <a:bodyPr/>
                    <a:lstStyle/>
                    <a:p>
                      <a:r>
                        <a:rPr lang="en-IN" sz="1200"/>
                        <a:t>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2021-07-01 21:00:00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2021-07-01 04:30:00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7.5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0.9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</a:t>
                      </a:r>
                      <a:endParaRPr lang="en-IN" sz="1200" dirty="0"/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235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5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B65D5-F62A-735D-DAAE-9854252C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76FCDEAF-0D3C-74BA-DC08-77A2E28BFEE5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A29B001E-CBCC-4653-1052-8FB422065C55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B32955CC-390B-5AC6-4441-43A3CBFDE6CE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FF4190-0960-9306-2C3E-87DC1ABD1212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Gill Sans MT" panose="020B0502020104020203" pitchFamily="34" charset="0"/>
              </a:rPr>
              <a:t>Code: Sleep Analysis Model (Overview)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45AE95-2EAA-05D6-B7DF-E63F8006F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9986" y="2266788"/>
            <a:ext cx="6401693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20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1F538-BCD3-6A2F-D31A-985F3271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6524ADA2-99DF-BECE-7F1C-27C0304AD4DD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A8206159-6CF5-3C57-E858-2E892FC9C808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3BB36677-714B-4E44-C6A7-45E20B20A397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D19B5-6CEB-0E76-6545-97CD6D001A8F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Finding Outliers: Sleep Analysis Model (Overview)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FF065-3A2E-EC90-E3B5-AEEE6635886B}"/>
              </a:ext>
            </a:extLst>
          </p:cNvPr>
          <p:cNvSpPr txBox="1"/>
          <p:nvPr/>
        </p:nvSpPr>
        <p:spPr>
          <a:xfrm>
            <a:off x="1765968" y="1061364"/>
            <a:ext cx="93846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Scatter-plot shows us the relation between “Exercise Frequency”  and  “Sleep Efficiency”.</a:t>
            </a:r>
          </a:p>
          <a:p>
            <a:r>
              <a:rPr lang="en-US" dirty="0"/>
              <a:t>The graph can be interpreted as higher the exercise frequency, higher the sleep efficiency.</a:t>
            </a:r>
          </a:p>
          <a:p>
            <a:r>
              <a:rPr lang="en-US" dirty="0"/>
              <a:t>The data-point that shows otherwise, needs to be dropped.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1EDF49-569D-00C7-1B34-FCD967DD9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197" y="2118050"/>
            <a:ext cx="4200803" cy="378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145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3425-2DDD-2FEC-049D-44C7235F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0940E39A-80EA-6CB5-9FB7-A06C802DEB09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F803678D-3071-3C1B-4D99-F4E35E8A645E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A05E83D4-D97C-0731-385E-09C9242ECD6A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B1E01-E096-FF6C-84DE-8DF316780B8A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Finding Outliers: Sleep Analysis Model (Overview)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D6D16-3959-C4DA-456D-EAFBE9180158}"/>
              </a:ext>
            </a:extLst>
          </p:cNvPr>
          <p:cNvSpPr txBox="1"/>
          <p:nvPr/>
        </p:nvSpPr>
        <p:spPr>
          <a:xfrm>
            <a:off x="1765968" y="1061364"/>
            <a:ext cx="9384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Scatter-plot shows us the relation between “Alcohol Consumption”  and  “Sleep Efficiency”.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77100E-CCBA-2897-3BA0-D7D88033D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7861" y="1485934"/>
            <a:ext cx="5451128" cy="472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7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E5E03-0061-A69E-13CC-AB81D7062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D0DE198A-219B-CB88-68EE-4D07DC0914D3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E0C0A64D-07E0-9270-5FF0-D4C1F15C5D74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02D58E21-35C7-0D70-5136-E24F1648C77C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E62BD4-8C44-7BCB-C743-41D20A73B71A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Data Cleaning: Handling the missing Values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F9ACA-217A-2C97-6078-354EEB72962C}"/>
              </a:ext>
            </a:extLst>
          </p:cNvPr>
          <p:cNvSpPr txBox="1"/>
          <p:nvPr/>
        </p:nvSpPr>
        <p:spPr>
          <a:xfrm>
            <a:off x="1765968" y="1061364"/>
            <a:ext cx="9384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next step is to remove any missing Values and filling them with a default value.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6E119E-0101-6539-990D-14385E539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669" y="1698285"/>
            <a:ext cx="6434194" cy="463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9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C0966-7E83-CAD8-B927-75CBAD30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78A213C4-0C67-A34E-881E-FBA990F96492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287C0177-C7D7-F10E-25D9-EC6330A8130D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C4C2B44F-B651-F6A6-465B-33468F4B7850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EEE55-403E-54C1-873F-F269ADB65BB5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Feature Engineering: </a:t>
            </a:r>
            <a:r>
              <a:rPr lang="en-US" sz="3600" dirty="0" err="1">
                <a:latin typeface="+mn-lt"/>
              </a:rPr>
              <a:t>HeatMap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A3A37-1DB7-63BA-B663-0B23660E0BBE}"/>
              </a:ext>
            </a:extLst>
          </p:cNvPr>
          <p:cNvSpPr txBox="1"/>
          <p:nvPr/>
        </p:nvSpPr>
        <p:spPr>
          <a:xfrm>
            <a:off x="1765968" y="1061364"/>
            <a:ext cx="9384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HeatMap</a:t>
            </a:r>
            <a:r>
              <a:rPr lang="en-US" dirty="0"/>
              <a:t> shows that the correlation coefficient between “light sleep %” and “Deep Sleep %” is 0.99, and thus one needs to be dropped.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D9B0BA-3DCB-F630-9152-4AB42B0CF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5837" y="1630819"/>
            <a:ext cx="6298164" cy="468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31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C851A-AFF9-001B-842A-43284DE6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67C3C700-892A-EB1C-13C3-6F3443F149D6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C32FB3F3-8AAA-F6A3-E076-C0976181E03C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276CA591-B9A0-162B-03E5-5835DED1D13F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D5DAF8-5D20-BB1A-5FA0-AADF41DD3D91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Feature Engineering: </a:t>
            </a:r>
            <a:r>
              <a:rPr lang="en-US" sz="3600" dirty="0" err="1">
                <a:latin typeface="+mn-lt"/>
              </a:rPr>
              <a:t>HeatMap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8DDDBC-1252-BA64-E35F-1C201DF12F64}"/>
              </a:ext>
            </a:extLst>
          </p:cNvPr>
          <p:cNvSpPr txBox="1"/>
          <p:nvPr/>
        </p:nvSpPr>
        <p:spPr>
          <a:xfrm>
            <a:off x="1765968" y="1061364"/>
            <a:ext cx="9384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HeatMap</a:t>
            </a:r>
            <a:r>
              <a:rPr lang="en-US" dirty="0"/>
              <a:t> shows that the correlation coefficient between “light sleep %” and “Deep Sleep %” is 0.99, and thus one needs to be dropped.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AEF85F-AF95-D384-2B9A-2AA239241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1" y="125780"/>
            <a:ext cx="12153900" cy="618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589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AE06C-8C24-E0D0-80D7-DE08326A0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CE0459FC-217B-D304-88AC-D59A14C5CC5D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AD7CC993-8E81-AC71-BD5F-365D7DA09640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62CFAC61-28AA-E0CB-8087-18BF286D3170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A9F4CA-800E-2381-2707-DBFEFA5F09E5}"/>
              </a:ext>
            </a:extLst>
          </p:cNvPr>
          <p:cNvSpPr txBox="1"/>
          <p:nvPr/>
        </p:nvSpPr>
        <p:spPr>
          <a:xfrm>
            <a:off x="1925637" y="181659"/>
            <a:ext cx="9576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+mn-lt"/>
              </a:rPr>
              <a:t>Feature Engineering: impact of gender on sleep efficiency</a:t>
            </a:r>
            <a:endParaRPr lang="en-IN" sz="2800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3F789-76C3-E898-D614-98CAB55641FD}"/>
              </a:ext>
            </a:extLst>
          </p:cNvPr>
          <p:cNvSpPr txBox="1"/>
          <p:nvPr/>
        </p:nvSpPr>
        <p:spPr>
          <a:xfrm>
            <a:off x="1925637" y="738198"/>
            <a:ext cx="9384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box plot shows that gender does not significantly affect sleep efficiency and can therefore be dropped as a variable.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FB7BEC-29B0-EB6A-5B8B-F13F9AE0E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6849" y="1532553"/>
            <a:ext cx="5415677" cy="475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59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41715-D714-6FCD-3E21-348EE949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F3E947B8-8D64-9009-EDA1-AFAB4B9EAD85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A2FF20F9-6C41-3E2F-6375-C2354BD3857B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B566871A-2927-2C73-BEF8-0C62DA1F126E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478C7-CED6-9324-2206-2A215A9183FD}"/>
              </a:ext>
            </a:extLst>
          </p:cNvPr>
          <p:cNvSpPr txBox="1"/>
          <p:nvPr/>
        </p:nvSpPr>
        <p:spPr>
          <a:xfrm>
            <a:off x="1925637" y="181659"/>
            <a:ext cx="9576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+mn-lt"/>
              </a:rPr>
              <a:t>Feature Engineering: impact of gender on sleep efficiency.</a:t>
            </a:r>
            <a:endParaRPr lang="en-IN" sz="2800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267D37-EA26-AB4C-36A3-596055ECD69C}"/>
              </a:ext>
            </a:extLst>
          </p:cNvPr>
          <p:cNvSpPr txBox="1"/>
          <p:nvPr/>
        </p:nvSpPr>
        <p:spPr>
          <a:xfrm>
            <a:off x="1925637" y="738198"/>
            <a:ext cx="9384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can also be verified by conducting a T- test , the p-value is high and therefore, gender doesn’t affect Sleep Efficiency.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1137D-ECB5-DE5A-F2DA-937A9BCC77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920" y="2170514"/>
            <a:ext cx="8776370" cy="340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09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02FE-6896-BFB3-CCE6-809D5A63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87C2C63D-4DAB-B4A6-1344-647931A475A9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2BD1A47F-407D-C83A-247C-B177E1280E1B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5B8815C3-E16A-822D-0883-34A65A4D2AAD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0D522-1856-674D-1FB1-BDDBF70E5CDD}"/>
              </a:ext>
            </a:extLst>
          </p:cNvPr>
          <p:cNvSpPr txBox="1"/>
          <p:nvPr/>
        </p:nvSpPr>
        <p:spPr>
          <a:xfrm>
            <a:off x="1925637" y="181659"/>
            <a:ext cx="9576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Preparing Pipeline: Sleep Analysis Model (Overview)</a:t>
            </a:r>
            <a:endParaRPr lang="en-IN" sz="3200" dirty="0">
              <a:latin typeface="Gill Sans MT" panose="020B05020201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4A3767-AF0B-E36B-B8B9-8B466C093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9767" y="1291400"/>
            <a:ext cx="6049219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8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38E8F-D389-3F39-332E-ED379C7E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F1E1A326-564F-4B85-9D0C-ABB9A7D3DD82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D9D425C1-5DB9-AB2D-2405-EE3065E57861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3D49A3C0-E7D4-B068-1FDD-169F136C55B8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8AB11-F14F-A90E-6249-42AB09098831}"/>
              </a:ext>
            </a:extLst>
          </p:cNvPr>
          <p:cNvSpPr txBox="1"/>
          <p:nvPr/>
        </p:nvSpPr>
        <p:spPr>
          <a:xfrm>
            <a:off x="1925637" y="181659"/>
            <a:ext cx="9576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Splitting and training: Sleep Analysis Model (Overview)</a:t>
            </a:r>
            <a:endParaRPr lang="en-IN" sz="3200" dirty="0">
              <a:latin typeface="Gill Sans MT" panose="020B05020201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DAF72-5A43-331E-693D-ACF69B927A70}"/>
              </a:ext>
            </a:extLst>
          </p:cNvPr>
          <p:cNvSpPr txBox="1"/>
          <p:nvPr/>
        </p:nvSpPr>
        <p:spPr>
          <a:xfrm>
            <a:off x="2582778" y="910168"/>
            <a:ext cx="8406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</a:t>
            </a:r>
            <a:r>
              <a:rPr lang="en-US" dirty="0" err="1"/>
              <a:t>RandomForestRegressor</a:t>
            </a:r>
            <a:r>
              <a:rPr lang="en-US" dirty="0"/>
              <a:t> and </a:t>
            </a:r>
            <a:r>
              <a:rPr lang="en-US" dirty="0" err="1"/>
              <a:t>GridSearchCV</a:t>
            </a:r>
            <a:r>
              <a:rPr lang="en-US" dirty="0"/>
              <a:t> , the MSE value is 0.0265.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268B0-A124-9481-0BDA-78EF80E9B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421" y="1623161"/>
            <a:ext cx="6535663" cy="462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41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13A75-8DBD-F93E-52EB-664FC993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ADBA48E4-1A8D-A59F-E733-6A3CF3743DAA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F683E4E4-BA0F-C576-D376-E025D8037E28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B8397401-0A5D-E15E-4751-6ABEB195B031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4B5A55-DB55-E8B2-CE83-736B6699DD64}"/>
              </a:ext>
            </a:extLst>
          </p:cNvPr>
          <p:cNvSpPr txBox="1"/>
          <p:nvPr/>
        </p:nvSpPr>
        <p:spPr>
          <a:xfrm>
            <a:off x="1925637" y="181659"/>
            <a:ext cx="9576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Splitting and training: Sleep Analysis Model (Overview)</a:t>
            </a:r>
            <a:endParaRPr lang="en-IN" sz="3200" dirty="0">
              <a:latin typeface="Gill Sans MT" panose="020B05020201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44F4C8-0AD9-FE9C-DD39-A783624984A4}"/>
              </a:ext>
            </a:extLst>
          </p:cNvPr>
          <p:cNvSpPr txBox="1"/>
          <p:nvPr/>
        </p:nvSpPr>
        <p:spPr>
          <a:xfrm>
            <a:off x="2582778" y="910168"/>
            <a:ext cx="84060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Linear Regression Model, the lower MSE value implies that LR is a better fit for our Model.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659C71-3E87-ADFD-947D-ACAF73915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245" y="1525177"/>
            <a:ext cx="9105509" cy="399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924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50F77-B4C9-6DD7-0633-548A710E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54BF40B8-C1A4-FCC1-3847-275988211FA0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DC7FCD49-53D6-071D-BE1A-29A37811ABC6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9CBDE049-579A-CBD6-11EC-9BDA039832B9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92D81-4F8E-64FC-553E-3D5F54BCFCBC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Using </a:t>
            </a:r>
            <a:r>
              <a:rPr lang="en-US" sz="3600" dirty="0" err="1">
                <a:latin typeface="+mn-lt"/>
              </a:rPr>
              <a:t>Joblib</a:t>
            </a:r>
            <a:r>
              <a:rPr lang="en-US" sz="3600" dirty="0">
                <a:latin typeface="+mn-lt"/>
              </a:rPr>
              <a:t>: Sleep Analysis Model (Overview)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2C621-A6C4-E777-9FC0-905409DB2FD5}"/>
              </a:ext>
            </a:extLst>
          </p:cNvPr>
          <p:cNvSpPr txBox="1"/>
          <p:nvPr/>
        </p:nvSpPr>
        <p:spPr>
          <a:xfrm>
            <a:off x="2582778" y="910168"/>
            <a:ext cx="8406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</a:t>
            </a:r>
            <a:r>
              <a:rPr lang="en-US" dirty="0" err="1"/>
              <a:t>joblib</a:t>
            </a:r>
            <a:r>
              <a:rPr lang="en-US" dirty="0"/>
              <a:t> to save our Trained Sleep Analysis Model.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A88CF-8318-5E4B-2DEC-BD87BC631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973" y="2580377"/>
            <a:ext cx="4649871" cy="163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16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62466-6193-529D-AE70-2EF8C87F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0816EC9F-FBEF-1C00-E131-18DEDA936569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5"/>
            <a:ext cx="1662112" cy="12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6F2FA6F6-1273-FDED-B2D6-20FFC5DE7658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41354E98-AB28-4679-7DCF-262BB85953AB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61DFD-9824-117E-78CE-26793EEEFCD2}"/>
              </a:ext>
            </a:extLst>
          </p:cNvPr>
          <p:cNvSpPr txBox="1"/>
          <p:nvPr/>
        </p:nvSpPr>
        <p:spPr>
          <a:xfrm>
            <a:off x="1925637" y="2971618"/>
            <a:ext cx="9576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latin typeface="+mn-lt"/>
              </a:rPr>
              <a:t>UI Design using React + Vite</a:t>
            </a:r>
            <a:endParaRPr lang="en-IN" sz="5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376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023D-3835-DB4A-6A12-0DA11AA84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926EE1CE-DD26-923E-5931-E7D2F93C7EA6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443DD025-9E3F-69D8-4BD3-D6268B7C20F6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FF301ED5-BD26-C949-48A8-8315ED3E079B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18418-988E-8522-7F9D-6B8C8EBEBFC2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Code: UI Design by React + Vite (Overview)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1D966F-D857-75D0-931D-C9F9FD1A27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724" y="860084"/>
            <a:ext cx="9576552" cy="466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67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29304-F5B9-96C6-E1F3-64EB098D4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CFE239CD-7CFA-E5EA-36BA-DFDE68BF9B82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10DEDEC5-9BDC-3428-74D3-24E544D1EF38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18FDF05C-3C02-3751-09EB-80A1EE59B01E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D31A9-3816-1BA9-6613-1A3E126B2A64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Code: UI Design by React + Vite (Overview)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826EA-2602-A260-9A1B-8454FBCE03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724" y="811785"/>
            <a:ext cx="9576552" cy="475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26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EA3FB-55CF-EBCA-6589-158A92648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A0253415-C997-F279-D862-1B54553A59BD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320BA49C-7BFC-8327-14C0-289BD0E0B02B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9687D611-0D57-98B7-BF75-31EFAFC028E9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A4927-3A8F-7E86-4D8C-355BFD4C7660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Code: UI Design by React + Vite (Overview)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0D6DB2-1FF4-8227-D83C-A0B933CB32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653" y="827990"/>
            <a:ext cx="7074568" cy="531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55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F995-AAF0-D9B2-6FF1-31851F5E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7D4A0F74-714B-FC27-2052-33B27FABC6EF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7BFE5D38-85A7-397F-F359-5241DDAF870A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230FFBF2-2595-2B7C-AC85-787886EC7953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FAB48-C54A-CF7C-BB2F-14E2D713E316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Code: UI Design by React + Vite (Overview)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1DFE42-5E96-8141-C146-E77272EDE1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876" y="827990"/>
            <a:ext cx="9576552" cy="469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58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12671-A252-7E12-7F33-7B704EC55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logo M.png">
            <a:extLst>
              <a:ext uri="{FF2B5EF4-FFF2-40B4-BE49-F238E27FC236}">
                <a16:creationId xmlns:a16="http://schemas.microsoft.com/office/drawing/2014/main" id="{992013CA-47C0-F2DB-9964-34161EAB517C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3525" y="149226"/>
            <a:ext cx="991351" cy="91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roup 8">
            <a:extLst>
              <a:ext uri="{FF2B5EF4-FFF2-40B4-BE49-F238E27FC236}">
                <a16:creationId xmlns:a16="http://schemas.microsoft.com/office/drawing/2014/main" id="{0B26DB78-F252-ADC3-D0C7-DE6B5F58CE45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28250" y="5553075"/>
            <a:ext cx="20447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Rectangle 4">
            <a:extLst>
              <a:ext uri="{FF2B5EF4-FFF2-40B4-BE49-F238E27FC236}">
                <a16:creationId xmlns:a16="http://schemas.microsoft.com/office/drawing/2014/main" id="{D75E3012-30AA-9B37-932F-6EEF868F72CF}"/>
              </a:ext>
            </a:extLst>
          </p:cNvPr>
          <p:cNvSpPr/>
          <p:nvPr/>
        </p:nvSpPr>
        <p:spPr>
          <a:xfrm>
            <a:off x="0" y="6416675"/>
            <a:ext cx="12192000" cy="457200"/>
          </a:xfrm>
          <a:prstGeom prst="rect">
            <a:avLst/>
          </a:prstGeom>
          <a:solidFill>
            <a:srgbClr val="A32837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Calibri" pitchFamily="34" charset="0"/>
              </a:defRPr>
            </a:lvl5pPr>
          </a:lstStyle>
          <a:p>
            <a:pPr lvl="0" algn="ctr">
              <a:spcAft>
                <a:spcPts val="1000"/>
              </a:spcAft>
            </a:pPr>
            <a:r>
              <a:rPr lang="en-GB" alt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0"/>
              </a:rPr>
              <a:t>Smart Vitality Tracker with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7CF33-3CF2-0DF4-7522-8B5A5B6ECC0C}"/>
              </a:ext>
            </a:extLst>
          </p:cNvPr>
          <p:cNvSpPr txBox="1"/>
          <p:nvPr/>
        </p:nvSpPr>
        <p:spPr>
          <a:xfrm>
            <a:off x="1925637" y="181659"/>
            <a:ext cx="957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n-lt"/>
              </a:rPr>
              <a:t>Code: UI Design by React + Vite (Overview)</a:t>
            </a:r>
            <a:endParaRPr lang="en-IN" sz="3600" dirty="0">
              <a:latin typeface="Gill Sans MT" panose="020B05020201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C27FD6-1316-D327-16F0-46927F0989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91490"/>
            <a:ext cx="9384632" cy="459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7E6E6"/>
        </a:dk2>
        <a:lt2>
          <a:srgbClr val="44546A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908</Words>
  <Application>Microsoft Office PowerPoint</Application>
  <PresentationFormat>Widescreen</PresentationFormat>
  <Paragraphs>218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Avenir LT Pro 65 Medium</vt:lpstr>
      <vt:lpstr>Calibri</vt:lpstr>
      <vt:lpstr>Calibri Light</vt:lpstr>
      <vt:lpstr>Courier New</vt:lpstr>
      <vt:lpstr>Gill Sans MT</vt:lpstr>
      <vt:lpstr>Poopins </vt:lpstr>
      <vt:lpstr>Poppins Medium</vt:lpstr>
      <vt:lpstr>Times New Roman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medicaps109</dc:creator>
  <cp:lastModifiedBy>akash kushwaha</cp:lastModifiedBy>
  <cp:revision>39</cp:revision>
  <dcterms:created xsi:type="dcterms:W3CDTF">2023-08-19T04:35:46Z</dcterms:created>
  <dcterms:modified xsi:type="dcterms:W3CDTF">2025-04-07T05:56:21Z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87aa5034359d4eb0ba81925f0d96e669</vt:lpwstr>
  </property>
</Properties>
</file>