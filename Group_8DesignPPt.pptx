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72" r:id="rId1"/>
  </p:sldMasterIdLst>
  <p:notesMasterIdLst>
    <p:notesMasterId r:id="rId28"/>
  </p:notesMasterIdLst>
  <p:handoutMasterIdLst>
    <p:handoutMasterId r:id="rId29"/>
  </p:handoutMasterIdLst>
  <p:sldIdLst>
    <p:sldId id="312" r:id="rId2"/>
    <p:sldId id="313" r:id="rId3"/>
    <p:sldId id="339" r:id="rId4"/>
    <p:sldId id="337" r:id="rId5"/>
    <p:sldId id="338" r:id="rId6"/>
    <p:sldId id="322" r:id="rId7"/>
    <p:sldId id="334" r:id="rId8"/>
    <p:sldId id="335" r:id="rId9"/>
    <p:sldId id="336" r:id="rId10"/>
    <p:sldId id="324" r:id="rId11"/>
    <p:sldId id="317" r:id="rId12"/>
    <p:sldId id="316" r:id="rId13"/>
    <p:sldId id="325" r:id="rId14"/>
    <p:sldId id="323" r:id="rId15"/>
    <p:sldId id="318" r:id="rId16"/>
    <p:sldId id="326" r:id="rId17"/>
    <p:sldId id="332" r:id="rId18"/>
    <p:sldId id="319" r:id="rId19"/>
    <p:sldId id="327" r:id="rId20"/>
    <p:sldId id="333" r:id="rId21"/>
    <p:sldId id="320" r:id="rId22"/>
    <p:sldId id="328" r:id="rId23"/>
    <p:sldId id="331" r:id="rId24"/>
    <p:sldId id="321" r:id="rId25"/>
    <p:sldId id="329" r:id="rId26"/>
    <p:sldId id="330" r:id="rId27"/>
  </p:sldIdLst>
  <p:sldSz cx="12192000" cy="6858000"/>
  <p:notesSz cx="6858000" cy="9144000"/>
  <p:defaultTextStyle>
    <a:lvl1pPr marL="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41" autoAdjust="0"/>
    <p:restoredTop sz="94660"/>
  </p:normalViewPr>
  <p:slideViewPr>
    <p:cSldViewPr snapToGrid="0">
      <p:cViewPr varScale="1">
        <p:scale>
          <a:sx n="115" d="100"/>
          <a:sy n="115" d="100"/>
        </p:scale>
        <p:origin x="438" y="10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916" name="Header Placeholder 1"/>
          <p:cNvSpPr>
            <a:spLocks noGrp="1"/>
          </p:cNvSpPr>
          <p:nvPr>
            <p:ph type="hdr" sz="quarter"/>
          </p:nvPr>
        </p:nvSpPr>
        <p:spPr>
          <a:xfrm>
            <a:off x="0" y="0"/>
            <a:ext cx="2971800" cy="458787"/>
          </a:xfrm>
          <a:prstGeom prst="rect">
            <a:avLst/>
          </a:prstGeom>
          <a:noFill/>
          <a:ln>
            <a:noFill/>
          </a:ln>
        </p:spPr>
        <p:txBody>
          <a:bodyPr vert="horz" lIns="91440" tIns="45720" rIns="91440" bIns="45720" anchor="t"/>
          <a:lstStyle/>
          <a:p>
            <a:pPr lvl="0"/>
            <a:endParaRPr lang="en-IN" altLang="en-US" sz="1200"/>
          </a:p>
        </p:txBody>
      </p:sp>
      <p:sp>
        <p:nvSpPr>
          <p:cNvPr id="1048917" name="Date Placeholder 2"/>
          <p:cNvSpPr>
            <a:spLocks noGrp="1"/>
          </p:cNvSpPr>
          <p:nvPr>
            <p:ph type="dt" sz="quarter" idx="1"/>
          </p:nvPr>
        </p:nvSpPr>
        <p:spPr>
          <a:xfrm>
            <a:off x="3884612" y="0"/>
            <a:ext cx="2971800" cy="458787"/>
          </a:xfrm>
          <a:prstGeom prst="rect">
            <a:avLst/>
          </a:prstGeom>
          <a:noFill/>
          <a:ln>
            <a:noFill/>
          </a:ln>
        </p:spPr>
        <p:txBody>
          <a:bodyPr vert="horz" lIns="91440" tIns="45720" rIns="91440" bIns="45720" anchor="t"/>
          <a:lstStyle/>
          <a:p>
            <a:pPr lvl="0" algn="r"/>
            <a:fld id="{566ABCEB-ACFC-4714-9973-3DA970169C29}" type="datetime1">
              <a:rPr lang="en-IN" altLang="en-US" sz="1200"/>
              <a:pPr lvl="0" algn="r"/>
              <a:t>16-02-2025</a:t>
            </a:fld>
            <a:endParaRPr lang="en-IN" altLang="en-US" sz="1200"/>
          </a:p>
        </p:txBody>
      </p:sp>
      <p:sp>
        <p:nvSpPr>
          <p:cNvPr id="1048918" name="Footer Placeholder 3"/>
          <p:cNvSpPr>
            <a:spLocks noGrp="1"/>
          </p:cNvSpPr>
          <p:nvPr>
            <p:ph type="ftr" sz="quarter" idx="2"/>
          </p:nvPr>
        </p:nvSpPr>
        <p:spPr>
          <a:xfrm>
            <a:off x="0" y="8685212"/>
            <a:ext cx="2971800" cy="458787"/>
          </a:xfrm>
          <a:prstGeom prst="rect">
            <a:avLst/>
          </a:prstGeom>
          <a:noFill/>
          <a:ln>
            <a:noFill/>
          </a:ln>
        </p:spPr>
        <p:txBody>
          <a:bodyPr vert="horz" lIns="91440" tIns="45720" rIns="91440" bIns="45720" anchor="b"/>
          <a:lstStyle/>
          <a:p>
            <a:pPr lvl="0"/>
            <a:endParaRPr lang="en-IN" altLang="en-US" sz="1200"/>
          </a:p>
        </p:txBody>
      </p:sp>
      <p:sp>
        <p:nvSpPr>
          <p:cNvPr id="1048919" name="Slide Number Placeholder 4"/>
          <p:cNvSpPr>
            <a:spLocks noGrp="1"/>
          </p:cNvSpPr>
          <p:nvPr>
            <p:ph type="sldNum" sz="quarter" idx="3"/>
          </p:nvPr>
        </p:nvSpPr>
        <p:spPr>
          <a:xfrm>
            <a:off x="3884612" y="8685212"/>
            <a:ext cx="2971800" cy="458787"/>
          </a:xfrm>
          <a:prstGeom prst="rect">
            <a:avLst/>
          </a:prstGeom>
          <a:noFill/>
          <a:ln>
            <a:noFill/>
          </a:ln>
        </p:spPr>
        <p:txBody>
          <a:bodyPr vert="horz" lIns="91440" tIns="45720" rIns="91440" bIns="45720" anchor="b"/>
          <a:lstStyle/>
          <a:p>
            <a:pPr lvl="0" algn="r"/>
            <a:fld id="{566ABCEB-ACFC-4714-9973-3DA970169C29}" type="slidenum">
              <a:rPr lang="en-IN" altLang="en-US" sz="1200"/>
              <a:pPr lvl="0" algn="r"/>
              <a:t>‹#›</a:t>
            </a:fld>
            <a:endParaRPr lang="en-IN" altLang="en-US" sz="1200"/>
          </a:p>
        </p:txBody>
      </p:sp>
    </p:spTree>
  </p:cSld>
  <p:clrMap bg1="dk1" tx1="dk1" bg2="dk1" tx2="dk1" accent1="dk1" accent2="dk1" accent3="dk1" accent4="dk1" accent5="dk1" accent6="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10" name="Header Placeholder 1"/>
          <p:cNvSpPr>
            <a:spLocks noGrp="1"/>
          </p:cNvSpPr>
          <p:nvPr>
            <p:ph type="hdr" sz="quarter"/>
          </p:nvPr>
        </p:nvSpPr>
        <p:spPr>
          <a:xfrm>
            <a:off x="0" y="0"/>
            <a:ext cx="2971800" cy="458787"/>
          </a:xfrm>
          <a:prstGeom prst="rect">
            <a:avLst/>
          </a:prstGeom>
          <a:noFill/>
          <a:ln>
            <a:noFill/>
          </a:ln>
        </p:spPr>
        <p:txBody>
          <a:bodyPr vert="horz" lIns="91440" tIns="45720" rIns="91440" bIns="45720" anchor="t"/>
          <a:lstStyle/>
          <a:p>
            <a:pPr lvl="0"/>
            <a:endParaRPr lang="en-IN" altLang="en-US" sz="1200"/>
          </a:p>
        </p:txBody>
      </p:sp>
      <p:sp>
        <p:nvSpPr>
          <p:cNvPr id="1048911" name="Date Placeholder 2"/>
          <p:cNvSpPr>
            <a:spLocks noGrp="1"/>
          </p:cNvSpPr>
          <p:nvPr>
            <p:ph type="dt" idx="1"/>
          </p:nvPr>
        </p:nvSpPr>
        <p:spPr>
          <a:xfrm>
            <a:off x="3884612" y="0"/>
            <a:ext cx="2971800" cy="458787"/>
          </a:xfrm>
          <a:prstGeom prst="rect">
            <a:avLst/>
          </a:prstGeom>
          <a:noFill/>
          <a:ln>
            <a:noFill/>
          </a:ln>
        </p:spPr>
        <p:txBody>
          <a:bodyPr vert="horz" lIns="91440" tIns="45720" rIns="91440" bIns="45720" anchor="t"/>
          <a:lstStyle/>
          <a:p>
            <a:pPr lvl="0" algn="r"/>
            <a:fld id="{566ABCEB-ACFC-4714-9973-3DA970169C29}" type="datetime1">
              <a:rPr lang="en-IN" altLang="en-US" sz="1200"/>
              <a:pPr lvl="0" algn="r"/>
              <a:t>16-02-2025</a:t>
            </a:fld>
            <a:endParaRPr lang="en-IN" altLang="en-US" sz="1200"/>
          </a:p>
        </p:txBody>
      </p:sp>
      <p:sp>
        <p:nvSpPr>
          <p:cNvPr id="1048912" name="Slide Image Placeholder 3"/>
          <p:cNvSpPr>
            <a:spLocks noGrp="1" noRot="1" noChangeAspect="1"/>
          </p:cNvSpPr>
          <p:nvPr>
            <p:ph type="sldImg" idx="2"/>
          </p:nvPr>
        </p:nvSpPr>
        <p:spPr>
          <a:xfrm>
            <a:off x="685800" y="1143000"/>
            <a:ext cx="5486400" cy="3086100"/>
          </a:xfrm>
          <a:prstGeom prst="rect">
            <a:avLst/>
          </a:prstGeom>
          <a:noFill/>
          <a:ln w="12700" cap="flat" cmpd="sng">
            <a:solidFill>
              <a:srgbClr val="000000">
                <a:alpha val="100000"/>
              </a:srgbClr>
            </a:solidFill>
            <a:prstDash val="solid"/>
            <a:round/>
          </a:ln>
        </p:spPr>
        <p:txBody>
          <a:bodyPr vert="horz" lIns="91440" tIns="45720" rIns="91440" bIns="45720" anchor="ctr"/>
          <a:lstStyle/>
          <a:p>
            <a:endParaRPr/>
          </a:p>
        </p:txBody>
      </p:sp>
      <p:sp>
        <p:nvSpPr>
          <p:cNvPr id="1048913" name="Notes Placeholder 4"/>
          <p:cNvSpPr>
            <a:spLocks noGrp="1"/>
          </p:cNvSpPr>
          <p:nvPr>
            <p:ph type="body" sz="quarter" idx="3"/>
          </p:nvPr>
        </p:nvSpPr>
        <p:spPr>
          <a:xfrm>
            <a:off x="685800" y="4400550"/>
            <a:ext cx="5486400" cy="3600450"/>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914" name="Footer Placeholder 5"/>
          <p:cNvSpPr>
            <a:spLocks noGrp="1"/>
          </p:cNvSpPr>
          <p:nvPr>
            <p:ph type="ftr" sz="quarter" idx="4"/>
          </p:nvPr>
        </p:nvSpPr>
        <p:spPr>
          <a:xfrm>
            <a:off x="0" y="8685212"/>
            <a:ext cx="2971800" cy="458787"/>
          </a:xfrm>
          <a:prstGeom prst="rect">
            <a:avLst/>
          </a:prstGeom>
          <a:noFill/>
          <a:ln>
            <a:noFill/>
          </a:ln>
        </p:spPr>
        <p:txBody>
          <a:bodyPr vert="horz" lIns="91440" tIns="45720" rIns="91440" bIns="45720" anchor="b"/>
          <a:lstStyle/>
          <a:p>
            <a:pPr lvl="0"/>
            <a:endParaRPr lang="en-IN" altLang="en-US" sz="1200"/>
          </a:p>
        </p:txBody>
      </p:sp>
      <p:sp>
        <p:nvSpPr>
          <p:cNvPr id="1048915" name="Slide Number Placeholder 6"/>
          <p:cNvSpPr>
            <a:spLocks noGrp="1"/>
          </p:cNvSpPr>
          <p:nvPr>
            <p:ph type="sldNum" sz="quarter" idx="5"/>
          </p:nvPr>
        </p:nvSpPr>
        <p:spPr>
          <a:xfrm>
            <a:off x="3884612" y="8685212"/>
            <a:ext cx="2971800" cy="458787"/>
          </a:xfrm>
          <a:prstGeom prst="rect">
            <a:avLst/>
          </a:prstGeom>
          <a:noFill/>
          <a:ln>
            <a:noFill/>
          </a:ln>
        </p:spPr>
        <p:txBody>
          <a:bodyPr vert="horz" lIns="91440" tIns="45720" rIns="91440" bIns="45720" anchor="b"/>
          <a:lstStyle/>
          <a:p>
            <a:pPr lvl="0" algn="r"/>
            <a:fld id="{566ABCEB-ACFC-4714-9973-3DA970169C29}" type="slidenum">
              <a:rPr lang="en-IN" altLang="en-US" sz="1200"/>
              <a:pPr lvl="0" algn="r"/>
              <a:t>‹#›</a:t>
            </a:fld>
            <a:endParaRPr lang="en-IN" altLang="en-US" sz="1200"/>
          </a:p>
        </p:txBody>
      </p:sp>
    </p:spTree>
  </p:cSld>
  <p:clrMap bg1="dk1" tx1="dk1" bg2="dk1" tx2="dk1" accent1="dk1" accent2="dk1" accent3="dk1" accent4="dk1" accent5="dk1" accent6="dk1" hlink="dk1" folHlink="dk1"/>
  <p:notesStyle>
    <a:lvl1pPr marL="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1pPr>
    <a:lvl2pPr marL="4572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2pPr>
    <a:lvl3pPr marL="9144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3pPr>
    <a:lvl4pPr marL="13716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4pPr>
    <a:lvl5pPr marL="18288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Slide Image Placeholder 1"/>
          <p:cNvSpPr>
            <a:spLocks noGrp="1" noRot="1" noChangeAspect="1"/>
          </p:cNvSpPr>
          <p:nvPr>
            <p:ph type="sldImg"/>
          </p:nvPr>
        </p:nvSpPr>
        <p:spPr bwMode="auto">
          <a:xfrm>
            <a:off x="685800" y="1143000"/>
            <a:ext cx="5486400" cy="30861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586" name="Notes Placeholder 2"/>
          <p:cNvSpPr>
            <a:spLocks noGrp="1"/>
          </p:cNvSpPr>
          <p:nvPr>
            <p:ph type="body" idx="1"/>
          </p:nvPr>
        </p:nvSpPr>
        <p:spPr bwMode="auto">
          <a:xfrm>
            <a:off x="685800" y="4400550"/>
            <a:ext cx="5486400" cy="3600450"/>
          </a:xfrm>
          <a:prstGeom prst="rect">
            <a:avLst/>
          </a:prstGeom>
          <a:noFill/>
          <a:ln>
            <a:noFill/>
          </a:ln>
        </p:spPr>
        <p:txBody>
          <a:bodyPr vert="horz" lIns="91440" tIns="45720" rIns="91440" bIns="45720" anchor="t"/>
          <a:lstStyle/>
          <a:p>
            <a:pPr lvl="0" eaLnBrk="1" hangingPunct="1">
              <a:spcBef>
                <a:spcPct val="0"/>
              </a:spcBef>
            </a:pPr>
            <a:r>
              <a:rPr lang="en-IN" altLang="en-US"/>
              <a:t>Sample slide</a:t>
            </a:r>
          </a:p>
        </p:txBody>
      </p:sp>
      <p:sp>
        <p:nvSpPr>
          <p:cNvPr id="1048587" name="Footer Placeholder 3"/>
          <p:cNvSpPr txBox="1"/>
          <p:nvPr/>
        </p:nvSpPr>
        <p:spPr>
          <a:xfrm>
            <a:off x="0" y="8685212"/>
            <a:ext cx="2971800" cy="458787"/>
          </a:xfrm>
          <a:prstGeom prst="rect">
            <a:avLst/>
          </a:prstGeom>
          <a:noFill/>
          <a:ln>
            <a:noFill/>
          </a:ln>
        </p:spPr>
        <p:txBody>
          <a:bodyPr vert="horz" lIns="91440" tIns="45720" rIns="91440" bIns="45720" anchor="b"/>
          <a:lstStyle/>
          <a:p>
            <a:pPr lvl="0"/>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
        <p:cNvGrpSpPr/>
        <p:nvPr/>
      </p:nvGrpSpPr>
      <p:grpSpPr>
        <a:xfrm>
          <a:off x="0" y="0"/>
          <a:ext cx="0" cy="0"/>
          <a:chOff x="0" y="0"/>
          <a:chExt cx="0" cy="0"/>
        </a:xfrm>
      </p:grpSpPr>
      <p:sp>
        <p:nvSpPr>
          <p:cNvPr id="1048588" name="Rectangle 6"/>
          <p:cNvSpPr/>
          <p:nvPr/>
        </p:nvSpPr>
        <p:spPr>
          <a:xfrm>
            <a:off x="0" y="6430962"/>
            <a:ext cx="12192000" cy="457200"/>
          </a:xfrm>
          <a:prstGeom prst="rect">
            <a:avLst/>
          </a:prstGeom>
          <a:solidFill>
            <a:srgbClr val="A32837"/>
          </a:solid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FFFFFF"/>
              </a:solidFill>
            </a:endParaRPr>
          </a:p>
        </p:txBody>
      </p:sp>
      <p:pic>
        <p:nvPicPr>
          <p:cNvPr id="2097156" name="Group 4"/>
          <p:cNvPicPr>
            <a:picLocks/>
          </p:cNvPicPr>
          <p:nvPr/>
        </p:nvPicPr>
        <p:blipFill>
          <a:blip r:embed="rId2"/>
          <a:srcRect/>
          <a:stretch>
            <a:fillRect/>
          </a:stretch>
        </p:blipFill>
        <p:spPr>
          <a:xfrm>
            <a:off x="10096500" y="5994400"/>
            <a:ext cx="2044700" cy="800100"/>
          </a:xfrm>
          <a:prstGeom prst="rect">
            <a:avLst/>
          </a:prstGeom>
          <a:noFill/>
          <a:ln>
            <a:noFill/>
          </a:ln>
        </p:spPr>
      </p:pic>
      <p:sp>
        <p:nvSpPr>
          <p:cNvPr id="1048591" name="Date Placeholder 3"/>
          <p:cNvSpPr>
            <a:spLocks noGrp="1"/>
          </p:cNvSpPr>
          <p:nvPr>
            <p:ph type="dt" sz="half" idx="2"/>
          </p:nvPr>
        </p:nvSpPr>
        <p:spPr>
          <a:xfrm>
            <a:off x="819150" y="6173787"/>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92"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
        <p:nvSpPr>
          <p:cNvPr id="1048593" name="Slide Number Placeholder 5"/>
          <p:cNvSpPr>
            <a:spLocks noGrp="1"/>
          </p:cNvSpPr>
          <p:nvPr>
            <p:ph type="sldNum" sz="quarter" idx="4"/>
          </p:nvPr>
        </p:nvSpPr>
        <p:spPr>
          <a:xfrm>
            <a:off x="8610600" y="6065837"/>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r>
              <a:rPr lang="en-IN" altLang="en-US" sz="1200" b="1">
                <a:solidFill>
                  <a:srgbClr val="A32837"/>
                </a:solidFill>
              </a:rPr>
              <a:t>Gajendra Singh</a:t>
            </a:r>
          </a:p>
          <a:p>
            <a:pPr lvl="0" eaLnBrk="1" hangingPunct="1"/>
            <a:r>
              <a:rPr lang="en-IN" altLang="en-US" sz="1200" b="1">
                <a:solidFill>
                  <a:srgbClr val="A32837"/>
                </a:solidFill>
              </a:rPr>
              <a:t>PA to Vice-Chancellor</a:t>
            </a:r>
          </a:p>
        </p:txBody>
      </p:sp>
      <p:sp>
        <p:nvSpPr>
          <p:cNvPr id="1048595" name="Content Placeholder 2"/>
          <p:cNvSpPr>
            <a:spLocks noGrp="1"/>
          </p:cNvSpPr>
          <p:nvPr>
            <p:ph idx="1"/>
          </p:nvPr>
        </p:nvSpPr>
        <p:spPr>
          <a:xfrm>
            <a:off x="838200" y="1401761"/>
            <a:ext cx="10515600" cy="4592639"/>
          </a:xfrm>
        </p:spPr>
        <p:txBody>
          <a:bodyPr/>
          <a:lstStyle>
            <a:lvl1pPr marL="228600" indent="-228600">
              <a:buClr>
                <a:srgbClr val="C00000"/>
              </a:buClr>
              <a:buFont typeface="Wingdings" panose="05000000000000000000" pitchFamily="2" charset="2"/>
              <a:buChar char="v"/>
              <a:defRPr sz="2500" b="0">
                <a:latin typeface="Poopins "/>
              </a:defRPr>
            </a:lvl1pPr>
            <a:lvl2pPr marL="685800" indent="-228600">
              <a:buClr>
                <a:srgbClr val="C00000"/>
              </a:buClr>
              <a:buFont typeface="Courier New" panose="02070309020205020404" pitchFamily="49" charset="0"/>
              <a:buChar char="o"/>
              <a:defRPr sz="2400">
                <a:latin typeface="Avenir LT Pro 65 Medium" panose="020B0603020203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48594" name="Title 1"/>
          <p:cNvSpPr>
            <a:spLocks noGrp="1"/>
          </p:cNvSpPr>
          <p:nvPr>
            <p:ph type="title"/>
          </p:nvPr>
        </p:nvSpPr>
        <p:spPr>
          <a:xfrm>
            <a:off x="838200" y="365126"/>
            <a:ext cx="10515600" cy="674685"/>
          </a:xfrm>
        </p:spPr>
        <p:txBody>
          <a:bodyPr/>
          <a:lstStyle>
            <a:lvl1pPr>
              <a:defRPr sz="4000" b="1">
                <a:solidFill>
                  <a:srgbClr val="A32837"/>
                </a:solidFill>
                <a:latin typeface="Poppins Medium" panose="00000600000000000000" pitchFamily="2" charset="0"/>
                <a:cs typeface="Poppins Medium" panose="00000600000000000000" pitchFamily="2" charset="0"/>
              </a:defRPr>
            </a:lvl1pPr>
          </a:lstStyle>
          <a:p>
            <a:r>
              <a:rPr lang="en-US" dirty="0"/>
              <a:t>Click to edit Master title style</a:t>
            </a:r>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889"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890"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891" name="Title 1"/>
          <p:cNvSpPr>
            <a:spLocks noGrp="1"/>
          </p:cNvSpPr>
          <p:nvPr>
            <p:ph type="title"/>
          </p:nvPr>
        </p:nvSpPr>
        <p:spPr/>
        <p:txBody>
          <a:bodyPr/>
          <a:lstStyle/>
          <a:p>
            <a:r>
              <a:rPr lang="en-US"/>
              <a:t>Click to edit Master title style</a:t>
            </a:r>
            <a:endParaRPr lang="en-IN"/>
          </a:p>
        </p:txBody>
      </p:sp>
      <p:sp>
        <p:nvSpPr>
          <p:cNvPr id="104889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89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894"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895"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6"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897"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8"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899" name="Title 1"/>
          <p:cNvSpPr>
            <a:spLocks noGrp="1"/>
          </p:cNvSpPr>
          <p:nvPr>
            <p:ph type="title"/>
          </p:nvPr>
        </p:nvSpPr>
        <p:spPr/>
        <p:txBody>
          <a:bodyPr/>
          <a:lstStyle/>
          <a:p>
            <a:r>
              <a:rPr lang="en-US"/>
              <a:t>Click to edit Master title style</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90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901"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90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90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904"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prstTxWarp prst="textNoShape">
              <a:avLst/>
            </a:prstTxWarp>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104890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906" name="Title 1"/>
          <p:cNvSpPr>
            <a:spLocks noGrp="1"/>
          </p:cNvSpPr>
          <p:nvPr>
            <p:ph type="title"/>
          </p:nvPr>
        </p:nvSpPr>
        <p:spPr/>
        <p:txBody>
          <a:bodyPr/>
          <a:lstStyle/>
          <a:p>
            <a:r>
              <a:rPr lang="en-US"/>
              <a:t>Click to edit Master title style</a:t>
            </a:r>
            <a:endParaRPr lang="en-IN"/>
          </a:p>
        </p:txBody>
      </p:sp>
      <p:sp>
        <p:nvSpPr>
          <p:cNvPr id="1048907"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90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90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2"/>
          </a:xfrm>
          <a:prstGeom prst="rect">
            <a:avLst/>
          </a:prstGeom>
          <a:noFill/>
          <a:ln>
            <a:noFill/>
          </a:ln>
        </p:spPr>
        <p:txBody>
          <a:bodyPr vert="horz" lIns="91440" tIns="45720" rIns="91440" bIns="45720" anchor="ctr"/>
          <a:lstStyle/>
          <a:p>
            <a:pPr lvl="0"/>
            <a:r>
              <a:rPr lang="en-US" altLang="en-US"/>
              <a:t>Click to edit Master title style</a:t>
            </a:r>
          </a:p>
        </p:txBody>
      </p:sp>
      <p:sp>
        <p:nvSpPr>
          <p:cNvPr id="1048577" name="Text Placeholder 2"/>
          <p:cNvSpPr>
            <a:spLocks noGrp="1"/>
          </p:cNvSpPr>
          <p:nvPr>
            <p:ph type="body" idx="1"/>
          </p:nvPr>
        </p:nvSpPr>
        <p:spPr>
          <a:xfrm>
            <a:off x="838200" y="1825625"/>
            <a:ext cx="10515600" cy="4351337"/>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16-02-2025</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Google Shape;103;p2" descr="A building with a sign on the side  Description automatically generated"/>
          <p:cNvPicPr>
            <a:picLocks/>
          </p:cNvPicPr>
          <p:nvPr/>
        </p:nvPicPr>
        <p:blipFill>
          <a:blip r:embed="rId2"/>
          <a:srcRect b="15625"/>
          <a:stretch>
            <a:fillRect/>
          </a:stretch>
        </p:blipFill>
        <p:spPr>
          <a:xfrm>
            <a:off x="0" y="0"/>
            <a:ext cx="12192000" cy="6858000"/>
          </a:xfrm>
          <a:prstGeom prst="rect">
            <a:avLst/>
          </a:prstGeom>
          <a:noFill/>
          <a:ln>
            <a:noFill/>
          </a:ln>
        </p:spPr>
      </p:pic>
      <p:pic>
        <p:nvPicPr>
          <p:cNvPr id="2097153" name="Group 8"/>
          <p:cNvPicPr>
            <a:picLocks/>
          </p:cNvPicPr>
          <p:nvPr/>
        </p:nvPicPr>
        <p:blipFill>
          <a:blip r:embed="rId3"/>
          <a:srcRect/>
          <a:stretch>
            <a:fillRect/>
          </a:stretch>
        </p:blipFill>
        <p:spPr>
          <a:xfrm>
            <a:off x="10096500" y="5994400"/>
            <a:ext cx="2044700" cy="8001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3" name="TextBox 5"/>
          <p:cNvSpPr txBox="1"/>
          <p:nvPr/>
        </p:nvSpPr>
        <p:spPr>
          <a:xfrm>
            <a:off x="1280448" y="149225"/>
            <a:ext cx="9307512" cy="5871351"/>
          </a:xfrm>
          <a:prstGeom prst="rect">
            <a:avLst/>
          </a:prstGeom>
          <a:noFill/>
          <a:ln>
            <a:noFill/>
          </a:ln>
        </p:spPr>
        <p:txBody>
          <a:bodyPr vert="horz" lIns="91440" tIns="45720" rIns="91440" bIns="45720" anchor="t">
            <a:spAutoFit/>
          </a:bodyPr>
          <a:lstStyle>
            <a:lvl1pPr marL="228600" indent="-228600" algn="l" rtl="0" eaLnBrk="0" fontAlgn="base" latinLnBrk="0" hangingPunct="0">
              <a:lnSpc>
                <a:spcPct val="90000"/>
              </a:lnSpc>
              <a:spcBef>
                <a:spcPts val="1000"/>
              </a:spcBef>
              <a:spcAft>
                <a:spcPct val="0"/>
              </a:spcAft>
              <a:buSzPct val="100000"/>
              <a:buFont typeface="Arial" pitchFamily="34" charset="0"/>
              <a:buChar char="•"/>
              <a:defRPr sz="2800" b="0" i="0" u="none" baseline="0">
                <a:solidFill>
                  <a:schemeClr val="dk1"/>
                </a:solidFill>
                <a:latin typeface="Calibri" pitchFamily="34" charset="0"/>
                <a:sym typeface="Calibri" pitchFamily="34" charset="0"/>
              </a:defRPr>
            </a:lvl1pPr>
            <a:lvl2pPr marL="685800" indent="-228600" algn="l" rtl="0" eaLnBrk="0" fontAlgn="base" latinLnBrk="0" hangingPunct="0">
              <a:lnSpc>
                <a:spcPct val="90000"/>
              </a:lnSpc>
              <a:spcBef>
                <a:spcPts val="500"/>
              </a:spcBef>
              <a:spcAft>
                <a:spcPct val="0"/>
              </a:spcAft>
              <a:buSzPct val="100000"/>
              <a:buFont typeface="Arial" pitchFamily="34" charset="0"/>
              <a:buChar char="•"/>
              <a:defRPr sz="2400" b="0" i="0" u="none" baseline="0">
                <a:solidFill>
                  <a:schemeClr val="dk1"/>
                </a:solidFill>
                <a:latin typeface="Calibri" pitchFamily="34" charset="0"/>
                <a:sym typeface="Calibri" pitchFamily="34" charset="0"/>
              </a:defRPr>
            </a:lvl2pPr>
            <a:lvl3pPr marL="1143000" indent="-228600" algn="l" rtl="0" eaLnBrk="0" fontAlgn="base" latinLnBrk="0" hangingPunct="0">
              <a:lnSpc>
                <a:spcPct val="90000"/>
              </a:lnSpc>
              <a:spcBef>
                <a:spcPts val="500"/>
              </a:spcBef>
              <a:spcAft>
                <a:spcPct val="0"/>
              </a:spcAft>
              <a:buSzPct val="100000"/>
              <a:buFont typeface="Arial" pitchFamily="34" charset="0"/>
              <a:buChar char="•"/>
              <a:defRPr sz="2000" b="0" i="0" u="none" baseline="0">
                <a:solidFill>
                  <a:schemeClr val="dk1"/>
                </a:solidFill>
                <a:latin typeface="Calibri" pitchFamily="34" charset="0"/>
                <a:sym typeface="Calibri" pitchFamily="34" charset="0"/>
              </a:defRPr>
            </a:lvl3pPr>
            <a:lvl4pPr marL="1600200" indent="-228600" algn="l" rtl="0" eaLnBrk="0" fontAlgn="base" latinLnBrk="0" hangingPunct="0">
              <a:lnSpc>
                <a:spcPct val="90000"/>
              </a:lnSpc>
              <a:spcBef>
                <a:spcPts val="500"/>
              </a:spcBef>
              <a:spcAft>
                <a:spcPct val="0"/>
              </a:spcAft>
              <a:buSzPct val="100000"/>
              <a:buFont typeface="Arial" pitchFamily="34" charset="0"/>
              <a:buChar char="•"/>
              <a:defRPr sz="1800" b="0" i="0" u="none" baseline="0">
                <a:solidFill>
                  <a:schemeClr val="dk1"/>
                </a:solidFill>
                <a:latin typeface="Calibri" pitchFamily="34" charset="0"/>
                <a:sym typeface="Calibri" pitchFamily="34" charset="0"/>
              </a:defRPr>
            </a:lvl4pPr>
            <a:lvl5pPr marL="2057400" indent="-228600" algn="l" rtl="0" eaLnBrk="0" fontAlgn="base" latinLnBrk="0" hangingPunct="0">
              <a:lnSpc>
                <a:spcPct val="90000"/>
              </a:lnSpc>
              <a:spcBef>
                <a:spcPts val="500"/>
              </a:spcBef>
              <a:spcAft>
                <a:spcPct val="0"/>
              </a:spcAft>
              <a:buSzPct val="100000"/>
              <a:buFont typeface="Arial" pitchFamily="34" charset="0"/>
              <a:buChar char="•"/>
              <a:defRPr sz="1800" b="0" i="0" u="none" baseline="0">
                <a:solidFill>
                  <a:schemeClr val="dk1"/>
                </a:solidFill>
                <a:latin typeface="Calibri" pitchFamily="34" charset="0"/>
                <a:sym typeface="Calibri" pitchFamily="34" charset="0"/>
              </a:defRPr>
            </a:lvl5pPr>
          </a:lstStyle>
          <a:p>
            <a:pPr marL="0" lvl="0" indent="0" algn="ctr">
              <a:lnSpc>
                <a:spcPct val="100000"/>
              </a:lnSpc>
              <a:spcBef>
                <a:spcPct val="0"/>
              </a:spcBef>
              <a:spcAft>
                <a:spcPts val="1000"/>
              </a:spcAft>
              <a:buFontTx/>
              <a:buNone/>
            </a:pPr>
            <a:r>
              <a:rPr lang="en-US" altLang="en-US" sz="2000" dirty="0" smtClean="0">
                <a:latin typeface="Bahnschrift" panose="020B0502040204020203" pitchFamily="34" charset="0"/>
                <a:ea typeface="Calibri" pitchFamily="34" charset="0"/>
              </a:rPr>
              <a:t>Presentation on Design of the Project</a:t>
            </a:r>
            <a:endParaRPr lang="en-US" altLang="en-US" sz="2000" dirty="0">
              <a:latin typeface="Bahnschrift" panose="020B0502040204020203" pitchFamily="34" charset="0"/>
              <a:ea typeface="Calibri" pitchFamily="34" charset="0"/>
            </a:endParaRPr>
          </a:p>
          <a:p>
            <a:pPr marL="0" lvl="0" indent="0" algn="ctr">
              <a:lnSpc>
                <a:spcPct val="115000"/>
              </a:lnSpc>
              <a:spcBef>
                <a:spcPct val="0"/>
              </a:spcBef>
              <a:spcAft>
                <a:spcPts val="1000"/>
              </a:spcAft>
              <a:buFontTx/>
              <a:buNone/>
            </a:pPr>
            <a:r>
              <a:rPr lang="en-US" altLang="en-US" sz="2000" dirty="0" smtClean="0">
                <a:latin typeface="Bahnschrift" panose="020B0502040204020203" pitchFamily="34" charset="0"/>
                <a:ea typeface="Times New Roman" pitchFamily="18" charset="0"/>
              </a:rPr>
              <a:t>Topic</a:t>
            </a:r>
            <a:r>
              <a:rPr lang="en-US" altLang="en-US" sz="1200" dirty="0">
                <a:latin typeface="Bahnschrift" panose="020B0502040204020203" pitchFamily="34" charset="0"/>
                <a:ea typeface="Calibri" pitchFamily="34" charset="0"/>
              </a:rPr>
              <a:t/>
            </a:r>
            <a:br>
              <a:rPr lang="en-US" altLang="en-US" sz="1200" dirty="0">
                <a:latin typeface="Bahnschrift" panose="020B0502040204020203" pitchFamily="34" charset="0"/>
                <a:ea typeface="Calibri" pitchFamily="34" charset="0"/>
              </a:rPr>
            </a:br>
            <a:r>
              <a:rPr lang="en-GB" altLang="en-US" dirty="0" smtClean="0">
                <a:latin typeface="Bahnschrift" panose="020B0502040204020203" pitchFamily="34" charset="0"/>
                <a:ea typeface="Calibri" pitchFamily="34" charset="0"/>
              </a:rPr>
              <a:t>Smart Vitality Tracker with AI</a:t>
            </a:r>
            <a:r>
              <a:rPr lang="en-US" altLang="en-US" sz="900" dirty="0">
                <a:latin typeface="Bahnschrift" panose="020B0502040204020203" pitchFamily="34" charset="0"/>
                <a:ea typeface="Calibri" pitchFamily="34" charset="0"/>
              </a:rPr>
              <a:t/>
            </a:r>
            <a:br>
              <a:rPr lang="en-US" altLang="en-US" sz="900" dirty="0">
                <a:latin typeface="Bahnschrift" panose="020B0502040204020203" pitchFamily="34" charset="0"/>
                <a:ea typeface="Calibri" pitchFamily="34" charset="0"/>
              </a:rPr>
            </a:br>
            <a:r>
              <a:rPr lang="en-US" altLang="en-US" sz="2000" dirty="0">
                <a:latin typeface="Bahnschrift" panose="020B0502040204020203" pitchFamily="34" charset="0"/>
                <a:ea typeface="Calibri" pitchFamily="34" charset="0"/>
              </a:rPr>
              <a:t> </a:t>
            </a:r>
          </a:p>
          <a:p>
            <a:pPr marL="0" lvl="0" indent="0" algn="ctr">
              <a:lnSpc>
                <a:spcPct val="115000"/>
              </a:lnSpc>
              <a:spcBef>
                <a:spcPct val="0"/>
              </a:spcBef>
              <a:spcAft>
                <a:spcPts val="1000"/>
              </a:spcAft>
              <a:buFontTx/>
              <a:buNone/>
            </a:pPr>
            <a:r>
              <a:rPr lang="en-US" altLang="en-US" sz="2000" dirty="0">
                <a:latin typeface="Bahnschrift" panose="020B0502040204020203" pitchFamily="34" charset="0"/>
                <a:ea typeface="Calibri" pitchFamily="34" charset="0"/>
              </a:rPr>
              <a:t>Submitted by</a:t>
            </a:r>
          </a:p>
          <a:p>
            <a:pPr marL="0" lvl="0" indent="0" algn="ctr">
              <a:lnSpc>
                <a:spcPct val="100000"/>
              </a:lnSpc>
              <a:spcBef>
                <a:spcPct val="0"/>
              </a:spcBef>
              <a:buFontTx/>
              <a:buNone/>
            </a:pPr>
            <a:r>
              <a:rPr lang="en-US" altLang="en-US" sz="2000" dirty="0" smtClean="0">
                <a:latin typeface="Bahnschrift" panose="020B0502040204020203" pitchFamily="34" charset="0"/>
                <a:ea typeface="Calibri" pitchFamily="34" charset="0"/>
              </a:rPr>
              <a:t>Aditya Raj Singh </a:t>
            </a:r>
            <a:r>
              <a:rPr lang="en-US" altLang="en-US" sz="2000" dirty="0" err="1" smtClean="0">
                <a:latin typeface="Bahnschrift" panose="020B0502040204020203" pitchFamily="34" charset="0"/>
                <a:ea typeface="Calibri" pitchFamily="34" charset="0"/>
              </a:rPr>
              <a:t>Tomar</a:t>
            </a:r>
            <a:r>
              <a:rPr lang="en-US" altLang="en-US" sz="2000" dirty="0" smtClean="0">
                <a:latin typeface="Bahnschrift" panose="020B0502040204020203" pitchFamily="34" charset="0"/>
                <a:ea typeface="Calibri" pitchFamily="34" charset="0"/>
              </a:rPr>
              <a:t>   EN22CS301062</a:t>
            </a:r>
            <a:endParaRPr lang="en-US" altLang="en-US" sz="2000" dirty="0">
              <a:latin typeface="Bahnschrift" panose="020B0502040204020203" pitchFamily="34" charset="0"/>
              <a:ea typeface="Calibri" pitchFamily="34" charset="0"/>
            </a:endParaRPr>
          </a:p>
          <a:p>
            <a:pPr marL="0" lvl="0" indent="0" algn="ctr">
              <a:lnSpc>
                <a:spcPct val="100000"/>
              </a:lnSpc>
              <a:spcBef>
                <a:spcPct val="0"/>
              </a:spcBef>
              <a:buFontTx/>
              <a:buNone/>
            </a:pPr>
            <a:r>
              <a:rPr lang="en-US" altLang="en-US" sz="2000" dirty="0" err="1" smtClean="0">
                <a:latin typeface="Bahnschrift" panose="020B0502040204020203" pitchFamily="34" charset="0"/>
                <a:ea typeface="Calibri" pitchFamily="34" charset="0"/>
              </a:rPr>
              <a:t>Akash</a:t>
            </a:r>
            <a:r>
              <a:rPr lang="en-US" altLang="en-US" sz="2000" dirty="0" smtClean="0">
                <a:latin typeface="Bahnschrift" panose="020B0502040204020203" pitchFamily="34" charset="0"/>
                <a:ea typeface="Calibri" pitchFamily="34" charset="0"/>
              </a:rPr>
              <a:t> Ghosh                    EN22CS301082</a:t>
            </a:r>
          </a:p>
          <a:p>
            <a:pPr marL="0" lvl="0" indent="0" algn="ctr">
              <a:lnSpc>
                <a:spcPct val="100000"/>
              </a:lnSpc>
              <a:spcBef>
                <a:spcPct val="0"/>
              </a:spcBef>
              <a:buFontTx/>
              <a:buNone/>
            </a:pPr>
            <a:r>
              <a:rPr lang="en-US" altLang="en-US" sz="2000" dirty="0" err="1" smtClean="0">
                <a:latin typeface="Bahnschrift" panose="020B0502040204020203" pitchFamily="34" charset="0"/>
                <a:ea typeface="Calibri" pitchFamily="34" charset="0"/>
              </a:rPr>
              <a:t>Akash</a:t>
            </a:r>
            <a:r>
              <a:rPr lang="en-US" altLang="en-US" sz="2000" dirty="0" smtClean="0">
                <a:latin typeface="Bahnschrift" panose="020B0502040204020203" pitchFamily="34" charset="0"/>
                <a:ea typeface="Calibri" pitchFamily="34" charset="0"/>
              </a:rPr>
              <a:t> Ravi </a:t>
            </a:r>
            <a:r>
              <a:rPr lang="en-US" altLang="en-US" sz="2000" dirty="0" err="1" smtClean="0">
                <a:latin typeface="Bahnschrift" panose="020B0502040204020203" pitchFamily="34" charset="0"/>
                <a:ea typeface="Calibri" pitchFamily="34" charset="0"/>
              </a:rPr>
              <a:t>Jaisinghani</a:t>
            </a:r>
            <a:r>
              <a:rPr lang="en-US" altLang="en-US" sz="2000" dirty="0" smtClean="0">
                <a:latin typeface="Bahnschrift" panose="020B0502040204020203" pitchFamily="34" charset="0"/>
                <a:ea typeface="Calibri" pitchFamily="34" charset="0"/>
              </a:rPr>
              <a:t>    EN22CS301084</a:t>
            </a:r>
          </a:p>
          <a:p>
            <a:pPr marL="0" lvl="0" indent="0" algn="ctr">
              <a:lnSpc>
                <a:spcPct val="100000"/>
              </a:lnSpc>
              <a:spcBef>
                <a:spcPct val="0"/>
              </a:spcBef>
              <a:buFontTx/>
              <a:buNone/>
            </a:pPr>
            <a:endParaRPr lang="en-US" altLang="en-US" sz="2000" dirty="0">
              <a:latin typeface="Bahnschrift" panose="020B0502040204020203" pitchFamily="34" charset="0"/>
              <a:ea typeface="Calibri" pitchFamily="34" charset="0"/>
            </a:endParaRPr>
          </a:p>
          <a:p>
            <a:pPr marL="0" lvl="0" indent="0" algn="ctr">
              <a:lnSpc>
                <a:spcPct val="115000"/>
              </a:lnSpc>
              <a:spcBef>
                <a:spcPct val="0"/>
              </a:spcBef>
              <a:spcAft>
                <a:spcPts val="1000"/>
              </a:spcAft>
              <a:buFontTx/>
              <a:buNone/>
            </a:pPr>
            <a:r>
              <a:rPr lang="en-US" altLang="en-US" sz="2000" dirty="0">
                <a:latin typeface="Bahnschrift" panose="020B0502040204020203" pitchFamily="34" charset="0"/>
                <a:ea typeface="Calibri" pitchFamily="34" charset="0"/>
              </a:rPr>
              <a:t> </a:t>
            </a:r>
            <a:r>
              <a:rPr lang="en-US" altLang="en-US" sz="2000" dirty="0" smtClean="0">
                <a:latin typeface="Bahnschrift" panose="020B0502040204020203" pitchFamily="34" charset="0"/>
                <a:ea typeface="Calibri" pitchFamily="34" charset="0"/>
              </a:rPr>
              <a:t>Under </a:t>
            </a:r>
            <a:r>
              <a:rPr lang="en-US" altLang="en-US" sz="2000" dirty="0">
                <a:latin typeface="Bahnschrift" panose="020B0502040204020203" pitchFamily="34" charset="0"/>
                <a:ea typeface="Calibri" pitchFamily="34" charset="0"/>
              </a:rPr>
              <a:t>the supervision of</a:t>
            </a:r>
          </a:p>
          <a:p>
            <a:pPr marL="0" lvl="0" indent="0" algn="ctr">
              <a:lnSpc>
                <a:spcPct val="100000"/>
              </a:lnSpc>
              <a:spcBef>
                <a:spcPct val="0"/>
              </a:spcBef>
              <a:buFontTx/>
              <a:buNone/>
            </a:pPr>
            <a:r>
              <a:rPr lang="en-US" altLang="en-US" sz="2000" dirty="0" smtClean="0">
                <a:latin typeface="Bahnschrift" panose="020B0502040204020203" pitchFamily="34" charset="0"/>
                <a:ea typeface="Calibri" pitchFamily="34" charset="0"/>
              </a:rPr>
              <a:t>Prof. </a:t>
            </a:r>
            <a:r>
              <a:rPr lang="en-US" altLang="en-US" sz="2000" dirty="0" err="1" smtClean="0">
                <a:latin typeface="Bahnschrift" panose="020B0502040204020203" pitchFamily="34" charset="0"/>
                <a:ea typeface="Calibri" pitchFamily="34" charset="0"/>
              </a:rPr>
              <a:t>Jyotsana</a:t>
            </a:r>
            <a:r>
              <a:rPr lang="en-US" altLang="en-US" sz="2000" dirty="0" smtClean="0">
                <a:latin typeface="Bahnschrift" panose="020B0502040204020203" pitchFamily="34" charset="0"/>
                <a:ea typeface="Calibri" pitchFamily="34" charset="0"/>
              </a:rPr>
              <a:t> </a:t>
            </a:r>
            <a:r>
              <a:rPr lang="en-US" altLang="en-US" sz="2000" dirty="0" err="1" smtClean="0">
                <a:latin typeface="Bahnschrift" panose="020B0502040204020203" pitchFamily="34" charset="0"/>
                <a:ea typeface="Calibri" pitchFamily="34" charset="0"/>
              </a:rPr>
              <a:t>Goyal</a:t>
            </a:r>
            <a:endParaRPr lang="en-US" altLang="en-US" sz="2000" dirty="0">
              <a:latin typeface="Bahnschrift" panose="020B0502040204020203" pitchFamily="34" charset="0"/>
              <a:ea typeface="Calibri" pitchFamily="34" charset="0"/>
            </a:endParaRPr>
          </a:p>
          <a:p>
            <a:pPr marL="0" lvl="0" indent="0">
              <a:lnSpc>
                <a:spcPct val="100000"/>
              </a:lnSpc>
              <a:spcBef>
                <a:spcPct val="0"/>
              </a:spcBef>
              <a:buFontTx/>
              <a:buNone/>
            </a:pPr>
            <a:endParaRPr lang="en-US" altLang="en-US" sz="2000" dirty="0">
              <a:latin typeface="Bahnschrift" panose="020B0502040204020203" pitchFamily="34" charset="0"/>
              <a:ea typeface="Calibri" pitchFamily="34" charset="0"/>
            </a:endParaRPr>
          </a:p>
          <a:p>
            <a:pPr marL="0" lvl="0" indent="0" algn="ctr">
              <a:lnSpc>
                <a:spcPct val="100000"/>
              </a:lnSpc>
              <a:spcBef>
                <a:spcPct val="0"/>
              </a:spcBef>
              <a:buFontTx/>
              <a:buNone/>
            </a:pPr>
            <a:r>
              <a:rPr lang="en-US" altLang="en-US" sz="2000" dirty="0">
                <a:latin typeface="Bahnschrift" panose="020B0502040204020203" pitchFamily="34" charset="0"/>
                <a:ea typeface="Calibri" pitchFamily="34" charset="0"/>
              </a:rPr>
              <a:t>Department of Computer Science &amp; Engineering</a:t>
            </a:r>
          </a:p>
          <a:p>
            <a:pPr marL="0" lvl="0" indent="0" algn="ctr">
              <a:lnSpc>
                <a:spcPct val="100000"/>
              </a:lnSpc>
              <a:spcBef>
                <a:spcPct val="0"/>
              </a:spcBef>
              <a:buFontTx/>
              <a:buNone/>
            </a:pPr>
            <a:r>
              <a:rPr lang="en-US" altLang="en-US" sz="2000" dirty="0">
                <a:latin typeface="Bahnschrift" panose="020B0502040204020203" pitchFamily="34" charset="0"/>
                <a:ea typeface="Calibri" pitchFamily="34" charset="0"/>
              </a:rPr>
              <a:t>Faculty of Engineering</a:t>
            </a:r>
          </a:p>
          <a:p>
            <a:pPr marL="0" lvl="0" indent="0" algn="ctr">
              <a:lnSpc>
                <a:spcPct val="100000"/>
              </a:lnSpc>
              <a:spcBef>
                <a:spcPct val="0"/>
              </a:spcBef>
              <a:buFontTx/>
              <a:buNone/>
            </a:pPr>
            <a:r>
              <a:rPr lang="en-US" altLang="en-US" sz="2000" dirty="0" err="1">
                <a:latin typeface="Bahnschrift" panose="020B0502040204020203" pitchFamily="34" charset="0"/>
                <a:ea typeface="Calibri" pitchFamily="34" charset="0"/>
              </a:rPr>
              <a:t>Medi</a:t>
            </a:r>
            <a:r>
              <a:rPr lang="en-US" altLang="en-US" sz="2000" dirty="0">
                <a:latin typeface="Bahnschrift" panose="020B0502040204020203" pitchFamily="34" charset="0"/>
                <a:ea typeface="Calibri" pitchFamily="34" charset="0"/>
              </a:rPr>
              <a:t>-Caps University, Indore</a:t>
            </a:r>
          </a:p>
          <a:p>
            <a:pPr marL="0" lvl="0" indent="0">
              <a:lnSpc>
                <a:spcPct val="100000"/>
              </a:lnSpc>
              <a:spcBef>
                <a:spcPct val="0"/>
              </a:spcBef>
              <a:buFontTx/>
              <a:buNone/>
            </a:pPr>
            <a:r>
              <a:rPr lang="en-US" altLang="en-US" sz="1800" b="1" dirty="0">
                <a:latin typeface="Bahnschrift Light SemiCondensed" panose="020B0502040204020203" pitchFamily="34" charset="0"/>
                <a:ea typeface="Calibri" pitchFamily="34" charset="0"/>
              </a:rPr>
              <a:t> </a:t>
            </a:r>
          </a:p>
        </p:txBody>
      </p:sp>
      <p:pic>
        <p:nvPicPr>
          <p:cNvPr id="2097154" name="Picture 7" descr="logo M.png"/>
          <p:cNvPicPr>
            <a:picLocks/>
          </p:cNvPicPr>
          <p:nvPr/>
        </p:nvPicPr>
        <p:blipFill>
          <a:blip r:embed="rId3"/>
          <a:srcRect/>
          <a:stretch>
            <a:fillRect/>
          </a:stretch>
        </p:blipFill>
        <p:spPr>
          <a:xfrm>
            <a:off x="263525" y="149225"/>
            <a:ext cx="1662112" cy="1222375"/>
          </a:xfrm>
          <a:prstGeom prst="rect">
            <a:avLst/>
          </a:prstGeom>
          <a:noFill/>
          <a:ln>
            <a:noFill/>
          </a:ln>
        </p:spPr>
      </p:pic>
      <p:pic>
        <p:nvPicPr>
          <p:cNvPr id="2097155" name="Group 8"/>
          <p:cNvPicPr>
            <a:picLocks/>
          </p:cNvPicPr>
          <p:nvPr/>
        </p:nvPicPr>
        <p:blipFill>
          <a:blip r:embed="rId4"/>
          <a:srcRect/>
          <a:stretch>
            <a:fillRect/>
          </a:stretch>
        </p:blipFill>
        <p:spPr>
          <a:xfrm>
            <a:off x="10128250" y="5553075"/>
            <a:ext cx="2044700" cy="800100"/>
          </a:xfrm>
          <a:prstGeom prst="rect">
            <a:avLst/>
          </a:prstGeom>
          <a:noFill/>
          <a:ln>
            <a:noFill/>
          </a:ln>
        </p:spPr>
      </p:pic>
      <p:sp>
        <p:nvSpPr>
          <p:cNvPr id="1048584" name="Rectangle 4"/>
          <p:cNvSpPr/>
          <p:nvPr/>
        </p:nvSpPr>
        <p:spPr>
          <a:xfrm>
            <a:off x="0" y="6416675"/>
            <a:ext cx="12192000" cy="457200"/>
          </a:xfrm>
          <a:prstGeom prst="rect">
            <a:avLst/>
          </a:prstGeom>
          <a:solidFill>
            <a:srgbClr val="A32837"/>
          </a:solidFill>
          <a:ln>
            <a:noFill/>
          </a:ln>
        </p:spPr>
        <p:txBody>
          <a:bodyPr vert="horz" lIns="91440" tIns="45720" rIns="91440" bIns="45720" anchor="ctr"/>
          <a:lstStyle>
            <a:lvl1pPr marL="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a:spcAft>
                <a:spcPts val="1000"/>
              </a:spcAft>
            </a:pPr>
            <a:r>
              <a:rPr lang="en-GB" altLang="en-US" sz="2400" b="1" dirty="0" smtClean="0">
                <a:solidFill>
                  <a:srgbClr val="FFFFFF"/>
                </a:solidFill>
                <a:latin typeface="Times New Roman" pitchFamily="18" charset="0"/>
                <a:ea typeface="Calibri" pitchFamily="34" charset="0"/>
              </a:rPr>
              <a:t>Smart Vitality Tracker with AI</a:t>
            </a:r>
            <a:endParaRPr lang="en-GB" altLang="en-US" sz="2400" b="1" dirty="0">
              <a:solidFill>
                <a:srgbClr val="FFFFFF"/>
              </a:solidFill>
              <a:latin typeface="Times New Roman" pitchFamily="18" charset="0"/>
              <a:ea typeface="Calibri"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Overview</a:t>
            </a:r>
            <a:endParaRPr lang="en-IN" sz="2800" dirty="0"/>
          </a:p>
        </p:txBody>
      </p:sp>
      <p:sp>
        <p:nvSpPr>
          <p:cNvPr id="2" name="Content Placeholder 1"/>
          <p:cNvSpPr>
            <a:spLocks noGrp="1"/>
          </p:cNvSpPr>
          <p:nvPr>
            <p:ph idx="1"/>
          </p:nvPr>
        </p:nvSpPr>
        <p:spPr>
          <a:xfrm>
            <a:off x="384048" y="994437"/>
            <a:ext cx="11356848" cy="4958307"/>
          </a:xfrm>
        </p:spPr>
        <p:txBody>
          <a:bodyPr/>
          <a:lstStyle/>
          <a:p>
            <a:r>
              <a:rPr lang="en-US" sz="2000" dirty="0" smtClean="0">
                <a:latin typeface="MS Gothic" panose="020B0609070205080204" pitchFamily="49" charset="-128"/>
                <a:ea typeface="MS Gothic" panose="020B0609070205080204" pitchFamily="49" charset="-128"/>
              </a:rPr>
              <a:t>The Objective of our project is to track certain health aspects of the user(like sleep analysis, diet tracking) for the user so that they can take recommendations for improving these health aspects.</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We will achieve our goal through Python language &amp; its libraries(such as </a:t>
            </a:r>
            <a:r>
              <a:rPr lang="en-US" sz="2000" dirty="0" err="1" smtClean="0">
                <a:latin typeface="MS Gothic" panose="020B0609070205080204" pitchFamily="49" charset="-128"/>
                <a:ea typeface="MS Gothic" panose="020B0609070205080204" pitchFamily="49" charset="-128"/>
              </a:rPr>
              <a:t>Seaborn</a:t>
            </a:r>
            <a:r>
              <a:rPr lang="en-US" sz="2000" dirty="0" smtClean="0">
                <a:latin typeface="MS Gothic" panose="020B0609070205080204" pitchFamily="49" charset="-128"/>
                <a:ea typeface="MS Gothic" panose="020B0609070205080204" pitchFamily="49" charset="-128"/>
              </a:rPr>
              <a:t>, </a:t>
            </a:r>
            <a:r>
              <a:rPr lang="en-US" sz="2000" dirty="0" err="1" smtClean="0">
                <a:latin typeface="MS Gothic" panose="020B0609070205080204" pitchFamily="49" charset="-128"/>
                <a:ea typeface="MS Gothic" panose="020B0609070205080204" pitchFamily="49" charset="-128"/>
              </a:rPr>
              <a:t>scikit</a:t>
            </a:r>
            <a:r>
              <a:rPr lang="en-US" sz="2000" dirty="0" smtClean="0">
                <a:latin typeface="MS Gothic" panose="020B0609070205080204" pitchFamily="49" charset="-128"/>
                <a:ea typeface="MS Gothic" panose="020B0609070205080204" pitchFamily="49" charset="-128"/>
              </a:rPr>
              <a:t>-learn, </a:t>
            </a:r>
            <a:r>
              <a:rPr lang="en-US" sz="2000" dirty="0" err="1" smtClean="0">
                <a:latin typeface="MS Gothic" panose="020B0609070205080204" pitchFamily="49" charset="-128"/>
                <a:ea typeface="MS Gothic" panose="020B0609070205080204" pitchFamily="49" charset="-128"/>
              </a:rPr>
              <a:t>tensorflow</a:t>
            </a:r>
            <a:r>
              <a:rPr lang="en-US" sz="2000" dirty="0" smtClean="0">
                <a:latin typeface="MS Gothic" panose="020B0609070205080204" pitchFamily="49" charset="-128"/>
                <a:ea typeface="MS Gothic" panose="020B0609070205080204" pitchFamily="49" charset="-128"/>
              </a:rPr>
              <a:t>), a Database system(MySQL or MongoDB), and build an interface using either combination of Flask API &amp; </a:t>
            </a:r>
            <a:r>
              <a:rPr lang="en-US" sz="2000" dirty="0" err="1" smtClean="0">
                <a:latin typeface="MS Gothic" panose="020B0609070205080204" pitchFamily="49" charset="-128"/>
                <a:ea typeface="MS Gothic" panose="020B0609070205080204" pitchFamily="49" charset="-128"/>
              </a:rPr>
              <a:t>ReactJs</a:t>
            </a:r>
            <a:r>
              <a:rPr lang="en-US" sz="2000" dirty="0" smtClean="0">
                <a:latin typeface="MS Gothic" panose="020B0609070205080204" pitchFamily="49" charset="-128"/>
                <a:ea typeface="MS Gothic" panose="020B0609070205080204" pitchFamily="49" charset="-128"/>
              </a:rPr>
              <a:t>, or Python’s </a:t>
            </a:r>
            <a:r>
              <a:rPr lang="en-US" sz="2000" dirty="0" err="1" smtClean="0">
                <a:latin typeface="MS Gothic" panose="020B0609070205080204" pitchFamily="49" charset="-128"/>
                <a:ea typeface="MS Gothic" panose="020B0609070205080204" pitchFamily="49" charset="-128"/>
              </a:rPr>
              <a:t>tkinter</a:t>
            </a:r>
            <a:r>
              <a:rPr lang="en-US" sz="2000" dirty="0" smtClean="0">
                <a:latin typeface="MS Gothic" panose="020B0609070205080204" pitchFamily="49" charset="-128"/>
                <a:ea typeface="MS Gothic" panose="020B0609070205080204" pitchFamily="49" charset="-128"/>
              </a:rPr>
              <a:t> library.</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This vitality tracker will be developed by training the model on datasets found throughout the web, and any applicable API </a:t>
            </a:r>
            <a:r>
              <a:rPr lang="en-US" sz="2000" dirty="0">
                <a:latin typeface="MS Gothic" panose="020B0609070205080204" pitchFamily="49" charset="-128"/>
                <a:ea typeface="MS Gothic" panose="020B0609070205080204" pitchFamily="49" charset="-128"/>
              </a:rPr>
              <a:t>(such as Google Fit API</a:t>
            </a:r>
            <a:r>
              <a:rPr lang="en-US" sz="2000" dirty="0" smtClean="0">
                <a:latin typeface="MS Gothic" panose="020B0609070205080204" pitchFamily="49" charset="-128"/>
                <a:ea typeface="MS Gothic" panose="020B0609070205080204" pitchFamily="49" charset="-128"/>
              </a:rPr>
              <a:t>) would be connected for real-time data.</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 User is also expected to give their own inputs(such as what they have eaten within the past 24 hours.)</a:t>
            </a:r>
            <a:endParaRPr lang="en-US" sz="2000" dirty="0">
              <a:latin typeface="MS Gothic" panose="020B0609070205080204" pitchFamily="49" charset="-128"/>
              <a:ea typeface="MS Gothic" panose="020B0609070205080204" pitchFamily="49" charset="-128"/>
            </a:endParaRPr>
          </a:p>
          <a:p>
            <a:endParaRPr lang="en-US" sz="2000" dirty="0"/>
          </a:p>
        </p:txBody>
      </p:sp>
    </p:spTree>
    <p:extLst>
      <p:ext uri="{BB962C8B-B14F-4D97-AF65-F5344CB8AC3E}">
        <p14:creationId xmlns:p14="http://schemas.microsoft.com/office/powerpoint/2010/main" val="25237345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Overview</a:t>
            </a:r>
            <a:endParaRPr lang="en-IN" sz="2800" dirty="0"/>
          </a:p>
        </p:txBody>
      </p:sp>
      <p:sp>
        <p:nvSpPr>
          <p:cNvPr id="2" name="Content Placeholder 1"/>
          <p:cNvSpPr>
            <a:spLocks noGrp="1"/>
          </p:cNvSpPr>
          <p:nvPr>
            <p:ph idx="1"/>
          </p:nvPr>
        </p:nvSpPr>
        <p:spPr>
          <a:xfrm>
            <a:off x="384048" y="994437"/>
            <a:ext cx="11356848" cy="4958307"/>
          </a:xfrm>
        </p:spPr>
        <p:txBody>
          <a:bodyPr/>
          <a:lstStyle/>
          <a:p>
            <a:pPr marL="0" indent="0">
              <a:buNone/>
            </a:pPr>
            <a:r>
              <a:rPr lang="en-US" sz="2000" dirty="0">
                <a:latin typeface="MS Gothic" panose="020B0609070205080204" pitchFamily="49" charset="-128"/>
                <a:ea typeface="MS Gothic" panose="020B0609070205080204" pitchFamily="49" charset="-128"/>
              </a:rPr>
              <a:t>Technology to be used in the project:</a:t>
            </a:r>
          </a:p>
          <a:p>
            <a:r>
              <a:rPr lang="en-US" sz="2000" dirty="0">
                <a:latin typeface="MS Gothic" panose="020B0609070205080204" pitchFamily="49" charset="-128"/>
                <a:ea typeface="MS Gothic" panose="020B0609070205080204" pitchFamily="49" charset="-128"/>
              </a:rPr>
              <a:t>APIs: Google Fit API, Fitbit API.</a:t>
            </a:r>
          </a:p>
          <a:p>
            <a:r>
              <a:rPr lang="en-US" sz="2000" dirty="0">
                <a:latin typeface="MS Gothic" panose="020B0609070205080204" pitchFamily="49" charset="-128"/>
                <a:ea typeface="MS Gothic" panose="020B0609070205080204" pitchFamily="49" charset="-128"/>
              </a:rPr>
              <a:t>Database: MySQL.</a:t>
            </a:r>
          </a:p>
          <a:p>
            <a:pPr marL="0" indent="0">
              <a:buNone/>
            </a:pPr>
            <a:r>
              <a:rPr lang="en-US" sz="2000" dirty="0">
                <a:latin typeface="MS Gothic" panose="020B0609070205080204" pitchFamily="49" charset="-128"/>
                <a:ea typeface="MS Gothic" panose="020B0609070205080204" pitchFamily="49" charset="-128"/>
              </a:rPr>
              <a:t>Why?</a:t>
            </a:r>
          </a:p>
          <a:p>
            <a:r>
              <a:rPr lang="en-US" sz="2000" dirty="0">
                <a:latin typeface="MS Gothic" panose="020B0609070205080204" pitchFamily="49" charset="-128"/>
                <a:ea typeface="MS Gothic" panose="020B0609070205080204" pitchFamily="49" charset="-128"/>
              </a:rPr>
              <a:t> APIs allow integration with existing health platforms to collect real-time data.    </a:t>
            </a:r>
          </a:p>
          <a:p>
            <a:r>
              <a:rPr lang="en-US" sz="2000" dirty="0">
                <a:latin typeface="MS Gothic" panose="020B0609070205080204" pitchFamily="49" charset="-128"/>
                <a:ea typeface="MS Gothic" panose="020B0609070205080204" pitchFamily="49" charset="-128"/>
              </a:rPr>
              <a:t>Relational Databases ensure organized storage and efficient queries for structured data.</a:t>
            </a:r>
          </a:p>
          <a:p>
            <a:endParaRPr lang="en-US" sz="2000" dirty="0">
              <a:latin typeface="MS Gothic" panose="020B0609070205080204" pitchFamily="49" charset="-128"/>
              <a:ea typeface="MS Gothic" panose="020B0609070205080204" pitchFamily="49" charset="-128"/>
            </a:endParaRPr>
          </a:p>
          <a:p>
            <a:r>
              <a:rPr lang="en-US" sz="2000" dirty="0">
                <a:latin typeface="MS Gothic" panose="020B0609070205080204" pitchFamily="49" charset="-128"/>
                <a:ea typeface="MS Gothic" panose="020B0609070205080204" pitchFamily="49" charset="-128"/>
              </a:rPr>
              <a:t>Data Processing and Analysis Technologies: Pandas, </a:t>
            </a:r>
            <a:r>
              <a:rPr lang="en-US" sz="2000" dirty="0" err="1">
                <a:latin typeface="MS Gothic" panose="020B0609070205080204" pitchFamily="49" charset="-128"/>
                <a:ea typeface="MS Gothic" panose="020B0609070205080204" pitchFamily="49" charset="-128"/>
              </a:rPr>
              <a:t>NumPy</a:t>
            </a:r>
            <a:r>
              <a:rPr lang="en-US" sz="2000" dirty="0">
                <a:latin typeface="MS Gothic" panose="020B0609070205080204" pitchFamily="49" charset="-128"/>
                <a:ea typeface="MS Gothic" panose="020B0609070205080204" pitchFamily="49" charset="-128"/>
              </a:rPr>
              <a:t>, </a:t>
            </a:r>
            <a:r>
              <a:rPr lang="en-US" sz="2000" dirty="0" err="1">
                <a:latin typeface="MS Gothic" panose="020B0609070205080204" pitchFamily="49" charset="-128"/>
                <a:ea typeface="MS Gothic" panose="020B0609070205080204" pitchFamily="49" charset="-128"/>
              </a:rPr>
              <a:t>SciPy</a:t>
            </a:r>
            <a:r>
              <a:rPr lang="en-US" sz="2000" dirty="0">
                <a:latin typeface="MS Gothic" panose="020B0609070205080204" pitchFamily="49" charset="-128"/>
                <a:ea typeface="MS Gothic" panose="020B0609070205080204" pitchFamily="49" charset="-128"/>
              </a:rPr>
              <a:t> Python Libraries.</a:t>
            </a:r>
          </a:p>
          <a:p>
            <a:pPr marL="0" indent="0">
              <a:buNone/>
            </a:pPr>
            <a:r>
              <a:rPr lang="en-US" sz="2000" dirty="0">
                <a:latin typeface="MS Gothic" panose="020B0609070205080204" pitchFamily="49" charset="-128"/>
                <a:ea typeface="MS Gothic" panose="020B0609070205080204" pitchFamily="49" charset="-128"/>
              </a:rPr>
              <a:t>Why?</a:t>
            </a:r>
          </a:p>
          <a:p>
            <a:r>
              <a:rPr lang="en-US" sz="2000" dirty="0">
                <a:latin typeface="MS Gothic" panose="020B0609070205080204" pitchFamily="49" charset="-128"/>
                <a:ea typeface="MS Gothic" panose="020B0609070205080204" pitchFamily="49" charset="-128"/>
              </a:rPr>
              <a:t>Pandas and </a:t>
            </a:r>
            <a:r>
              <a:rPr lang="en-US" sz="2000" dirty="0" err="1">
                <a:latin typeface="MS Gothic" panose="020B0609070205080204" pitchFamily="49" charset="-128"/>
                <a:ea typeface="MS Gothic" panose="020B0609070205080204" pitchFamily="49" charset="-128"/>
              </a:rPr>
              <a:t>NumPy</a:t>
            </a:r>
            <a:r>
              <a:rPr lang="en-US" sz="2000" dirty="0">
                <a:latin typeface="MS Gothic" panose="020B0609070205080204" pitchFamily="49" charset="-128"/>
                <a:ea typeface="MS Gothic" panose="020B0609070205080204" pitchFamily="49" charset="-128"/>
              </a:rPr>
              <a:t> simplify data cleaning, transformation, and analysis.</a:t>
            </a:r>
          </a:p>
          <a:p>
            <a:r>
              <a:rPr lang="en-US" sz="2000" dirty="0">
                <a:latin typeface="MS Gothic" panose="020B0609070205080204" pitchFamily="49" charset="-128"/>
                <a:ea typeface="MS Gothic" panose="020B0609070205080204" pitchFamily="49" charset="-128"/>
              </a:rPr>
              <a:t>Machine Learning Models Frameworks: </a:t>
            </a:r>
            <a:r>
              <a:rPr lang="en-US" sz="2000" dirty="0" err="1">
                <a:latin typeface="MS Gothic" panose="020B0609070205080204" pitchFamily="49" charset="-128"/>
                <a:ea typeface="MS Gothic" panose="020B0609070205080204" pitchFamily="49" charset="-128"/>
              </a:rPr>
              <a:t>TensorFlow</a:t>
            </a:r>
            <a:r>
              <a:rPr lang="en-US" sz="2000" dirty="0">
                <a:latin typeface="MS Gothic" panose="020B0609070205080204" pitchFamily="49" charset="-128"/>
                <a:ea typeface="MS Gothic" panose="020B0609070205080204" pitchFamily="49" charset="-128"/>
              </a:rPr>
              <a:t>(deep learning for time-series and recommendations). </a:t>
            </a:r>
            <a:r>
              <a:rPr lang="en-US" sz="2000" dirty="0" err="1">
                <a:latin typeface="MS Gothic" panose="020B0609070205080204" pitchFamily="49" charset="-128"/>
                <a:ea typeface="MS Gothic" panose="020B0609070205080204" pitchFamily="49" charset="-128"/>
              </a:rPr>
              <a:t>Scikit</a:t>
            </a:r>
            <a:r>
              <a:rPr lang="en-US" sz="2000" dirty="0">
                <a:latin typeface="MS Gothic" panose="020B0609070205080204" pitchFamily="49" charset="-128"/>
                <a:ea typeface="MS Gothic" panose="020B0609070205080204" pitchFamily="49" charset="-128"/>
              </a:rPr>
              <a:t>-learn (traditional machine learning algorithms).</a:t>
            </a:r>
          </a:p>
        </p:txBody>
      </p:sp>
    </p:spTree>
    <p:extLst>
      <p:ext uri="{BB962C8B-B14F-4D97-AF65-F5344CB8AC3E}">
        <p14:creationId xmlns:p14="http://schemas.microsoft.com/office/powerpoint/2010/main" val="33239664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Overview</a:t>
            </a:r>
            <a:endParaRPr lang="en-IN" sz="2800" dirty="0"/>
          </a:p>
        </p:txBody>
      </p:sp>
      <p:sp>
        <p:nvSpPr>
          <p:cNvPr id="2" name="Content Placeholder 1"/>
          <p:cNvSpPr>
            <a:spLocks noGrp="1"/>
          </p:cNvSpPr>
          <p:nvPr>
            <p:ph idx="1"/>
          </p:nvPr>
        </p:nvSpPr>
        <p:spPr>
          <a:xfrm>
            <a:off x="384048" y="994437"/>
            <a:ext cx="11356848" cy="4958307"/>
          </a:xfrm>
        </p:spPr>
        <p:txBody>
          <a:bodyPr/>
          <a:lstStyle/>
          <a:p>
            <a:pPr marL="0" indent="0">
              <a:buNone/>
            </a:pPr>
            <a:r>
              <a:rPr lang="en-US" sz="2000" b="1" dirty="0">
                <a:latin typeface="MS Gothic" panose="020B0609070205080204" pitchFamily="49" charset="-128"/>
                <a:ea typeface="MS Gothic" panose="020B0609070205080204" pitchFamily="49" charset="-128"/>
              </a:rPr>
              <a:t>Why?</a:t>
            </a:r>
          </a:p>
          <a:p>
            <a:r>
              <a:rPr lang="en-US" sz="2000" dirty="0" err="1">
                <a:latin typeface="MS Gothic" panose="020B0609070205080204" pitchFamily="49" charset="-128"/>
                <a:ea typeface="MS Gothic" panose="020B0609070205080204" pitchFamily="49" charset="-128"/>
              </a:rPr>
              <a:t>TensorFlow</a:t>
            </a:r>
            <a:r>
              <a:rPr lang="en-US" sz="2000" dirty="0">
                <a:latin typeface="MS Gothic" panose="020B0609070205080204" pitchFamily="49" charset="-128"/>
                <a:ea typeface="MS Gothic" panose="020B0609070205080204" pitchFamily="49" charset="-128"/>
              </a:rPr>
              <a:t> are industry-standard frameworks with flexibility and scalability for deep learning models.</a:t>
            </a:r>
          </a:p>
          <a:p>
            <a:r>
              <a:rPr lang="en-US" sz="2000" dirty="0" err="1">
                <a:latin typeface="MS Gothic" panose="020B0609070205080204" pitchFamily="49" charset="-128"/>
                <a:ea typeface="MS Gothic" panose="020B0609070205080204" pitchFamily="49" charset="-128"/>
              </a:rPr>
              <a:t>Scikit</a:t>
            </a:r>
            <a:r>
              <a:rPr lang="en-US" sz="2000" dirty="0">
                <a:latin typeface="MS Gothic" panose="020B0609070205080204" pitchFamily="49" charset="-128"/>
                <a:ea typeface="MS Gothic" panose="020B0609070205080204" pitchFamily="49" charset="-128"/>
              </a:rPr>
              <a:t>-learn offers a simple interface for implementing traditional ML algorithms.</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Visualization and Reporting Libraries: </a:t>
            </a:r>
            <a:r>
              <a:rPr lang="en-US" sz="2000" dirty="0" err="1" smtClean="0">
                <a:latin typeface="MS Gothic" panose="020B0609070205080204" pitchFamily="49" charset="-128"/>
                <a:ea typeface="MS Gothic" panose="020B0609070205080204" pitchFamily="49" charset="-128"/>
              </a:rPr>
              <a:t>Matplotlib</a:t>
            </a:r>
            <a:r>
              <a:rPr lang="en-US" sz="2000" dirty="0" smtClean="0">
                <a:latin typeface="MS Gothic" panose="020B0609070205080204" pitchFamily="49" charset="-128"/>
                <a:ea typeface="MS Gothic" panose="020B0609070205080204" pitchFamily="49" charset="-128"/>
              </a:rPr>
              <a:t>, </a:t>
            </a:r>
            <a:r>
              <a:rPr lang="en-US" sz="2000" dirty="0" err="1" smtClean="0">
                <a:latin typeface="MS Gothic" panose="020B0609070205080204" pitchFamily="49" charset="-128"/>
                <a:ea typeface="MS Gothic" panose="020B0609070205080204" pitchFamily="49" charset="-128"/>
              </a:rPr>
              <a:t>Seaborn</a:t>
            </a:r>
            <a:r>
              <a:rPr lang="en-US" sz="2000" dirty="0" smtClean="0">
                <a:latin typeface="MS Gothic" panose="020B0609070205080204" pitchFamily="49" charset="-128"/>
                <a:ea typeface="MS Gothic" panose="020B0609070205080204" pitchFamily="49" charset="-128"/>
              </a:rPr>
              <a:t>(interactive dashboards).</a:t>
            </a:r>
          </a:p>
          <a:p>
            <a:pPr marL="0" indent="0">
              <a:buNone/>
            </a:pPr>
            <a:r>
              <a:rPr lang="en-US" sz="2000" b="1" dirty="0" smtClean="0">
                <a:latin typeface="MS Gothic" panose="020B0609070205080204" pitchFamily="49" charset="-128"/>
                <a:ea typeface="MS Gothic" panose="020B0609070205080204" pitchFamily="49" charset="-128"/>
              </a:rPr>
              <a:t>Why?</a:t>
            </a:r>
          </a:p>
          <a:p>
            <a:r>
              <a:rPr lang="en-US" sz="2000" dirty="0" err="1" smtClean="0">
                <a:latin typeface="MS Gothic" panose="020B0609070205080204" pitchFamily="49" charset="-128"/>
                <a:ea typeface="MS Gothic" panose="020B0609070205080204" pitchFamily="49" charset="-128"/>
              </a:rPr>
              <a:t>Matplotlib</a:t>
            </a:r>
            <a:r>
              <a:rPr lang="en-US" sz="2000" dirty="0" smtClean="0">
                <a:latin typeface="MS Gothic" panose="020B0609070205080204" pitchFamily="49" charset="-128"/>
                <a:ea typeface="MS Gothic" panose="020B0609070205080204" pitchFamily="49" charset="-128"/>
              </a:rPr>
              <a:t> </a:t>
            </a:r>
            <a:r>
              <a:rPr lang="en-US" sz="2000" dirty="0">
                <a:latin typeface="MS Gothic" panose="020B0609070205080204" pitchFamily="49" charset="-128"/>
                <a:ea typeface="MS Gothic" panose="020B0609070205080204" pitchFamily="49" charset="-128"/>
              </a:rPr>
              <a:t>and </a:t>
            </a:r>
            <a:r>
              <a:rPr lang="en-US" sz="2000" dirty="0" err="1">
                <a:latin typeface="MS Gothic" panose="020B0609070205080204" pitchFamily="49" charset="-128"/>
                <a:ea typeface="MS Gothic" panose="020B0609070205080204" pitchFamily="49" charset="-128"/>
              </a:rPr>
              <a:t>Seaborn</a:t>
            </a:r>
            <a:r>
              <a:rPr lang="en-US" sz="2000" dirty="0">
                <a:latin typeface="MS Gothic" panose="020B0609070205080204" pitchFamily="49" charset="-128"/>
                <a:ea typeface="MS Gothic" panose="020B0609070205080204" pitchFamily="49" charset="-128"/>
              </a:rPr>
              <a:t> are great for creating basic graphs and reports.</a:t>
            </a:r>
          </a:p>
        </p:txBody>
      </p:sp>
    </p:spTree>
    <p:extLst>
      <p:ext uri="{BB962C8B-B14F-4D97-AF65-F5344CB8AC3E}">
        <p14:creationId xmlns:p14="http://schemas.microsoft.com/office/powerpoint/2010/main" val="39934102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Use Case Diagram</a:t>
            </a:r>
            <a:endParaRPr lang="en-IN" sz="2800" dirty="0"/>
          </a:p>
        </p:txBody>
      </p:sp>
      <p:sp>
        <p:nvSpPr>
          <p:cNvPr id="2" name="Content Placeholder 1"/>
          <p:cNvSpPr>
            <a:spLocks noGrp="1"/>
          </p:cNvSpPr>
          <p:nvPr>
            <p:ph idx="1"/>
          </p:nvPr>
        </p:nvSpPr>
        <p:spPr>
          <a:xfrm>
            <a:off x="518160" y="1054289"/>
            <a:ext cx="10515600" cy="4592639"/>
          </a:xfrm>
        </p:spPr>
        <p:txBody>
          <a:bodyPr/>
          <a:lstStyle/>
          <a:p>
            <a:r>
              <a:rPr lang="en-US" sz="2000" dirty="0">
                <a:latin typeface="MS Gothic" panose="020B0609070205080204" pitchFamily="49" charset="-128"/>
                <a:ea typeface="MS Gothic" panose="020B0609070205080204" pitchFamily="49" charset="-128"/>
              </a:rPr>
              <a:t>A Use Case Diagram in </a:t>
            </a:r>
            <a:r>
              <a:rPr lang="en-US" sz="2000" dirty="0" smtClean="0">
                <a:latin typeface="MS Gothic" panose="020B0609070205080204" pitchFamily="49" charset="-128"/>
                <a:ea typeface="MS Gothic" panose="020B0609070205080204" pitchFamily="49" charset="-128"/>
              </a:rPr>
              <a:t>Unified Modelling Language (UML)</a:t>
            </a:r>
            <a:r>
              <a:rPr lang="en-US" sz="2000" dirty="0">
                <a:latin typeface="MS Gothic" panose="020B0609070205080204" pitchFamily="49" charset="-128"/>
                <a:ea typeface="MS Gothic" panose="020B0609070205080204" pitchFamily="49" charset="-128"/>
              </a:rPr>
              <a:t> is a visual representation that illustrates the interactions between users (actors) and a system. </a:t>
            </a:r>
            <a:endParaRPr lang="en-US" sz="2000" dirty="0" smtClean="0">
              <a:latin typeface="MS Gothic" panose="020B0609070205080204" pitchFamily="49" charset="-128"/>
              <a:ea typeface="MS Gothic" panose="020B0609070205080204" pitchFamily="49" charset="-128"/>
            </a:endParaRP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It </a:t>
            </a:r>
            <a:r>
              <a:rPr lang="en-US" sz="2000" dirty="0">
                <a:latin typeface="MS Gothic" panose="020B0609070205080204" pitchFamily="49" charset="-128"/>
                <a:ea typeface="MS Gothic" panose="020B0609070205080204" pitchFamily="49" charset="-128"/>
              </a:rPr>
              <a:t>captures the functional requirements of a system, showing how different users engage with various use cases, or specific functionalities, within the system. </a:t>
            </a:r>
            <a:endParaRPr lang="en-US" sz="2000" dirty="0" smtClean="0">
              <a:latin typeface="MS Gothic" panose="020B0609070205080204" pitchFamily="49" charset="-128"/>
              <a:ea typeface="MS Gothic" panose="020B0609070205080204" pitchFamily="49" charset="-128"/>
            </a:endParaRP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Use </a:t>
            </a:r>
            <a:r>
              <a:rPr lang="en-US" sz="2000" dirty="0">
                <a:latin typeface="MS Gothic" panose="020B0609070205080204" pitchFamily="49" charset="-128"/>
                <a:ea typeface="MS Gothic" panose="020B0609070205080204" pitchFamily="49" charset="-128"/>
              </a:rPr>
              <a:t>case diagrams provide a high-level overview of a system’s behavior, making them useful for stakeholders, developers, and analysts to understand how a system is intended to operate from the user’s perspective, and how different processes relate to one another. They are crucial for defining system scope and requirements.</a:t>
            </a:r>
            <a:endParaRPr lang="en-IN" sz="20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4303794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Use Case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4023" y="695696"/>
            <a:ext cx="5685904" cy="5667797"/>
          </a:xfrm>
        </p:spPr>
      </p:pic>
    </p:spTree>
    <p:extLst>
      <p:ext uri="{BB962C8B-B14F-4D97-AF65-F5344CB8AC3E}">
        <p14:creationId xmlns:p14="http://schemas.microsoft.com/office/powerpoint/2010/main" val="11166826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Use Case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593"/>
            <a:ext cx="12192000" cy="6881735"/>
          </a:xfrm>
        </p:spPr>
      </p:pic>
    </p:spTree>
    <p:extLst>
      <p:ext uri="{BB962C8B-B14F-4D97-AF65-F5344CB8AC3E}">
        <p14:creationId xmlns:p14="http://schemas.microsoft.com/office/powerpoint/2010/main" val="35135806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Activity Diagram</a:t>
            </a:r>
            <a:endParaRPr lang="en-IN" sz="2800" dirty="0"/>
          </a:p>
        </p:txBody>
      </p:sp>
      <p:sp>
        <p:nvSpPr>
          <p:cNvPr id="2" name="Content Placeholder 1"/>
          <p:cNvSpPr>
            <a:spLocks noGrp="1"/>
          </p:cNvSpPr>
          <p:nvPr>
            <p:ph idx="1"/>
          </p:nvPr>
        </p:nvSpPr>
        <p:spPr>
          <a:xfrm>
            <a:off x="384048" y="994437"/>
            <a:ext cx="10969752" cy="4592639"/>
          </a:xfrm>
        </p:spPr>
        <p:txBody>
          <a:bodyPr/>
          <a:lstStyle/>
          <a:p>
            <a:r>
              <a:rPr lang="en-US" sz="2000" dirty="0">
                <a:latin typeface="MS Gothic" panose="020B0609070205080204" pitchFamily="49" charset="-128"/>
                <a:ea typeface="MS Gothic" panose="020B0609070205080204" pitchFamily="49" charset="-128"/>
              </a:rPr>
              <a:t>Activity diagrams are an essential part of the </a:t>
            </a:r>
            <a:r>
              <a:rPr lang="en-US" sz="2000" dirty="0" smtClean="0">
                <a:latin typeface="MS Gothic" panose="020B0609070205080204" pitchFamily="49" charset="-128"/>
                <a:ea typeface="MS Gothic" panose="020B0609070205080204" pitchFamily="49" charset="-128"/>
              </a:rPr>
              <a:t>Unified Modeling Language</a:t>
            </a:r>
            <a:r>
              <a:rPr lang="en-US" sz="2000" dirty="0">
                <a:latin typeface="MS Gothic" panose="020B0609070205080204" pitchFamily="49" charset="-128"/>
                <a:ea typeface="MS Gothic" panose="020B0609070205080204" pitchFamily="49" charset="-128"/>
              </a:rPr>
              <a:t> that help visualize workflows, processes, or activities within a system.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They </a:t>
            </a:r>
            <a:r>
              <a:rPr lang="en-US" sz="2000" dirty="0">
                <a:latin typeface="MS Gothic" panose="020B0609070205080204" pitchFamily="49" charset="-128"/>
                <a:ea typeface="MS Gothic" panose="020B0609070205080204" pitchFamily="49" charset="-128"/>
              </a:rPr>
              <a:t>depict how different actions are connected and how a system moves from one state to another.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By </a:t>
            </a:r>
            <a:r>
              <a:rPr lang="en-US" sz="2000" dirty="0">
                <a:latin typeface="MS Gothic" panose="020B0609070205080204" pitchFamily="49" charset="-128"/>
                <a:ea typeface="MS Gothic" panose="020B0609070205080204" pitchFamily="49" charset="-128"/>
              </a:rPr>
              <a:t>offering a clear picture of both simple and complex workflows, activity diagrams make it easier for developers and stakeholders to understand how various elements interact in a system.</a:t>
            </a:r>
            <a:endParaRPr lang="en-IN" sz="14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5016957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Activity Diagram</a:t>
            </a:r>
            <a:endParaRPr lang="en-IN" sz="28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55127" y="600013"/>
            <a:ext cx="2508861" cy="5394388"/>
          </a:xfrm>
        </p:spPr>
      </p:pic>
    </p:spTree>
    <p:extLst>
      <p:ext uri="{BB962C8B-B14F-4D97-AF65-F5344CB8AC3E}">
        <p14:creationId xmlns:p14="http://schemas.microsoft.com/office/powerpoint/2010/main" val="40463046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Activity Diagram</a:t>
            </a:r>
            <a:endParaRPr lang="en-IN" sz="2800"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199" y="1130531"/>
            <a:ext cx="12027138" cy="4530436"/>
          </a:xfrm>
        </p:spPr>
      </p:pic>
    </p:spTree>
    <p:extLst>
      <p:ext uri="{BB962C8B-B14F-4D97-AF65-F5344CB8AC3E}">
        <p14:creationId xmlns:p14="http://schemas.microsoft.com/office/powerpoint/2010/main" val="41692869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Data Flow Diagram</a:t>
            </a:r>
            <a:endParaRPr lang="en-IN" sz="2800" dirty="0"/>
          </a:p>
        </p:txBody>
      </p:sp>
      <p:sp>
        <p:nvSpPr>
          <p:cNvPr id="2" name="Rectangle 1"/>
          <p:cNvSpPr/>
          <p:nvPr/>
        </p:nvSpPr>
        <p:spPr>
          <a:xfrm>
            <a:off x="353567" y="1078992"/>
            <a:ext cx="11030713" cy="3785652"/>
          </a:xfrm>
          <a:prstGeom prst="rect">
            <a:avLst/>
          </a:prstGeom>
        </p:spPr>
        <p:txBody>
          <a:bodyPr wrap="square">
            <a:spAutoFit/>
          </a:bodyPr>
          <a:lstStyle/>
          <a:p>
            <a:pPr marL="285750" indent="-285750">
              <a:buFont typeface="Wingdings" panose="05000000000000000000" pitchFamily="2" charset="2"/>
              <a:buChar char="v"/>
            </a:pPr>
            <a:r>
              <a:rPr lang="en-US" sz="2000" b="1" dirty="0">
                <a:latin typeface="MS Gothic" panose="020B0609070205080204" pitchFamily="49" charset="-128"/>
                <a:ea typeface="MS Gothic" panose="020B0609070205080204" pitchFamily="49" charset="-128"/>
              </a:rPr>
              <a:t>DFD</a:t>
            </a:r>
            <a:r>
              <a:rPr lang="en-US" sz="2000" dirty="0">
                <a:latin typeface="MS Gothic" panose="020B0609070205080204" pitchFamily="49" charset="-128"/>
                <a:ea typeface="MS Gothic" panose="020B0609070205080204" pitchFamily="49" charset="-128"/>
              </a:rPr>
              <a:t> is the abbreviation for </a:t>
            </a:r>
            <a:r>
              <a:rPr lang="en-US" sz="2000" b="1" dirty="0">
                <a:latin typeface="MS Gothic" panose="020B0609070205080204" pitchFamily="49" charset="-128"/>
                <a:ea typeface="MS Gothic" panose="020B0609070205080204" pitchFamily="49" charset="-128"/>
              </a:rPr>
              <a:t>Data Flow Diagram</a:t>
            </a:r>
            <a:r>
              <a:rPr lang="en-US" sz="2000" dirty="0">
                <a:latin typeface="MS Gothic" panose="020B0609070205080204" pitchFamily="49" charset="-128"/>
                <a:ea typeface="MS Gothic" panose="020B0609070205080204" pitchFamily="49" charset="-128"/>
              </a:rPr>
              <a:t>. The flow of data in a system or process is represented by a Data Flow Diagram (DFD).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pPr marL="285750" indent="-285750">
              <a:buFont typeface="Wingdings" panose="05000000000000000000" pitchFamily="2" charset="2"/>
              <a:buChar char="v"/>
            </a:pPr>
            <a:r>
              <a:rPr lang="en-US" sz="2000" dirty="0" smtClean="0">
                <a:latin typeface="MS Gothic" panose="020B0609070205080204" pitchFamily="49" charset="-128"/>
                <a:ea typeface="MS Gothic" panose="020B0609070205080204" pitchFamily="49" charset="-128"/>
              </a:rPr>
              <a:t>It </a:t>
            </a:r>
            <a:r>
              <a:rPr lang="en-US" sz="2000" dirty="0">
                <a:latin typeface="MS Gothic" panose="020B0609070205080204" pitchFamily="49" charset="-128"/>
                <a:ea typeface="MS Gothic" panose="020B0609070205080204" pitchFamily="49" charset="-128"/>
              </a:rPr>
              <a:t>also gives insight into the inputs and outputs of each entity and the process itself. Data Flow Diagram (DFD) does not have a control flow and no loops or decision rules are present.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pPr marL="285750" indent="-285750">
              <a:buFont typeface="Wingdings" panose="05000000000000000000" pitchFamily="2" charset="2"/>
              <a:buChar char="v"/>
            </a:pPr>
            <a:r>
              <a:rPr lang="en-US" sz="2000" dirty="0" smtClean="0">
                <a:latin typeface="MS Gothic" panose="020B0609070205080204" pitchFamily="49" charset="-128"/>
                <a:ea typeface="MS Gothic" panose="020B0609070205080204" pitchFamily="49" charset="-128"/>
              </a:rPr>
              <a:t>Specific </a:t>
            </a:r>
            <a:r>
              <a:rPr lang="en-US" sz="2000" dirty="0">
                <a:latin typeface="MS Gothic" panose="020B0609070205080204" pitchFamily="49" charset="-128"/>
                <a:ea typeface="MS Gothic" panose="020B0609070205080204" pitchFamily="49" charset="-128"/>
              </a:rPr>
              <a:t>operations, depending on the type of data, can be explained by a flowchart.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pPr marL="285750" indent="-285750">
              <a:buFont typeface="Wingdings" panose="05000000000000000000" pitchFamily="2" charset="2"/>
              <a:buChar char="v"/>
            </a:pPr>
            <a:r>
              <a:rPr lang="en-US" sz="2000" dirty="0" smtClean="0">
                <a:latin typeface="MS Gothic" panose="020B0609070205080204" pitchFamily="49" charset="-128"/>
                <a:ea typeface="MS Gothic" panose="020B0609070205080204" pitchFamily="49" charset="-128"/>
              </a:rPr>
              <a:t>It </a:t>
            </a:r>
            <a:r>
              <a:rPr lang="en-US" sz="2000" dirty="0">
                <a:latin typeface="MS Gothic" panose="020B0609070205080204" pitchFamily="49" charset="-128"/>
                <a:ea typeface="MS Gothic" panose="020B0609070205080204" pitchFamily="49" charset="-128"/>
              </a:rPr>
              <a:t>is a graphical tool, useful for communicating with users, managers and other personnel. it is useful for analyzing existing as well as proposed systems.</a:t>
            </a:r>
            <a:endParaRPr lang="en-IN" sz="14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897457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Data Flow Diagram</a:t>
            </a:r>
            <a:endParaRPr lang="en-IN" sz="2800" dirty="0"/>
          </a:p>
        </p:txBody>
      </p:sp>
      <p:pic>
        <p:nvPicPr>
          <p:cNvPr id="8" name="Picture 7"/>
          <p:cNvPicPr>
            <a:picLocks noChangeAspect="1"/>
          </p:cNvPicPr>
          <p:nvPr/>
        </p:nvPicPr>
        <p:blipFill>
          <a:blip r:embed="rId2"/>
          <a:stretch>
            <a:fillRect/>
          </a:stretch>
        </p:blipFill>
        <p:spPr>
          <a:xfrm>
            <a:off x="3275215" y="647963"/>
            <a:ext cx="4729941" cy="5790803"/>
          </a:xfrm>
          <a:prstGeom prst="rect">
            <a:avLst/>
          </a:prstGeom>
        </p:spPr>
      </p:pic>
      <p:sp>
        <p:nvSpPr>
          <p:cNvPr id="10" name="Rectangle 9"/>
          <p:cNvSpPr/>
          <p:nvPr/>
        </p:nvSpPr>
        <p:spPr>
          <a:xfrm>
            <a:off x="7015018" y="5981567"/>
            <a:ext cx="931949" cy="38238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4285726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Data Flow Diagram</a:t>
            </a:r>
            <a:endParaRPr lang="en-IN" sz="2800" dirty="0"/>
          </a:p>
        </p:txBody>
      </p:sp>
      <p:pic>
        <p:nvPicPr>
          <p:cNvPr id="8" name="Picture 7"/>
          <p:cNvPicPr>
            <a:picLocks noChangeAspect="1"/>
          </p:cNvPicPr>
          <p:nvPr/>
        </p:nvPicPr>
        <p:blipFill>
          <a:blip r:embed="rId2"/>
          <a:stretch>
            <a:fillRect/>
          </a:stretch>
        </p:blipFill>
        <p:spPr>
          <a:xfrm>
            <a:off x="0" y="0"/>
            <a:ext cx="12192000" cy="6886561"/>
          </a:xfrm>
          <a:prstGeom prst="rect">
            <a:avLst/>
          </a:prstGeom>
        </p:spPr>
      </p:pic>
      <p:sp>
        <p:nvSpPr>
          <p:cNvPr id="2" name="Rectangle 1"/>
          <p:cNvSpPr/>
          <p:nvPr/>
        </p:nvSpPr>
        <p:spPr>
          <a:xfrm>
            <a:off x="10224655" y="6417425"/>
            <a:ext cx="1853738" cy="29094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504615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State Chart</a:t>
            </a:r>
            <a:endParaRPr lang="en-IN" sz="2800" dirty="0"/>
          </a:p>
        </p:txBody>
      </p:sp>
      <p:sp>
        <p:nvSpPr>
          <p:cNvPr id="2" name="Content Placeholder 1"/>
          <p:cNvSpPr>
            <a:spLocks noGrp="1"/>
          </p:cNvSpPr>
          <p:nvPr>
            <p:ph idx="1"/>
          </p:nvPr>
        </p:nvSpPr>
        <p:spPr>
          <a:xfrm>
            <a:off x="463296" y="1063433"/>
            <a:ext cx="11469624" cy="4999039"/>
          </a:xfrm>
        </p:spPr>
        <p:txBody>
          <a:bodyPr/>
          <a:lstStyle/>
          <a:p>
            <a:r>
              <a:rPr lang="en-US" sz="2000" dirty="0" smtClean="0">
                <a:latin typeface="MS Gothic" panose="020B0609070205080204" pitchFamily="49" charset="-128"/>
                <a:ea typeface="MS Gothic" panose="020B0609070205080204" pitchFamily="49" charset="-128"/>
              </a:rPr>
              <a:t>State chart </a:t>
            </a:r>
            <a:r>
              <a:rPr lang="en-US" sz="2000" dirty="0">
                <a:latin typeface="MS Gothic" panose="020B0609070205080204" pitchFamily="49" charset="-128"/>
                <a:ea typeface="MS Gothic" panose="020B0609070205080204" pitchFamily="49" charset="-128"/>
              </a:rPr>
              <a:t>diagram is one of the five UML diagrams used to model the dynamic nature of a system.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They </a:t>
            </a:r>
            <a:r>
              <a:rPr lang="en-US" sz="2000" dirty="0">
                <a:latin typeface="MS Gothic" panose="020B0609070205080204" pitchFamily="49" charset="-128"/>
                <a:ea typeface="MS Gothic" panose="020B0609070205080204" pitchFamily="49" charset="-128"/>
              </a:rPr>
              <a:t>define different states of an object during its lifetime and these states are changed by events.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State chart </a:t>
            </a:r>
            <a:r>
              <a:rPr lang="en-US" sz="2000" dirty="0">
                <a:latin typeface="MS Gothic" panose="020B0609070205080204" pitchFamily="49" charset="-128"/>
                <a:ea typeface="MS Gothic" panose="020B0609070205080204" pitchFamily="49" charset="-128"/>
              </a:rPr>
              <a:t>diagrams are useful to model the reactive systems. Reactive systems can be defined as a system that responds to external or internal events.</a:t>
            </a:r>
            <a:endParaRPr lang="en-IN" sz="20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15181847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State Chart</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9419" y="1238596"/>
            <a:ext cx="9234741" cy="4629031"/>
          </a:xfrm>
        </p:spPr>
      </p:pic>
    </p:spTree>
    <p:extLst>
      <p:ext uri="{BB962C8B-B14F-4D97-AF65-F5344CB8AC3E}">
        <p14:creationId xmlns:p14="http://schemas.microsoft.com/office/powerpoint/2010/main" val="11932965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State Chart</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86" y="82296"/>
            <a:ext cx="12130885" cy="6775704"/>
          </a:xfrm>
        </p:spPr>
      </p:pic>
    </p:spTree>
    <p:extLst>
      <p:ext uri="{BB962C8B-B14F-4D97-AF65-F5344CB8AC3E}">
        <p14:creationId xmlns:p14="http://schemas.microsoft.com/office/powerpoint/2010/main" val="37650877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E-R Diagram</a:t>
            </a:r>
            <a:endParaRPr lang="en-IN" sz="2800" dirty="0"/>
          </a:p>
        </p:txBody>
      </p:sp>
      <p:sp>
        <p:nvSpPr>
          <p:cNvPr id="2" name="Content Placeholder 1"/>
          <p:cNvSpPr>
            <a:spLocks noGrp="1"/>
          </p:cNvSpPr>
          <p:nvPr>
            <p:ph idx="1"/>
          </p:nvPr>
        </p:nvSpPr>
        <p:spPr>
          <a:xfrm>
            <a:off x="408432" y="999425"/>
            <a:ext cx="11698224" cy="5273359"/>
          </a:xfrm>
        </p:spPr>
        <p:txBody>
          <a:bodyPr/>
          <a:lstStyle/>
          <a:p>
            <a:r>
              <a:rPr lang="en-US" sz="2000" dirty="0">
                <a:latin typeface="MS Gothic" panose="020B0609070205080204" pitchFamily="49" charset="-128"/>
                <a:ea typeface="MS Gothic" panose="020B0609070205080204" pitchFamily="49" charset="-128"/>
              </a:rPr>
              <a:t>The Entity Relationship Model is a model for identifying entities (like student, car or company) to be represented in the database and representation of how those entities are related. </a:t>
            </a:r>
          </a:p>
          <a:p>
            <a:r>
              <a:rPr lang="en-US" sz="2000" dirty="0" smtClean="0">
                <a:latin typeface="MS Gothic" panose="020B0609070205080204" pitchFamily="49" charset="-128"/>
                <a:ea typeface="MS Gothic" panose="020B0609070205080204" pitchFamily="49" charset="-128"/>
              </a:rPr>
              <a:t>The </a:t>
            </a:r>
            <a:r>
              <a:rPr lang="en-US" sz="2000" dirty="0">
                <a:latin typeface="MS Gothic" panose="020B0609070205080204" pitchFamily="49" charset="-128"/>
                <a:ea typeface="MS Gothic" panose="020B0609070205080204" pitchFamily="49" charset="-128"/>
              </a:rPr>
              <a:t>ER data model specifies enterprise schema that represents the overall logical structure of a database </a:t>
            </a:r>
            <a:r>
              <a:rPr lang="en-US" sz="2000" dirty="0" smtClean="0">
                <a:latin typeface="MS Gothic" panose="020B0609070205080204" pitchFamily="49" charset="-128"/>
                <a:ea typeface="MS Gothic" panose="020B0609070205080204" pitchFamily="49" charset="-128"/>
              </a:rPr>
              <a:t>graphically.</a:t>
            </a:r>
          </a:p>
          <a:p>
            <a:pPr marL="0" indent="0">
              <a:buNone/>
            </a:pPr>
            <a:endParaRPr lang="en-US" sz="2000" dirty="0" smtClean="0">
              <a:latin typeface="MS Gothic" panose="020B0609070205080204" pitchFamily="49" charset="-128"/>
              <a:ea typeface="MS Gothic" panose="020B0609070205080204" pitchFamily="49" charset="-128"/>
            </a:endParaRPr>
          </a:p>
          <a:p>
            <a:pPr marL="0" indent="0">
              <a:buNone/>
            </a:pPr>
            <a:r>
              <a:rPr lang="en-US" sz="2000" dirty="0">
                <a:latin typeface="MS Gothic" panose="020B0609070205080204" pitchFamily="49" charset="-128"/>
                <a:ea typeface="MS Gothic" panose="020B0609070205080204" pitchFamily="49" charset="-128"/>
              </a:rPr>
              <a:t>ER Model is used to model the logical view of the system from a data perspective which consists of these symbols:</a:t>
            </a:r>
          </a:p>
          <a:p>
            <a:r>
              <a:rPr lang="en-US" sz="2000" b="1" dirty="0">
                <a:latin typeface="MS Gothic" panose="020B0609070205080204" pitchFamily="49" charset="-128"/>
                <a:ea typeface="MS Gothic" panose="020B0609070205080204" pitchFamily="49" charset="-128"/>
              </a:rPr>
              <a:t>Rectangles:</a:t>
            </a:r>
            <a:r>
              <a:rPr lang="en-US" sz="2000" dirty="0">
                <a:latin typeface="MS Gothic" panose="020B0609070205080204" pitchFamily="49" charset="-128"/>
                <a:ea typeface="MS Gothic" panose="020B0609070205080204" pitchFamily="49" charset="-128"/>
              </a:rPr>
              <a:t> Rectangles represent Entities in the ER Model.</a:t>
            </a:r>
          </a:p>
          <a:p>
            <a:r>
              <a:rPr lang="en-US" sz="2000" b="1" dirty="0">
                <a:latin typeface="MS Gothic" panose="020B0609070205080204" pitchFamily="49" charset="-128"/>
                <a:ea typeface="MS Gothic" panose="020B0609070205080204" pitchFamily="49" charset="-128"/>
              </a:rPr>
              <a:t>Ellipses:</a:t>
            </a:r>
            <a:r>
              <a:rPr lang="en-US" sz="2000" dirty="0">
                <a:latin typeface="MS Gothic" panose="020B0609070205080204" pitchFamily="49" charset="-128"/>
                <a:ea typeface="MS Gothic" panose="020B0609070205080204" pitchFamily="49" charset="-128"/>
              </a:rPr>
              <a:t> Ellipses represent Attributes in the ER Model.</a:t>
            </a:r>
          </a:p>
          <a:p>
            <a:r>
              <a:rPr lang="en-US" sz="2000" b="1" dirty="0">
                <a:latin typeface="MS Gothic" panose="020B0609070205080204" pitchFamily="49" charset="-128"/>
                <a:ea typeface="MS Gothic" panose="020B0609070205080204" pitchFamily="49" charset="-128"/>
              </a:rPr>
              <a:t>Diamond:</a:t>
            </a:r>
            <a:r>
              <a:rPr lang="en-US" sz="2000" dirty="0">
                <a:latin typeface="MS Gothic" panose="020B0609070205080204" pitchFamily="49" charset="-128"/>
                <a:ea typeface="MS Gothic" panose="020B0609070205080204" pitchFamily="49" charset="-128"/>
              </a:rPr>
              <a:t> Diamonds represent Relationships among Entities.</a:t>
            </a:r>
          </a:p>
          <a:p>
            <a:r>
              <a:rPr lang="en-US" sz="2000" b="1" dirty="0">
                <a:latin typeface="MS Gothic" panose="020B0609070205080204" pitchFamily="49" charset="-128"/>
                <a:ea typeface="MS Gothic" panose="020B0609070205080204" pitchFamily="49" charset="-128"/>
              </a:rPr>
              <a:t>Lines:</a:t>
            </a:r>
            <a:r>
              <a:rPr lang="en-US" sz="2000" dirty="0">
                <a:latin typeface="MS Gothic" panose="020B0609070205080204" pitchFamily="49" charset="-128"/>
                <a:ea typeface="MS Gothic" panose="020B0609070205080204" pitchFamily="49" charset="-128"/>
              </a:rPr>
              <a:t> Lines represent attributes to entities and entity sets with other relationship types.</a:t>
            </a:r>
          </a:p>
          <a:p>
            <a:r>
              <a:rPr lang="en-US" sz="2000" b="1" dirty="0">
                <a:latin typeface="MS Gothic" panose="020B0609070205080204" pitchFamily="49" charset="-128"/>
                <a:ea typeface="MS Gothic" panose="020B0609070205080204" pitchFamily="49" charset="-128"/>
              </a:rPr>
              <a:t>Double Ellipse:</a:t>
            </a:r>
            <a:r>
              <a:rPr lang="en-US" sz="2000" dirty="0">
                <a:latin typeface="MS Gothic" panose="020B0609070205080204" pitchFamily="49" charset="-128"/>
                <a:ea typeface="MS Gothic" panose="020B0609070205080204" pitchFamily="49" charset="-128"/>
              </a:rPr>
              <a:t> Double Ellipses represent Multi-Valued Attributes.</a:t>
            </a:r>
          </a:p>
          <a:p>
            <a:r>
              <a:rPr lang="en-US" sz="2000" b="1" dirty="0">
                <a:latin typeface="MS Gothic" panose="020B0609070205080204" pitchFamily="49" charset="-128"/>
                <a:ea typeface="MS Gothic" panose="020B0609070205080204" pitchFamily="49" charset="-128"/>
              </a:rPr>
              <a:t>Double Rectangle:</a:t>
            </a:r>
            <a:r>
              <a:rPr lang="en-US" sz="2000" dirty="0">
                <a:latin typeface="MS Gothic" panose="020B0609070205080204" pitchFamily="49" charset="-128"/>
                <a:ea typeface="MS Gothic" panose="020B0609070205080204" pitchFamily="49" charset="-128"/>
              </a:rPr>
              <a:t> Double Rectangle represents a Weak Entity.</a:t>
            </a:r>
          </a:p>
          <a:p>
            <a:endParaRPr lang="en-IN" sz="20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41421236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E-R Diagram</a:t>
            </a:r>
            <a:endParaRPr lang="en-IN" sz="28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296" y="673331"/>
            <a:ext cx="8595360" cy="5604924"/>
          </a:xfrm>
        </p:spPr>
      </p:pic>
    </p:spTree>
    <p:extLst>
      <p:ext uri="{BB962C8B-B14F-4D97-AF65-F5344CB8AC3E}">
        <p14:creationId xmlns:p14="http://schemas.microsoft.com/office/powerpoint/2010/main" val="9601968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E-R Diagram</a:t>
            </a:r>
            <a:endParaRPr lang="en-IN" sz="28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2312"/>
            <a:ext cx="12192000" cy="6863051"/>
          </a:xfrm>
        </p:spPr>
      </p:pic>
    </p:spTree>
    <p:extLst>
      <p:ext uri="{BB962C8B-B14F-4D97-AF65-F5344CB8AC3E}">
        <p14:creationId xmlns:p14="http://schemas.microsoft.com/office/powerpoint/2010/main" val="19095845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Class Diagram</a:t>
            </a:r>
            <a:endParaRPr lang="en-IN" sz="2800" dirty="0"/>
          </a:p>
        </p:txBody>
      </p:sp>
      <p:sp>
        <p:nvSpPr>
          <p:cNvPr id="2" name="Content Placeholder 1"/>
          <p:cNvSpPr>
            <a:spLocks noGrp="1"/>
          </p:cNvSpPr>
          <p:nvPr>
            <p:ph idx="1"/>
          </p:nvPr>
        </p:nvSpPr>
        <p:spPr>
          <a:xfrm>
            <a:off x="490728" y="1008569"/>
            <a:ext cx="10515600" cy="4592639"/>
          </a:xfrm>
        </p:spPr>
        <p:txBody>
          <a:bodyPr/>
          <a:lstStyle/>
          <a:p>
            <a:r>
              <a:rPr lang="en-US" sz="2000" dirty="0">
                <a:latin typeface="MS Gothic" panose="020B0609070205080204" pitchFamily="49" charset="-128"/>
                <a:ea typeface="MS Gothic" panose="020B0609070205080204" pitchFamily="49" charset="-128"/>
              </a:rPr>
              <a:t>Class diagrams are a type of UML (Unified Modeling Language) diagram used in software engineering to visually represent the structure and relationships of classes within a system i.e. used to construct and visualize object-oriented systems</a:t>
            </a:r>
            <a:r>
              <a:rPr lang="en-US" sz="2000" dirty="0" smtClean="0">
                <a:latin typeface="MS Gothic" panose="020B0609070205080204" pitchFamily="49" charset="-128"/>
                <a:ea typeface="MS Gothic" panose="020B0609070205080204" pitchFamily="49" charset="-128"/>
              </a:rPr>
              <a:t>.</a:t>
            </a:r>
          </a:p>
          <a:p>
            <a:endParaRPr lang="en-US" sz="2000" dirty="0">
              <a:latin typeface="MS Gothic" panose="020B0609070205080204" pitchFamily="49" charset="-128"/>
              <a:ea typeface="MS Gothic" panose="020B0609070205080204" pitchFamily="49" charset="-128"/>
            </a:endParaRPr>
          </a:p>
          <a:p>
            <a:r>
              <a:rPr lang="en-US" sz="2000" dirty="0">
                <a:latin typeface="MS Gothic" panose="020B0609070205080204" pitchFamily="49" charset="-128"/>
                <a:ea typeface="MS Gothic" panose="020B0609070205080204" pitchFamily="49" charset="-128"/>
              </a:rPr>
              <a:t>A </a:t>
            </a:r>
            <a:r>
              <a:rPr lang="en-US" sz="2000" dirty="0" smtClean="0">
                <a:latin typeface="MS Gothic" panose="020B0609070205080204" pitchFamily="49" charset="-128"/>
                <a:ea typeface="MS Gothic" panose="020B0609070205080204" pitchFamily="49" charset="-128"/>
              </a:rPr>
              <a:t>UML Class Diagram</a:t>
            </a:r>
            <a:r>
              <a:rPr lang="en-US" sz="2000" dirty="0">
                <a:latin typeface="MS Gothic" panose="020B0609070205080204" pitchFamily="49" charset="-128"/>
                <a:ea typeface="MS Gothic" panose="020B0609070205080204" pitchFamily="49" charset="-128"/>
              </a:rPr>
              <a:t> is a visual tool that represents the structure of a system by showing its classes, attributes, methods, and the relationships between them. It helps everyone involved in a project—like developers and designers—understand how the system is organized and how its components interact</a:t>
            </a:r>
            <a:r>
              <a:rPr lang="en-US" sz="2000" dirty="0" smtClean="0">
                <a:latin typeface="MS Gothic" panose="020B0609070205080204" pitchFamily="49" charset="-128"/>
                <a:ea typeface="MS Gothic" panose="020B0609070205080204" pitchFamily="49" charset="-128"/>
              </a:rPr>
              <a:t>.</a:t>
            </a:r>
          </a:p>
          <a:p>
            <a:endParaRPr lang="en-US" sz="2000" dirty="0">
              <a:latin typeface="MS Gothic" panose="020B0609070205080204" pitchFamily="49" charset="-128"/>
              <a:ea typeface="MS Gothic" panose="020B0609070205080204" pitchFamily="49" charset="-128"/>
            </a:endParaRPr>
          </a:p>
          <a:p>
            <a:r>
              <a:rPr lang="en-US" sz="2000" dirty="0">
                <a:latin typeface="MS Gothic" panose="020B0609070205080204" pitchFamily="49" charset="-128"/>
                <a:ea typeface="MS Gothic" panose="020B0609070205080204" pitchFamily="49" charset="-128"/>
              </a:rPr>
              <a:t>Class diagrams provide a high-level overview of a system’s design, helping to communicate and document the structure of the software. They are a fundamental tool in object-oriented design and play a crucial role in the software development lifecycle.</a:t>
            </a:r>
            <a:endParaRPr lang="en-IN" sz="105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5513905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Class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2378" y="625236"/>
            <a:ext cx="6949440" cy="5781467"/>
          </a:xfrm>
        </p:spPr>
      </p:pic>
    </p:spTree>
    <p:extLst>
      <p:ext uri="{BB962C8B-B14F-4D97-AF65-F5344CB8AC3E}">
        <p14:creationId xmlns:p14="http://schemas.microsoft.com/office/powerpoint/2010/main" val="14433896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Class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1" cy="6858000"/>
          </a:xfrm>
        </p:spPr>
      </p:pic>
    </p:spTree>
    <p:extLst>
      <p:ext uri="{BB962C8B-B14F-4D97-AF65-F5344CB8AC3E}">
        <p14:creationId xmlns:p14="http://schemas.microsoft.com/office/powerpoint/2010/main" val="2884547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Sequence Diagram</a:t>
            </a:r>
            <a:endParaRPr lang="en-IN" sz="2800" dirty="0"/>
          </a:p>
        </p:txBody>
      </p:sp>
      <p:sp>
        <p:nvSpPr>
          <p:cNvPr id="2" name="Content Placeholder 1"/>
          <p:cNvSpPr>
            <a:spLocks noGrp="1"/>
          </p:cNvSpPr>
          <p:nvPr>
            <p:ph idx="1"/>
          </p:nvPr>
        </p:nvSpPr>
        <p:spPr>
          <a:xfrm>
            <a:off x="518160" y="1100009"/>
            <a:ext cx="10515600" cy="4592639"/>
          </a:xfrm>
        </p:spPr>
        <p:txBody>
          <a:bodyPr/>
          <a:lstStyle/>
          <a:p>
            <a:r>
              <a:rPr lang="en-US" sz="2000" dirty="0">
                <a:latin typeface="MS Gothic" panose="020B0609070205080204" pitchFamily="49" charset="-128"/>
                <a:ea typeface="MS Gothic" panose="020B0609070205080204" pitchFamily="49" charset="-128"/>
              </a:rPr>
              <a:t>Sequence diagrams are a type of UML (Unified Modeling Language) diagram that visually represent the interactions between objects or components in a system over time.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They </a:t>
            </a:r>
            <a:r>
              <a:rPr lang="en-US" sz="2000" dirty="0">
                <a:latin typeface="MS Gothic" panose="020B0609070205080204" pitchFamily="49" charset="-128"/>
                <a:ea typeface="MS Gothic" panose="020B0609070205080204" pitchFamily="49" charset="-128"/>
              </a:rPr>
              <a:t>focus on the order and timing of messages or events exchanged between different system </a:t>
            </a:r>
            <a:r>
              <a:rPr lang="en-US" sz="2000" dirty="0" smtClean="0">
                <a:latin typeface="MS Gothic" panose="020B0609070205080204" pitchFamily="49" charset="-128"/>
                <a:ea typeface="MS Gothic" panose="020B0609070205080204" pitchFamily="49" charset="-128"/>
              </a:rPr>
              <a:t>elements</a:t>
            </a:r>
            <a:r>
              <a:rPr lang="en-US" sz="2000" dirty="0">
                <a:latin typeface="MS Gothic" panose="020B0609070205080204" pitchFamily="49" charset="-128"/>
                <a:ea typeface="MS Gothic" panose="020B0609070205080204" pitchFamily="49" charset="-128"/>
              </a:rPr>
              <a:t>. A Sequence Diagram is a key component of Unified Modeling Language (UML) used to visualize the interaction between objects in a sequential order. It focuses on how objects communicate with each other over time, making it an essential tool for modeling dynamic behavior in a system.</a:t>
            </a:r>
            <a:endParaRPr lang="en-US" sz="2000" dirty="0" smtClean="0">
              <a:latin typeface="MS Gothic" panose="020B0609070205080204" pitchFamily="49" charset="-128"/>
              <a:ea typeface="MS Gothic" panose="020B0609070205080204" pitchFamily="49" charset="-128"/>
            </a:endParaRP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 </a:t>
            </a:r>
            <a:r>
              <a:rPr lang="en-US" sz="2000" dirty="0">
                <a:latin typeface="MS Gothic" panose="020B0609070205080204" pitchFamily="49" charset="-128"/>
                <a:ea typeface="MS Gothic" panose="020B0609070205080204" pitchFamily="49" charset="-128"/>
              </a:rPr>
              <a:t>diagram captures how objects communicate with each other through a series of messages, providing a clear view of the sequence of operations or processes.</a:t>
            </a:r>
            <a:endParaRPr lang="en-IN" sz="14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1937598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Sequence Diagram</a:t>
            </a:r>
            <a:endParaRPr lang="en-IN"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2211" y="694069"/>
            <a:ext cx="5619404" cy="5714952"/>
          </a:xfrm>
        </p:spPr>
      </p:pic>
    </p:spTree>
    <p:extLst>
      <p:ext uri="{BB962C8B-B14F-4D97-AF65-F5344CB8AC3E}">
        <p14:creationId xmlns:p14="http://schemas.microsoft.com/office/powerpoint/2010/main" val="41151264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Sequence Diagram</a:t>
            </a:r>
            <a:endParaRPr lang="en-IN"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310"/>
            <a:ext cx="12192000" cy="6867310"/>
          </a:xfrm>
        </p:spPr>
      </p:pic>
    </p:spTree>
    <p:extLst>
      <p:ext uri="{BB962C8B-B14F-4D97-AF65-F5344CB8AC3E}">
        <p14:creationId xmlns:p14="http://schemas.microsoft.com/office/powerpoint/2010/main" val="16304573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1295</Words>
  <Application>Microsoft Office PowerPoint</Application>
  <PresentationFormat>Widescreen</PresentationFormat>
  <Paragraphs>107</Paragraphs>
  <Slides>26</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26</vt:i4>
      </vt:variant>
    </vt:vector>
  </HeadingPairs>
  <TitlesOfParts>
    <vt:vector size="39" baseType="lpstr">
      <vt:lpstr>MS Gothic</vt:lpstr>
      <vt:lpstr>Arial</vt:lpstr>
      <vt:lpstr>Avenir LT Pro 65 Medium</vt:lpstr>
      <vt:lpstr>Bahnschrift</vt:lpstr>
      <vt:lpstr>Bahnschrift Light SemiCondensed</vt:lpstr>
      <vt:lpstr>Calibri</vt:lpstr>
      <vt:lpstr>Calibri Light</vt:lpstr>
      <vt:lpstr>Courier New</vt:lpstr>
      <vt:lpstr>Poopins </vt:lpstr>
      <vt:lpstr>Poppins Medium</vt:lpstr>
      <vt:lpstr>Times New Roman</vt:lpstr>
      <vt:lpstr>Wingdings</vt:lpstr>
      <vt:lpstr>Office 主题</vt:lpstr>
      <vt:lpstr>PowerPoint Presentation</vt:lpstr>
      <vt:lpstr>PowerPoint Presentation</vt:lpstr>
      <vt:lpstr>Smart Vitality Tracker with AI: Overview</vt:lpstr>
      <vt:lpstr>Smart Vitality Tracker with AI: Overview</vt:lpstr>
      <vt:lpstr>Smart Vitality Tracker with AI: Overview</vt:lpstr>
      <vt:lpstr>Smart Vitality Tracker with AI: Use Case Diagram</vt:lpstr>
      <vt:lpstr>Smart Vitality Tracker with AI: Use Case Diagram</vt:lpstr>
      <vt:lpstr>Smart Vitality Tracker with AI: Use Case Diagram</vt:lpstr>
      <vt:lpstr>Smart Vitality Tracker with AI: Activity Diagram</vt:lpstr>
      <vt:lpstr>Smart Vitality Tracker with AI: Activity Diagram</vt:lpstr>
      <vt:lpstr>Smart Vitality Tracker with AI: Activity Diagram</vt:lpstr>
      <vt:lpstr>Smart Vitality Tracker with AI: Data Flow Diagram</vt:lpstr>
      <vt:lpstr>Smart Vitality Tracker with AI: Data Flow Diagram</vt:lpstr>
      <vt:lpstr>Smart Vitality Tracker with AI: Data Flow Diagram</vt:lpstr>
      <vt:lpstr>Smart Vitality Tracker with AI: State Chart</vt:lpstr>
      <vt:lpstr>Smart Vitality Tracker with AI: State Chart</vt:lpstr>
      <vt:lpstr>Smart Vitality Tracker with AI: State Chart</vt:lpstr>
      <vt:lpstr>Smart Vitality Tracker with AI: E-R Diagram</vt:lpstr>
      <vt:lpstr>Smart Vitality Tracker with AI: E-R Diagram</vt:lpstr>
      <vt:lpstr>Smart Vitality Tracker with AI: E-R Diagram</vt:lpstr>
      <vt:lpstr>Smart Vitality Tracker with AI: Class Diagram</vt:lpstr>
      <vt:lpstr>Smart Vitality Tracker with AI: Class Diagram</vt:lpstr>
      <vt:lpstr>Smart Vitality Tracker with AI: Class Diagram</vt:lpstr>
      <vt:lpstr>Smart Vitality Tracker with AI: Sequence Diagram</vt:lpstr>
      <vt:lpstr>Smart Vitality Tracker with AI: Sequence Diagram</vt:lpstr>
      <vt:lpstr>Smart Vitality Tracker with AI: Sequence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medicaps109</dc:creator>
  <cp:lastModifiedBy>HP</cp:lastModifiedBy>
  <cp:revision>97</cp:revision>
  <dcterms:created xsi:type="dcterms:W3CDTF">2023-08-19T04:35:46Z</dcterms:created>
  <dcterms:modified xsi:type="dcterms:W3CDTF">2025-02-16T17:34:25Z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87aa5034359d4eb0ba81925f0d96e669</vt:lpwstr>
  </property>
</Properties>
</file>