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9" r:id="rId6"/>
    <p:sldId id="271" r:id="rId7"/>
    <p:sldId id="273" r:id="rId8"/>
    <p:sldId id="272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4C"/>
    <a:srgbClr val="3F3F3F"/>
    <a:srgbClr val="014067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 autoAdjust="0"/>
  </p:normalViewPr>
  <p:slideViewPr>
    <p:cSldViewPr snapToGrid="0" showGuides="1">
      <p:cViewPr varScale="1">
        <p:scale>
          <a:sx n="87" d="100"/>
          <a:sy n="87" d="100"/>
        </p:scale>
        <p:origin x="528" y="58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1/28/2025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408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716" r:id="rId19"/>
    <p:sldLayoutId id="214748367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98" y="1598141"/>
            <a:ext cx="4428523" cy="3674075"/>
          </a:xfrm>
        </p:spPr>
      </p:pic>
      <p:grpSp>
        <p:nvGrpSpPr>
          <p:cNvPr id="19" name="Group 18" descr="Company name and logo group of information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939374" y="2855631"/>
            <a:ext cx="483785" cy="1125606"/>
            <a:chOff x="2939374" y="2902286"/>
            <a:chExt cx="483785" cy="112560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39374" y="3720115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Mini-Project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214" y="3640998"/>
            <a:ext cx="4465781" cy="510872"/>
          </a:xfrm>
        </p:spPr>
        <p:txBody>
          <a:bodyPr/>
          <a:lstStyle/>
          <a:p>
            <a:r>
              <a:rPr lang="en-US" dirty="0" smtClean="0"/>
              <a:t>CS3PC04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75721" y="5033319"/>
            <a:ext cx="5816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monospaced for SAP" panose="020B0609020202030204" pitchFamily="49" charset="0"/>
              </a:rPr>
              <a:t>By:</a:t>
            </a:r>
          </a:p>
          <a:p>
            <a:r>
              <a:rPr lang="en-US" dirty="0" smtClean="0">
                <a:latin typeface="Arial monospaced for SAP" panose="020B0609020202030204" pitchFamily="49" charset="0"/>
              </a:rPr>
              <a:t>Aditya Raj Singh </a:t>
            </a:r>
            <a:r>
              <a:rPr lang="en-US" dirty="0" err="1" smtClean="0">
                <a:latin typeface="Arial monospaced for SAP" panose="020B0609020202030204" pitchFamily="49" charset="0"/>
              </a:rPr>
              <a:t>Tomar</a:t>
            </a:r>
            <a:r>
              <a:rPr lang="en-US" dirty="0" smtClean="0">
                <a:latin typeface="Arial monospaced for SAP" panose="020B0609020202030204" pitchFamily="49" charset="0"/>
              </a:rPr>
              <a:t>       EN22CS301062</a:t>
            </a:r>
          </a:p>
          <a:p>
            <a:r>
              <a:rPr lang="en-US" dirty="0" err="1" smtClean="0">
                <a:latin typeface="Arial monospaced for SAP" panose="020B0609020202030204" pitchFamily="49" charset="0"/>
              </a:rPr>
              <a:t>Akash</a:t>
            </a:r>
            <a:r>
              <a:rPr lang="en-US" dirty="0" smtClean="0">
                <a:latin typeface="Arial monospaced for SAP" panose="020B0609020202030204" pitchFamily="49" charset="0"/>
              </a:rPr>
              <a:t> Ghosh                  EN22CS301082</a:t>
            </a:r>
          </a:p>
          <a:p>
            <a:r>
              <a:rPr lang="en-US" dirty="0" err="1" smtClean="0">
                <a:latin typeface="Arial monospaced for SAP" panose="020B0609020202030204" pitchFamily="49" charset="0"/>
              </a:rPr>
              <a:t>Akash</a:t>
            </a:r>
            <a:r>
              <a:rPr lang="en-US" dirty="0" smtClean="0">
                <a:latin typeface="Arial monospaced for SAP" panose="020B0609020202030204" pitchFamily="49" charset="0"/>
              </a:rPr>
              <a:t> Ravi </a:t>
            </a:r>
            <a:r>
              <a:rPr lang="en-US" dirty="0" err="1" smtClean="0">
                <a:latin typeface="Arial monospaced for SAP" panose="020B0609020202030204" pitchFamily="49" charset="0"/>
              </a:rPr>
              <a:t>Jaisinghani</a:t>
            </a:r>
            <a:r>
              <a:rPr lang="en-US" dirty="0" smtClean="0">
                <a:latin typeface="Arial monospaced for SAP" panose="020B0609020202030204" pitchFamily="49" charset="0"/>
              </a:rPr>
              <a:t>       EN22CS301084</a:t>
            </a:r>
            <a:endParaRPr lang="en-US" dirty="0">
              <a:latin typeface="Arial monospaced for SAP" panose="020B0609020202030204" pitchFamily="49" charset="0"/>
            </a:endParaRPr>
          </a:p>
          <a:p>
            <a:r>
              <a:rPr lang="en-US" dirty="0" smtClean="0"/>
              <a:t>Of Batch B1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26247" y="5594540"/>
            <a:ext cx="2965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monospaced for SAP" panose="020B0609020202030204" pitchFamily="49" charset="0"/>
              </a:rPr>
              <a:t>To:</a:t>
            </a:r>
          </a:p>
          <a:p>
            <a:r>
              <a:rPr lang="en-US" dirty="0" smtClean="0">
                <a:latin typeface="Arial monospaced for SAP" panose="020B0609020202030204" pitchFamily="49" charset="0"/>
              </a:rPr>
              <a:t>Prof. </a:t>
            </a:r>
            <a:r>
              <a:rPr lang="en-US" dirty="0" err="1" smtClean="0">
                <a:latin typeface="Arial monospaced for SAP" panose="020B0609020202030204" pitchFamily="49" charset="0"/>
              </a:rPr>
              <a:t>Jyotsana</a:t>
            </a:r>
            <a:r>
              <a:rPr lang="en-US" dirty="0" smtClean="0">
                <a:latin typeface="Arial monospaced for SAP" panose="020B0609020202030204" pitchFamily="49" charset="0"/>
              </a:rPr>
              <a:t> </a:t>
            </a:r>
            <a:r>
              <a:rPr lang="en-US" dirty="0" err="1" smtClean="0">
                <a:latin typeface="Arial monospaced for SAP" panose="020B0609020202030204" pitchFamily="49" charset="0"/>
              </a:rPr>
              <a:t>Goyal</a:t>
            </a:r>
            <a:endParaRPr lang="en-US" dirty="0">
              <a:latin typeface="Arial monospaced for SAP" panose="020B06090202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Domain: Machine Learning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128938"/>
            <a:ext cx="10065859" cy="51276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is a sub-topic of Artificial Intelligence where the development and study of statistical algorithms arise that can learn from </a:t>
            </a:r>
            <a:r>
              <a:rPr lang="en-US" sz="1800" b="1" dirty="0" smtClean="0"/>
              <a:t>data </a:t>
            </a:r>
            <a:r>
              <a:rPr lang="en-US" sz="1800" dirty="0" smtClean="0"/>
              <a:t>and </a:t>
            </a:r>
            <a:r>
              <a:rPr lang="en-US" sz="1800" b="1" dirty="0" smtClean="0"/>
              <a:t>experience.</a:t>
            </a:r>
          </a:p>
          <a:p>
            <a:endParaRPr lang="en-US" sz="18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As per </a:t>
            </a:r>
            <a:r>
              <a:rPr lang="en-US" sz="1800" b="1" dirty="0" smtClean="0"/>
              <a:t>Arthur Samuel’s </a:t>
            </a:r>
            <a:r>
              <a:rPr lang="en-US" sz="1800" dirty="0" smtClean="0"/>
              <a:t>definition of ML: Without being explicitly programmed, ML enables a machine to automatically learn from data, improve performance from </a:t>
            </a:r>
            <a:r>
              <a:rPr lang="en-US" sz="1800" b="1" dirty="0" smtClean="0"/>
              <a:t>experience </a:t>
            </a:r>
            <a:r>
              <a:rPr lang="en-US" sz="1800" dirty="0" smtClean="0"/>
              <a:t>&amp; can </a:t>
            </a:r>
            <a:r>
              <a:rPr lang="en-US" sz="1800" b="1" dirty="0" smtClean="0"/>
              <a:t>predict </a:t>
            </a:r>
            <a:r>
              <a:rPr lang="en-US" sz="1800" dirty="0" smtClean="0"/>
              <a:t>things.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Instead of being </a:t>
            </a:r>
            <a:r>
              <a:rPr lang="en-US" sz="1800" b="1" dirty="0" smtClean="0"/>
              <a:t>explicitly programmed </a:t>
            </a:r>
            <a:r>
              <a:rPr lang="en-US" sz="1800" dirty="0" smtClean="0"/>
              <a:t>to perform specific tasks, ML algorithms </a:t>
            </a:r>
            <a:r>
              <a:rPr lang="en-US" sz="1800" b="1" dirty="0" smtClean="0"/>
              <a:t>analyze data, identify patterns, and improve their performance over time.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Key features include: Learning from </a:t>
            </a:r>
            <a:r>
              <a:rPr lang="en-US" sz="1800" b="1" dirty="0" smtClean="0"/>
              <a:t>data and experience </a:t>
            </a:r>
            <a:r>
              <a:rPr lang="en-US" sz="1800" dirty="0" smtClean="0"/>
              <a:t>using dataset to </a:t>
            </a:r>
            <a:r>
              <a:rPr lang="en-US" sz="1800" b="1" dirty="0" smtClean="0"/>
              <a:t>train and develop </a:t>
            </a:r>
            <a:r>
              <a:rPr lang="en-US" sz="1800" dirty="0" smtClean="0"/>
              <a:t>models, To perform well on </a:t>
            </a:r>
            <a:r>
              <a:rPr lang="en-US" sz="1800" b="1" dirty="0" smtClean="0"/>
              <a:t>unseen data</a:t>
            </a:r>
            <a:r>
              <a:rPr lang="en-US" sz="1800" dirty="0" smtClean="0"/>
              <a:t>(not just the training dataset), &amp; </a:t>
            </a:r>
            <a:r>
              <a:rPr lang="en-US" sz="1800" b="1" dirty="0" smtClean="0"/>
              <a:t>improvements</a:t>
            </a:r>
            <a:r>
              <a:rPr lang="en-US" sz="1800" dirty="0" smtClean="0"/>
              <a:t> through more data and better algorithms.</a:t>
            </a:r>
            <a:endParaRPr lang="en-US" sz="1800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Domain: Machine Learning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128938"/>
            <a:ext cx="10065859" cy="5321289"/>
          </a:xfrm>
        </p:spPr>
        <p:txBody>
          <a:bodyPr/>
          <a:lstStyle/>
          <a:p>
            <a:r>
              <a:rPr lang="en-US" sz="1800" b="1" dirty="0" smtClean="0"/>
              <a:t>Why Machine Learning?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can </a:t>
            </a:r>
            <a:r>
              <a:rPr lang="en-US" sz="1800" b="1" dirty="0" smtClean="0"/>
              <a:t>automate</a:t>
            </a:r>
            <a:r>
              <a:rPr lang="en-US" sz="1800" dirty="0" smtClean="0"/>
              <a:t> decision-making processes that are too complex to code explicitly.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algorithms can </a:t>
            </a:r>
            <a:r>
              <a:rPr lang="en-US" sz="1800" b="1" dirty="0" smtClean="0"/>
              <a:t>process and analyze </a:t>
            </a:r>
            <a:r>
              <a:rPr lang="en-US" sz="1800" dirty="0" smtClean="0"/>
              <a:t>massive datasets that are </a:t>
            </a:r>
            <a:r>
              <a:rPr lang="en-US" sz="1800" b="1" dirty="0" smtClean="0"/>
              <a:t>infeasible to handle manually.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</a:t>
            </a:r>
            <a:r>
              <a:rPr lang="en-US" sz="1800" b="1" dirty="0" smtClean="0"/>
              <a:t>models can learn and adapt </a:t>
            </a:r>
            <a:r>
              <a:rPr lang="en-US" sz="1800" dirty="0" smtClean="0"/>
              <a:t>to new data without requiring significant </a:t>
            </a:r>
            <a:r>
              <a:rPr lang="en-US" sz="1800" b="1" dirty="0" smtClean="0"/>
              <a:t>reprogramming.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reduces human effort by </a:t>
            </a:r>
            <a:r>
              <a:rPr lang="en-US" sz="1800" b="1" dirty="0" smtClean="0"/>
              <a:t>automating repetitive tasks </a:t>
            </a:r>
            <a:r>
              <a:rPr lang="en-US" sz="1800" dirty="0" smtClean="0"/>
              <a:t>and scaling efficiently with increased data.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algorithms can </a:t>
            </a:r>
            <a:r>
              <a:rPr lang="en-US" sz="1800" b="1" dirty="0" smtClean="0"/>
              <a:t>uncover insights and patterns </a:t>
            </a:r>
            <a:r>
              <a:rPr lang="en-US" sz="1800" dirty="0" smtClean="0"/>
              <a:t>in data, and is used in a wide range of fields, from healthcare and finance to gaming and autonomous systems.</a:t>
            </a:r>
            <a:endParaRPr lang="en-US" sz="1800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6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Domain: Machine Learning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128938"/>
            <a:ext cx="10065859" cy="5321289"/>
          </a:xfrm>
        </p:spPr>
        <p:txBody>
          <a:bodyPr/>
          <a:lstStyle/>
          <a:p>
            <a:r>
              <a:rPr lang="en-US" sz="1800" b="1" dirty="0" smtClean="0"/>
              <a:t>Applications: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Healthcare: </a:t>
            </a:r>
            <a:r>
              <a:rPr lang="en-US" sz="1800" dirty="0" smtClean="0"/>
              <a:t>Disease prediction and diagnosis, Medical imaging, drug discovery, personalized treatment.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Finance: </a:t>
            </a:r>
            <a:r>
              <a:rPr lang="en-US" sz="1800" dirty="0" smtClean="0"/>
              <a:t>Fraud detection, credit scoring, algorithmic trading, risk management.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Retail and E-commerce: </a:t>
            </a:r>
            <a:r>
              <a:rPr lang="en-US" sz="1800" dirty="0" smtClean="0"/>
              <a:t>Personalized recommendations, dynamic pricing, inventory management, customer sentiment analysis.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Transportation and Logistics: </a:t>
            </a:r>
            <a:r>
              <a:rPr lang="en-US" sz="1800" dirty="0" smtClean="0"/>
              <a:t>Autonomous Vehicles, Route Optimization, Predictive maintenance, Traffic management.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Education: </a:t>
            </a:r>
            <a:r>
              <a:rPr lang="en-US" sz="1800" dirty="0" smtClean="0"/>
              <a:t>Adaptive Learning systems, Automated Grading, Student retention, Content recommendation.</a:t>
            </a:r>
            <a:endParaRPr lang="en-US" sz="1800" b="1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 smtClean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754580"/>
            <a:ext cx="10065859" cy="53212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is an exceptionally great way of handling </a:t>
            </a:r>
            <a:r>
              <a:rPr lang="en-US" sz="1800" b="1" dirty="0" smtClean="0"/>
              <a:t>time-series datasets, </a:t>
            </a:r>
            <a:r>
              <a:rPr lang="en-US" sz="1800" dirty="0" smtClean="0"/>
              <a:t>thanks to which it is implemented in fields like Healthcare.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And so we can use ML as a </a:t>
            </a:r>
            <a:r>
              <a:rPr lang="en-US" sz="1800" b="1" dirty="0" smtClean="0"/>
              <a:t>Healthcare Assistant.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Creating a personal health assistant through machine learning (ML) involves the application of various </a:t>
            </a:r>
            <a:r>
              <a:rPr lang="en-US" sz="1800" dirty="0" smtClean="0"/>
              <a:t>techniques </a:t>
            </a:r>
            <a:r>
              <a:rPr lang="en-US" sz="1800" dirty="0"/>
              <a:t>to analyze and predict an individual’s health status and help manage health-related tasks</a:t>
            </a:r>
            <a:r>
              <a:rPr lang="en-US" sz="1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And since it’s done through Machine Learning, we can use publicly available </a:t>
            </a:r>
            <a:r>
              <a:rPr lang="en-US" sz="1800" b="1" dirty="0" smtClean="0"/>
              <a:t>APIs to train the model </a:t>
            </a:r>
            <a:r>
              <a:rPr lang="en-US" sz="1800" dirty="0" smtClean="0"/>
              <a:t>for it, which will keep track of patient’s health and recommend treatment according to the </a:t>
            </a:r>
            <a:r>
              <a:rPr lang="en-US" sz="1800" b="1" dirty="0" smtClean="0"/>
              <a:t>live dataset </a:t>
            </a:r>
            <a:r>
              <a:rPr lang="en-US" sz="1800" dirty="0" smtClean="0"/>
              <a:t>provided.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856735"/>
            <a:ext cx="10065859" cy="5672402"/>
          </a:xfrm>
        </p:spPr>
        <p:txBody>
          <a:bodyPr/>
          <a:lstStyle/>
          <a:p>
            <a:r>
              <a:rPr lang="en-US" sz="1800" b="1" dirty="0" smtClean="0"/>
              <a:t>Why Choose this topic?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Relevance and Growth of the Health Tech Industry: </a:t>
            </a:r>
            <a:r>
              <a:rPr lang="en-US" sz="1800" dirty="0" smtClean="0"/>
              <a:t>The </a:t>
            </a:r>
            <a:r>
              <a:rPr lang="en-US" sz="1800" dirty="0"/>
              <a:t>global health tech market is booming, with an increasing demand for personalized health solutions</a:t>
            </a:r>
            <a:r>
              <a:rPr lang="en-US" sz="1800" dirty="0" smtClean="0"/>
              <a:t>. </a:t>
            </a:r>
            <a:r>
              <a:rPr lang="en-US" sz="1800" dirty="0"/>
              <a:t>Wearables and health apps are becoming a standard part of modern </a:t>
            </a:r>
            <a:r>
              <a:rPr lang="en-US" sz="1800" dirty="0" smtClean="0"/>
              <a:t>lifestyles.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 Personal Relevance</a:t>
            </a:r>
            <a:r>
              <a:rPr lang="en-US" sz="1800" b="1" dirty="0" smtClean="0"/>
              <a:t>: </a:t>
            </a:r>
            <a:r>
              <a:rPr lang="en-US" sz="1800" dirty="0"/>
              <a:t>Health and well-being are universal concerns.        Many people struggle with tracking or maintaining their health goals.        “We wanted to create a tool that empowers users to take control of their health</a:t>
            </a:r>
            <a:r>
              <a:rPr lang="en-US" sz="1800" dirty="0" smtClean="0"/>
              <a:t>.”</a:t>
            </a:r>
          </a:p>
          <a:p>
            <a:endParaRPr lang="en-US" sz="18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 Intersection of Machine Learning and Real-Life Impact</a:t>
            </a:r>
            <a:r>
              <a:rPr lang="en-US" sz="1800" b="1" dirty="0" smtClean="0"/>
              <a:t>: </a:t>
            </a:r>
            <a:r>
              <a:rPr lang="en-US" sz="1800" dirty="0"/>
              <a:t>The project applies cutting-edge ML techniques (time-series forecasting, recommendation systems) to solve real-world problems.        Demonstrates the power of data science in driving positive change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 </a:t>
            </a:r>
            <a:r>
              <a:rPr lang="en-US" sz="1800" b="1" dirty="0"/>
              <a:t>Future Potential</a:t>
            </a:r>
            <a:r>
              <a:rPr lang="en-US" sz="1800" b="1" dirty="0" smtClean="0"/>
              <a:t>: </a:t>
            </a:r>
            <a:r>
              <a:rPr lang="en-US" sz="1800" dirty="0"/>
              <a:t>The system can be expanded to integrate mental health, gamification, and real-time alerts</a:t>
            </a:r>
            <a:r>
              <a:rPr lang="en-US" sz="1800" dirty="0" smtClean="0"/>
              <a:t>. </a:t>
            </a:r>
            <a:r>
              <a:rPr lang="en-US" sz="1800" dirty="0"/>
              <a:t>Scalable to industries like insurance, fitness, and nutrition.</a:t>
            </a: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856735"/>
            <a:ext cx="10065859" cy="5672402"/>
          </a:xfrm>
        </p:spPr>
        <p:txBody>
          <a:bodyPr/>
          <a:lstStyle/>
          <a:p>
            <a:r>
              <a:rPr lang="en-US" sz="1800" b="1" dirty="0" smtClean="0"/>
              <a:t>Technology to be used in the project: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APIs</a:t>
            </a:r>
            <a:r>
              <a:rPr lang="en-US" sz="1800" b="1" dirty="0"/>
              <a:t>: Google Fit API, Fitbit </a:t>
            </a:r>
            <a:r>
              <a:rPr lang="en-US" sz="1800" b="1" dirty="0" smtClean="0"/>
              <a:t>API.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Database: </a:t>
            </a:r>
            <a:r>
              <a:rPr lang="en-US" sz="1800" dirty="0" smtClean="0"/>
              <a:t>MySQL.</a:t>
            </a:r>
          </a:p>
          <a:p>
            <a:r>
              <a:rPr lang="en-US" sz="1800" b="1" dirty="0" smtClean="0"/>
              <a:t>Why?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 APIs allow integration with existing health platforms to collect real-time data.    </a:t>
            </a:r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Relational </a:t>
            </a:r>
            <a:r>
              <a:rPr lang="en-US" sz="1800" dirty="0"/>
              <a:t>Databases ensure organized storage and efficient queries for structured data</a:t>
            </a:r>
            <a:r>
              <a:rPr lang="en-US" sz="1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Data </a:t>
            </a:r>
            <a:r>
              <a:rPr lang="en-US" sz="1800" dirty="0"/>
              <a:t>Processing and </a:t>
            </a:r>
            <a:r>
              <a:rPr lang="en-US" sz="1800" dirty="0" smtClean="0"/>
              <a:t>Analysis Technologies: </a:t>
            </a:r>
            <a:r>
              <a:rPr lang="en-US" sz="1800" dirty="0"/>
              <a:t>Pandas, </a:t>
            </a:r>
            <a:r>
              <a:rPr lang="en-US" sz="1800" dirty="0" err="1" smtClean="0"/>
              <a:t>NumPy</a:t>
            </a:r>
            <a:r>
              <a:rPr lang="en-US" sz="1800" dirty="0" smtClean="0"/>
              <a:t>, </a:t>
            </a:r>
            <a:r>
              <a:rPr lang="en-US" sz="1800" dirty="0" err="1" smtClean="0"/>
              <a:t>SciPy</a:t>
            </a:r>
            <a:r>
              <a:rPr lang="en-US" sz="1800" dirty="0" smtClean="0"/>
              <a:t> </a:t>
            </a:r>
            <a:r>
              <a:rPr lang="en-US" sz="1800" dirty="0"/>
              <a:t>Python </a:t>
            </a:r>
            <a:r>
              <a:rPr lang="en-US" sz="1800" dirty="0" smtClean="0"/>
              <a:t>Libraries.</a:t>
            </a:r>
          </a:p>
          <a:p>
            <a:r>
              <a:rPr lang="en-US" sz="1800" b="1" dirty="0" smtClean="0"/>
              <a:t>Why?</a:t>
            </a:r>
          </a:p>
          <a:p>
            <a:r>
              <a:rPr lang="en-US" sz="1800" dirty="0" smtClean="0"/>
              <a:t>Pandas </a:t>
            </a:r>
            <a:r>
              <a:rPr lang="en-US" sz="1800" dirty="0"/>
              <a:t>and </a:t>
            </a:r>
            <a:r>
              <a:rPr lang="en-US" sz="1800" dirty="0" err="1"/>
              <a:t>NumPy</a:t>
            </a:r>
            <a:r>
              <a:rPr lang="en-US" sz="1800" dirty="0"/>
              <a:t> simplify data cleaning, transformation, and analysis</a:t>
            </a:r>
            <a:r>
              <a:rPr lang="en-US" sz="1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</a:t>
            </a:r>
            <a:r>
              <a:rPr lang="en-US" sz="1800" dirty="0"/>
              <a:t>Learning </a:t>
            </a:r>
            <a:r>
              <a:rPr lang="en-US" sz="1800" dirty="0" smtClean="0"/>
              <a:t>Models Frameworks: </a:t>
            </a:r>
            <a:r>
              <a:rPr lang="en-US" sz="1800" dirty="0" err="1" smtClean="0"/>
              <a:t>TensorFlow</a:t>
            </a:r>
            <a:r>
              <a:rPr lang="en-US" sz="1800" dirty="0" smtClean="0"/>
              <a:t>(deep </a:t>
            </a:r>
            <a:r>
              <a:rPr lang="en-US" sz="1800" dirty="0"/>
              <a:t>learning for time-series and recommendations</a:t>
            </a:r>
            <a:r>
              <a:rPr lang="en-US" sz="1800" dirty="0" smtClean="0"/>
              <a:t>). </a:t>
            </a:r>
            <a:r>
              <a:rPr lang="en-US" sz="1800" dirty="0" err="1"/>
              <a:t>Scikit</a:t>
            </a:r>
            <a:r>
              <a:rPr lang="en-US" sz="1800" dirty="0"/>
              <a:t>-learn (traditional machine learning algorithms).</a:t>
            </a: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8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856735"/>
            <a:ext cx="10065859" cy="5672402"/>
          </a:xfrm>
        </p:spPr>
        <p:txBody>
          <a:bodyPr/>
          <a:lstStyle/>
          <a:p>
            <a:r>
              <a:rPr lang="en-US" sz="1800" b="1" dirty="0" smtClean="0"/>
              <a:t>Why?</a:t>
            </a:r>
          </a:p>
          <a:p>
            <a:r>
              <a:rPr lang="en-US" sz="1800" dirty="0" err="1" smtClean="0"/>
              <a:t>TensorFlow</a:t>
            </a:r>
            <a:r>
              <a:rPr lang="en-US" sz="1800" dirty="0" smtClean="0"/>
              <a:t> </a:t>
            </a:r>
            <a:r>
              <a:rPr lang="en-US" sz="1800" dirty="0"/>
              <a:t>are industry-standard frameworks with flexibility and scalability for deep learning models</a:t>
            </a:r>
            <a:r>
              <a:rPr lang="en-US" sz="1800" dirty="0" smtClean="0"/>
              <a:t>.</a:t>
            </a:r>
          </a:p>
          <a:p>
            <a:r>
              <a:rPr lang="en-US" sz="1800" dirty="0" err="1"/>
              <a:t>Scikit</a:t>
            </a:r>
            <a:r>
              <a:rPr lang="en-US" sz="1800" dirty="0"/>
              <a:t>-learn offers a simple interface for implementing traditional ML algorithms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Visualization and </a:t>
            </a:r>
            <a:r>
              <a:rPr lang="en-US" sz="1800" dirty="0" smtClean="0"/>
              <a:t>Reporting Libraries: </a:t>
            </a:r>
            <a:r>
              <a:rPr lang="en-US" sz="1800" dirty="0" err="1" smtClean="0"/>
              <a:t>Matplotlib</a:t>
            </a:r>
            <a:r>
              <a:rPr lang="en-US" sz="1800" dirty="0"/>
              <a:t>, </a:t>
            </a:r>
            <a:r>
              <a:rPr lang="en-US" sz="1800" dirty="0" err="1" smtClean="0"/>
              <a:t>Seaborn</a:t>
            </a:r>
            <a:r>
              <a:rPr lang="en-US" sz="1800" dirty="0" smtClean="0"/>
              <a:t>(interactive </a:t>
            </a:r>
            <a:r>
              <a:rPr lang="en-US" sz="1800" dirty="0"/>
              <a:t>dashboards</a:t>
            </a:r>
            <a:r>
              <a:rPr lang="en-US" sz="1800" dirty="0" smtClean="0"/>
              <a:t>).</a:t>
            </a:r>
          </a:p>
          <a:p>
            <a:r>
              <a:rPr lang="en-US" sz="1800" b="1" dirty="0"/>
              <a:t>Why</a:t>
            </a:r>
            <a:r>
              <a:rPr lang="en-US" sz="1800" b="1" dirty="0" smtClean="0"/>
              <a:t>?</a:t>
            </a:r>
          </a:p>
          <a:p>
            <a:r>
              <a:rPr lang="en-US" sz="1800" dirty="0" err="1" smtClean="0"/>
              <a:t>Matplotlib</a:t>
            </a:r>
            <a:r>
              <a:rPr lang="en-US" sz="1800" dirty="0" smtClean="0"/>
              <a:t> </a:t>
            </a:r>
            <a:r>
              <a:rPr lang="en-US" sz="1800" dirty="0"/>
              <a:t>and </a:t>
            </a:r>
            <a:r>
              <a:rPr lang="en-US" sz="1800" dirty="0" err="1"/>
              <a:t>Seaborn</a:t>
            </a:r>
            <a:r>
              <a:rPr lang="en-US" sz="1800" dirty="0"/>
              <a:t> are great for creating basic graphs and reports.</a:t>
            </a: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55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3589D-EF2D-4AF3-8B55-088F4B14D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0343A-75DB-4E03-95EA-4A75BA0D7FF2}">
  <ds:schemaRefs>
    <ds:schemaRef ds:uri="71af3243-3dd4-4a8d-8c0d-dd76da1f02a5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B759597-1FA4-4F46-9BA8-01240C5602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0</TotalTime>
  <Words>767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 Black</vt:lpstr>
      <vt:lpstr>Arial monospaced for SAP</vt:lpstr>
      <vt:lpstr>Calibri</vt:lpstr>
      <vt:lpstr>Calibri Light</vt:lpstr>
      <vt:lpstr>CiscoSans ExtraLight</vt:lpstr>
      <vt:lpstr>Gill Sans SemiBold</vt:lpstr>
      <vt:lpstr>Times New Roman</vt:lpstr>
      <vt:lpstr>Wingdings</vt:lpstr>
      <vt:lpstr>Office Theme</vt:lpstr>
      <vt:lpstr>Mini-Project</vt:lpstr>
      <vt:lpstr>Domain: Machine Learning</vt:lpstr>
      <vt:lpstr>Domain: Machine Learning</vt:lpstr>
      <vt:lpstr>Domain: Machine Learning</vt:lpstr>
      <vt:lpstr>Topic: Smart Vitality Tracker With AI</vt:lpstr>
      <vt:lpstr>Topic: Smart Vitality Tracker With AI</vt:lpstr>
      <vt:lpstr>Topic: Smart Vitality Tracker With AI</vt:lpstr>
      <vt:lpstr>Topic: Smart Vitality Tracker With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2025-01-27T14:17:01Z</dcterms:created>
  <dcterms:modified xsi:type="dcterms:W3CDTF">2025-01-28T06:04:01Z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