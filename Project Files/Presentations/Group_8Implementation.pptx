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32"/>
  </p:notesMasterIdLst>
  <p:handoutMasterIdLst>
    <p:handoutMasterId r:id="rId33"/>
  </p:handoutMasterIdLst>
  <p:sldIdLst>
    <p:sldId id="278" r:id="rId5"/>
    <p:sldId id="271" r:id="rId6"/>
    <p:sldId id="283" r:id="rId7"/>
    <p:sldId id="309" r:id="rId8"/>
    <p:sldId id="293" r:id="rId9"/>
    <p:sldId id="310" r:id="rId10"/>
    <p:sldId id="311" r:id="rId11"/>
    <p:sldId id="312" r:id="rId12"/>
    <p:sldId id="313" r:id="rId13"/>
    <p:sldId id="314" r:id="rId14"/>
    <p:sldId id="315" r:id="rId15"/>
    <p:sldId id="294" r:id="rId16"/>
    <p:sldId id="295" r:id="rId17"/>
    <p:sldId id="296" r:id="rId18"/>
    <p:sldId id="297" r:id="rId19"/>
    <p:sldId id="285" r:id="rId20"/>
    <p:sldId id="303" r:id="rId21"/>
    <p:sldId id="304" r:id="rId22"/>
    <p:sldId id="298" r:id="rId23"/>
    <p:sldId id="299" r:id="rId24"/>
    <p:sldId id="300" r:id="rId25"/>
    <p:sldId id="301" r:id="rId26"/>
    <p:sldId id="302" r:id="rId27"/>
    <p:sldId id="305" r:id="rId28"/>
    <p:sldId id="306" r:id="rId29"/>
    <p:sldId id="307" r:id="rId30"/>
    <p:sldId id="30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684" y="3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3/16/2025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3/16/2025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954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4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8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001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392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650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38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466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25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30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308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36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675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9226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49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199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30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593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54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49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123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01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3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84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70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2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9" r:id="rId13"/>
    <p:sldLayoutId id="2147483720" r:id="rId14"/>
    <p:sldLayoutId id="214748372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808" y="837108"/>
            <a:ext cx="4624442" cy="2141223"/>
          </a:xfrm>
          <a:noFill/>
        </p:spPr>
        <p:txBody>
          <a:bodyPr anchor="ctr">
            <a:noAutofit/>
          </a:bodyPr>
          <a:lstStyle/>
          <a:p>
            <a:r>
              <a:rPr lang="en-US" dirty="0" smtClean="0"/>
              <a:t>Mini-Project</a:t>
            </a:r>
            <a:br>
              <a:rPr lang="en-US" dirty="0" smtClean="0"/>
            </a:br>
            <a:r>
              <a:rPr lang="en-US" sz="1600" dirty="0" smtClean="0"/>
              <a:t>CS3PC04</a:t>
            </a: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  <p:sp>
        <p:nvSpPr>
          <p:cNvPr id="2" name="Rectangle 1"/>
          <p:cNvSpPr/>
          <p:nvPr/>
        </p:nvSpPr>
        <p:spPr>
          <a:xfrm>
            <a:off x="6505303" y="4884896"/>
            <a:ext cx="55996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monospaced for SAP" panose="020B0609020202030204" pitchFamily="49" charset="0"/>
              </a:rPr>
              <a:t>By:</a:t>
            </a:r>
          </a:p>
          <a:p>
            <a:r>
              <a:rPr lang="en-US" dirty="0">
                <a:latin typeface="Arial monospaced for SAP" panose="020B0609020202030204" pitchFamily="49" charset="0"/>
              </a:rPr>
              <a:t>Aditya Raj Singh </a:t>
            </a:r>
            <a:r>
              <a:rPr lang="en-US" dirty="0" err="1">
                <a:latin typeface="Arial monospaced for SAP" panose="020B0609020202030204" pitchFamily="49" charset="0"/>
              </a:rPr>
              <a:t>Tomar</a:t>
            </a:r>
            <a:r>
              <a:rPr lang="en-US" dirty="0">
                <a:latin typeface="Arial monospaced for SAP" panose="020B0609020202030204" pitchFamily="49" charset="0"/>
              </a:rPr>
              <a:t>       EN22CS301062</a:t>
            </a:r>
          </a:p>
          <a:p>
            <a:r>
              <a:rPr lang="en-US" dirty="0" err="1">
                <a:latin typeface="Arial monospaced for SAP" panose="020B0609020202030204" pitchFamily="49" charset="0"/>
              </a:rPr>
              <a:t>Akash</a:t>
            </a:r>
            <a:r>
              <a:rPr lang="en-US" dirty="0">
                <a:latin typeface="Arial monospaced for SAP" panose="020B0609020202030204" pitchFamily="49" charset="0"/>
              </a:rPr>
              <a:t> Ghosh                  EN22CS301082</a:t>
            </a:r>
          </a:p>
          <a:p>
            <a:r>
              <a:rPr lang="en-US" dirty="0" err="1">
                <a:latin typeface="Arial monospaced for SAP" panose="020B0609020202030204" pitchFamily="49" charset="0"/>
              </a:rPr>
              <a:t>Akash</a:t>
            </a:r>
            <a:r>
              <a:rPr lang="en-US" dirty="0">
                <a:latin typeface="Arial monospaced for SAP" panose="020B0609020202030204" pitchFamily="49" charset="0"/>
              </a:rPr>
              <a:t> Ravi </a:t>
            </a:r>
            <a:r>
              <a:rPr lang="en-US" dirty="0" err="1">
                <a:latin typeface="Arial monospaced for SAP" panose="020B0609020202030204" pitchFamily="49" charset="0"/>
              </a:rPr>
              <a:t>Jaisinghani</a:t>
            </a:r>
            <a:r>
              <a:rPr lang="en-US" dirty="0">
                <a:latin typeface="Arial monospaced for SAP" panose="020B0609020202030204" pitchFamily="49" charset="0"/>
              </a:rPr>
              <a:t>       EN22CS301084</a:t>
            </a:r>
          </a:p>
          <a:p>
            <a:r>
              <a:rPr lang="en-US" dirty="0"/>
              <a:t>Of Batch B1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17714" y="4884896"/>
            <a:ext cx="53818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monospaced for SAP" panose="020B0609020202030204" pitchFamily="49" charset="0"/>
              </a:rPr>
              <a:t>To:</a:t>
            </a:r>
          </a:p>
          <a:p>
            <a:r>
              <a:rPr lang="en-US" dirty="0">
                <a:latin typeface="Arial monospaced for SAP" panose="020B0609020202030204" pitchFamily="49" charset="0"/>
              </a:rPr>
              <a:t>Prof. </a:t>
            </a:r>
            <a:r>
              <a:rPr lang="en-US" dirty="0" err="1">
                <a:latin typeface="Arial monospaced for SAP" panose="020B0609020202030204" pitchFamily="49" charset="0"/>
              </a:rPr>
              <a:t>Jyotsana</a:t>
            </a:r>
            <a:r>
              <a:rPr lang="en-US" dirty="0">
                <a:latin typeface="Arial monospaced for SAP" panose="020B0609020202030204" pitchFamily="49" charset="0"/>
              </a:rPr>
              <a:t> </a:t>
            </a:r>
            <a:r>
              <a:rPr lang="en-US" dirty="0" err="1">
                <a:latin typeface="Arial monospaced for SAP" panose="020B0609020202030204" pitchFamily="49" charset="0"/>
              </a:rPr>
              <a:t>Goyal</a:t>
            </a:r>
            <a:endParaRPr lang="en-US" dirty="0">
              <a:latin typeface="Arial monospaced for SAP" panose="020B06090202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r>
              <a:rPr lang="en-US" dirty="0" smtClean="0"/>
              <a:t>Implementation of Smart Vitality Tracker with AI</a:t>
            </a:r>
            <a:endParaRPr lang="en-US" dirty="0"/>
          </a:p>
        </p:txBody>
      </p:sp>
      <p:pic>
        <p:nvPicPr>
          <p:cNvPr id="11" name="Picture Placeholder 15" descr="Data points digital background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530" y="231735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Technologies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0530" y="1062446"/>
            <a:ext cx="1113604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Pandas : </a:t>
            </a:r>
            <a:r>
              <a:rPr lang="en-US" dirty="0"/>
              <a:t>Pandas is used for handling data in .csv format as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NumPy</a:t>
            </a:r>
            <a:r>
              <a:rPr lang="en-US" dirty="0" smtClean="0"/>
              <a:t> : </a:t>
            </a:r>
            <a:r>
              <a:rPr lang="en-US" dirty="0" err="1"/>
              <a:t>NumPy</a:t>
            </a:r>
            <a:r>
              <a:rPr lang="en-US" dirty="0"/>
              <a:t> provides an array object of arbitrary homogeneous items, fast mathematical operations over arrays.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SkLearn</a:t>
            </a:r>
            <a:r>
              <a:rPr lang="en-US" dirty="0" smtClean="0"/>
              <a:t> : </a:t>
            </a:r>
            <a:r>
              <a:rPr lang="en-US" dirty="0" err="1"/>
              <a:t>SkLearn</a:t>
            </a:r>
            <a:r>
              <a:rPr lang="en-US" dirty="0"/>
              <a:t> is a Python module integrating classical machine learning algorithms in the tightly-knit world of scientific Python packages (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</a:t>
            </a:r>
            <a:r>
              <a:rPr lang="en-US" dirty="0" err="1"/>
              <a:t>matplotlib</a:t>
            </a:r>
            <a:r>
              <a:rPr lang="en-US" dirty="0"/>
              <a:t>).</a:t>
            </a:r>
          </a:p>
          <a:p>
            <a:r>
              <a:rPr lang="en-US" dirty="0" smtClean="0"/>
              <a:t>Metrics(</a:t>
            </a:r>
            <a:r>
              <a:rPr lang="en-US" dirty="0" err="1" smtClean="0"/>
              <a:t>mean_squared_error</a:t>
            </a:r>
            <a:r>
              <a:rPr lang="en-US" dirty="0" smtClean="0"/>
              <a:t>), Model selection(</a:t>
            </a:r>
            <a:r>
              <a:rPr lang="en-US" dirty="0" err="1" smtClean="0"/>
              <a:t>train_test_split</a:t>
            </a:r>
            <a:r>
              <a:rPr lang="en-US" dirty="0" smtClean="0"/>
              <a:t>), Pipeline(Pipeline, </a:t>
            </a:r>
            <a:r>
              <a:rPr lang="en-US" dirty="0" err="1" smtClean="0"/>
              <a:t>make_pipeline</a:t>
            </a:r>
            <a:r>
              <a:rPr lang="en-US" dirty="0" smtClean="0"/>
              <a:t>), Impute(</a:t>
            </a:r>
            <a:r>
              <a:rPr lang="en-US" dirty="0" err="1" smtClean="0"/>
              <a:t>SimpleImputer</a:t>
            </a:r>
            <a:r>
              <a:rPr lang="en-US" dirty="0" smtClean="0"/>
              <a:t>), Preprocessing (</a:t>
            </a:r>
            <a:r>
              <a:rPr lang="en-US" dirty="0" err="1" smtClean="0"/>
              <a:t>StandardScaler</a:t>
            </a:r>
            <a:r>
              <a:rPr lang="en-US" dirty="0" smtClean="0"/>
              <a:t>), Linear Model (</a:t>
            </a:r>
            <a:r>
              <a:rPr lang="en-US" dirty="0" err="1" smtClean="0"/>
              <a:t>LinearRegression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Seaborn</a:t>
            </a:r>
            <a:r>
              <a:rPr lang="en-US" dirty="0" smtClean="0"/>
              <a:t>/</a:t>
            </a:r>
            <a:r>
              <a:rPr lang="en-US" dirty="0" err="1" smtClean="0"/>
              <a:t>MatPlotLib</a:t>
            </a:r>
            <a:r>
              <a:rPr lang="en-US" dirty="0" smtClean="0"/>
              <a:t> : </a:t>
            </a:r>
            <a:r>
              <a:rPr lang="en-US" dirty="0" err="1"/>
              <a:t>Seaborn</a:t>
            </a:r>
            <a:r>
              <a:rPr lang="en-US" dirty="0"/>
              <a:t>/</a:t>
            </a:r>
            <a:r>
              <a:rPr lang="en-US" dirty="0" err="1"/>
              <a:t>MatPlotLib</a:t>
            </a:r>
            <a:r>
              <a:rPr lang="en-US" dirty="0"/>
              <a:t> are libraries used for plotting of data.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PyQt5 :  A package developed for easy UI designing and event handling connections (signals/slots).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SciPy</a:t>
            </a:r>
            <a:r>
              <a:rPr lang="en-US" dirty="0" smtClean="0"/>
              <a:t> : Fundamental algorithms for optimization, Extends </a:t>
            </a:r>
            <a:r>
              <a:rPr lang="en-US" dirty="0" err="1" smtClean="0"/>
              <a:t>NumPy</a:t>
            </a:r>
            <a:r>
              <a:rPr lang="en-US" dirty="0" smtClean="0"/>
              <a:t>, Provides Specialized data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JobLib</a:t>
            </a:r>
            <a:r>
              <a:rPr lang="en-US" dirty="0" smtClean="0"/>
              <a:t> : </a:t>
            </a:r>
            <a:r>
              <a:rPr lang="en-US" dirty="0" err="1"/>
              <a:t>Joblib</a:t>
            </a:r>
            <a:r>
              <a:rPr lang="en-US" dirty="0"/>
              <a:t> enables multiprocessing across several machines or cores on a single machine, which enables programmers to parallelize jobs across numerous machines. </a:t>
            </a:r>
            <a:r>
              <a:rPr lang="en-US" dirty="0" smtClean="0"/>
              <a:t>Saves and Loads ML Models.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Dataset Sample (Sleep Efficiency)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59388"/>
              </p:ext>
            </p:extLst>
          </p:nvPr>
        </p:nvGraphicFramePr>
        <p:xfrm>
          <a:off x="550862" y="1082312"/>
          <a:ext cx="11477904" cy="5486400"/>
        </p:xfrm>
        <a:graphic>
          <a:graphicData uri="http://schemas.openxmlformats.org/drawingml/2006/table">
            <a:tbl>
              <a:tblPr/>
              <a:tblGrid>
                <a:gridCol w="717369">
                  <a:extLst>
                    <a:ext uri="{9D8B030D-6E8A-4147-A177-3AD203B41FA5}">
                      <a16:colId xmlns:a16="http://schemas.microsoft.com/office/drawing/2014/main" val="195911252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179452938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926630928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82559610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94165889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4203490287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714959280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3620724975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300600740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100561966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1765848057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3457780354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3460378223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745845160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1552754492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943845968"/>
                    </a:ext>
                  </a:extLst>
                </a:gridCol>
              </a:tblGrid>
              <a:tr h="887784"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Gender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Bedtime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Wakeup time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Sleep duration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Sleep efficiency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REM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Deep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Light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Awakenings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Caffeine consumption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Alcohol consumption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Smoking status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Exercise frequency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93728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2021-03-06 01:00:00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2021-03-06 07:00:00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0.88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868145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2021-12-05 02:00:00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2021-12-05 09:00:00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0.66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223792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2021-05-25 21:30:00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2021-05-25 05:30:00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8.0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0.89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569391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2021-11-03 02:30:00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2021-11-03 08:30:00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0.51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329681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2021-03-13 01:00:00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2021-03-13 09:00:00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0.76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531924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2021-07-01 21:00:00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2021-07-01 04:30:00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7.5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</a:t>
                      </a:r>
                      <a:endParaRPr lang="en-IN" sz="1200" dirty="0"/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505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74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86" y="2266788"/>
            <a:ext cx="6401693" cy="23244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79825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83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294" y="1029426"/>
            <a:ext cx="5896798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9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277" y="950620"/>
            <a:ext cx="6039693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5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429"/>
            <a:ext cx="12192000" cy="591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469" y="933449"/>
            <a:ext cx="5811061" cy="542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4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180" y="1028700"/>
            <a:ext cx="5839640" cy="512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9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653" y="1657102"/>
            <a:ext cx="6944694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5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767" y="1291400"/>
            <a:ext cx="604921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62" y="1538023"/>
            <a:ext cx="8421275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0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149" y="1357023"/>
            <a:ext cx="4103197" cy="50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5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Sleep Analysis Model (Overview)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217" y="1505069"/>
            <a:ext cx="3654231" cy="44777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902" y="2852514"/>
            <a:ext cx="4649871" cy="163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0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UI Design using PyQt5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UI Design by PyQt5 (Overview)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68" y="1933303"/>
            <a:ext cx="10562249" cy="48008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277" y="1140824"/>
            <a:ext cx="4772422" cy="60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1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UI Design by PyQt5 (Overview)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0857"/>
            <a:ext cx="12204575" cy="58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5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UI Design by PyQt5 (Overview)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840" y="2717075"/>
            <a:ext cx="6790930" cy="156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6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UI Design by PyQt5 (Overview)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829" y="1418944"/>
            <a:ext cx="6043748" cy="463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4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UI Design by PyQt5 (Overview)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138" y="1491209"/>
            <a:ext cx="5590902" cy="469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5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UI Design by PyQt5 (Overview)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" y="2038156"/>
            <a:ext cx="11159624" cy="36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2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Code: UI Design by PyQt5 (Overview)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656" y="2034969"/>
            <a:ext cx="4990084" cy="255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Execution of the Code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73" y="981347"/>
            <a:ext cx="7820892" cy="55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1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Execution of the Code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67" y="927156"/>
            <a:ext cx="8020080" cy="57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8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Execution of the Code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955" y="1029600"/>
            <a:ext cx="7668902" cy="54374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872549" y="1288869"/>
            <a:ext cx="2142308" cy="6357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>
            <a:endCxn id="5" idx="4"/>
          </p:cNvCxnSpPr>
          <p:nvPr/>
        </p:nvCxnSpPr>
        <p:spPr>
          <a:xfrm flipV="1">
            <a:off x="8786949" y="1924594"/>
            <a:ext cx="156754" cy="4127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88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/>
              <a:t>Execution of the Code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48" y="1907177"/>
            <a:ext cx="5628041" cy="302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7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3571</TotalTime>
  <Words>532</Words>
  <Application>Microsoft Office PowerPoint</Application>
  <PresentationFormat>Widescreen</PresentationFormat>
  <Paragraphs>187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monospaced for SAP</vt:lpstr>
      <vt:lpstr>Calibri</vt:lpstr>
      <vt:lpstr>Gill Sans MT</vt:lpstr>
      <vt:lpstr>Walbaum Display</vt:lpstr>
      <vt:lpstr>3DFloatVTI</vt:lpstr>
      <vt:lpstr>Mini-Project CS3PC04</vt:lpstr>
      <vt:lpstr>Implementation of Smart Vitality Tracker with AI</vt:lpstr>
      <vt:lpstr>Technologies</vt:lpstr>
      <vt:lpstr>Code: Dataset Sample (Sleep Efficiency)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Code: Sleep Analysis Model (Overview)</vt:lpstr>
      <vt:lpstr>UI Design using PyQt5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Execution of the Code</vt:lpstr>
      <vt:lpstr>Execution of the Code</vt:lpstr>
      <vt:lpstr>Execution of the Code</vt:lpstr>
      <vt:lpstr>Execution of the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HP</cp:lastModifiedBy>
  <cp:revision>44</cp:revision>
  <dcterms:created xsi:type="dcterms:W3CDTF">2023-12-19T21:03:45Z</dcterms:created>
  <dcterms:modified xsi:type="dcterms:W3CDTF">2025-03-16T10:56:49Z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