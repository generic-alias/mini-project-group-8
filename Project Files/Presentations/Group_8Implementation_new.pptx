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27"/>
  </p:notesMasterIdLst>
  <p:handoutMasterIdLst>
    <p:handoutMasterId r:id="rId28"/>
  </p:handoutMasterIdLst>
  <p:sldIdLst>
    <p:sldId id="278" r:id="rId5"/>
    <p:sldId id="271" r:id="rId6"/>
    <p:sldId id="283" r:id="rId7"/>
    <p:sldId id="309" r:id="rId8"/>
    <p:sldId id="293" r:id="rId9"/>
    <p:sldId id="310" r:id="rId10"/>
    <p:sldId id="316" r:id="rId11"/>
    <p:sldId id="317" r:id="rId12"/>
    <p:sldId id="311" r:id="rId13"/>
    <p:sldId id="312" r:id="rId14"/>
    <p:sldId id="314" r:id="rId15"/>
    <p:sldId id="315" r:id="rId16"/>
    <p:sldId id="294" r:id="rId17"/>
    <p:sldId id="295" r:id="rId18"/>
    <p:sldId id="318" r:id="rId19"/>
    <p:sldId id="297" r:id="rId20"/>
    <p:sldId id="285" r:id="rId21"/>
    <p:sldId id="303" r:id="rId22"/>
    <p:sldId id="319" r:id="rId23"/>
    <p:sldId id="320" r:id="rId24"/>
    <p:sldId id="321" r:id="rId25"/>
    <p:sldId id="322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CF3DDE-D59E-4E90-ACFB-42FF36A33A7D}">
          <p14:sldIdLst>
            <p14:sldId id="278"/>
            <p14:sldId id="271"/>
            <p14:sldId id="283"/>
            <p14:sldId id="309"/>
            <p14:sldId id="293"/>
          </p14:sldIdLst>
        </p14:section>
        <p14:section name="Untitled Section" id="{BECECFAB-4148-4E37-9571-134EE0351F19}">
          <p14:sldIdLst>
            <p14:sldId id="310"/>
            <p14:sldId id="316"/>
            <p14:sldId id="317"/>
            <p14:sldId id="311"/>
            <p14:sldId id="312"/>
            <p14:sldId id="314"/>
            <p14:sldId id="315"/>
            <p14:sldId id="294"/>
            <p14:sldId id="295"/>
            <p14:sldId id="318"/>
            <p14:sldId id="297"/>
            <p14:sldId id="285"/>
            <p14:sldId id="303"/>
            <p14:sldId id="319"/>
            <p14:sldId id="320"/>
            <p14:sldId id="321"/>
            <p14:sldId id="322"/>
          </p14:sldIdLst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1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57" autoAdjust="0"/>
    <p:restoredTop sz="95388" autoAdjust="0"/>
  </p:normalViewPr>
  <p:slideViewPr>
    <p:cSldViewPr snapToGrid="0">
      <p:cViewPr varScale="1">
        <p:scale>
          <a:sx n="82" d="100"/>
          <a:sy n="82" d="100"/>
        </p:scale>
        <p:origin x="470" y="7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BC71B-6527-4638-937B-C93EB849CB02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A70580-B89C-4157-871D-6B9318EE5F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5465A2-8C9C-419F-9FD8-234480873777}" type="datetimeFigureOut">
              <a:rPr lang="en-US" smtClean="0"/>
              <a:t>3/24/2025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AF00E9-A49D-4007-B3B9-A3783809E50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954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64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883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414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006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0014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3929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938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4660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9254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3305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440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0368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6754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52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7844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6456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AF00E9-A49D-4007-B3B9-A3783809E50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659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85418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86218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331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3780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5163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2786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7346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5793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6943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60558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9864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520569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anchor="ctr">
            <a:no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3844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anchor="b">
            <a:no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4700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2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558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9" r:id="rId13"/>
    <p:sldLayoutId id="2147483720" r:id="rId14"/>
    <p:sldLayoutId id="2147483722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6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4808" y="837108"/>
            <a:ext cx="4624442" cy="2141223"/>
          </a:xfrm>
          <a:noFill/>
        </p:spPr>
        <p:txBody>
          <a:bodyPr anchor="ctr">
            <a:noAutofit/>
          </a:bodyPr>
          <a:lstStyle/>
          <a:p>
            <a:r>
              <a:rPr lang="en-US" dirty="0" smtClean="0">
                <a:latin typeface="+mn-lt"/>
              </a:rPr>
              <a:t>Mini-Project</a:t>
            </a:r>
            <a:br>
              <a:rPr lang="en-US" dirty="0" smtClean="0">
                <a:latin typeface="+mn-lt"/>
              </a:rPr>
            </a:br>
            <a:r>
              <a:rPr lang="en-US" sz="1600" dirty="0" smtClean="0">
                <a:latin typeface="+mn-lt"/>
              </a:rPr>
              <a:t>CS3PC04</a:t>
            </a:r>
            <a:endParaRPr lang="en-US" dirty="0">
              <a:latin typeface="+mn-lt"/>
            </a:endParaRPr>
          </a:p>
        </p:txBody>
      </p:sp>
      <p:pic>
        <p:nvPicPr>
          <p:cNvPr id="8" name="Picture Placeholder 13" descr="Data points digital background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/>
      </p:pic>
      <p:sp>
        <p:nvSpPr>
          <p:cNvPr id="2" name="Rectangle 1"/>
          <p:cNvSpPr/>
          <p:nvPr/>
        </p:nvSpPr>
        <p:spPr>
          <a:xfrm>
            <a:off x="6505303" y="4884896"/>
            <a:ext cx="559961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 monospaced for SAP" panose="020B0609020202030204" pitchFamily="49" charset="0"/>
              </a:rPr>
              <a:t>By:</a:t>
            </a:r>
          </a:p>
          <a:p>
            <a:r>
              <a:rPr lang="en-US" dirty="0">
                <a:latin typeface="Arial monospaced for SAP" panose="020B0609020202030204" pitchFamily="49" charset="0"/>
              </a:rPr>
              <a:t>Aditya Raj Singh </a:t>
            </a:r>
            <a:r>
              <a:rPr lang="en-US" dirty="0" err="1">
                <a:latin typeface="Arial monospaced for SAP" panose="020B0609020202030204" pitchFamily="49" charset="0"/>
              </a:rPr>
              <a:t>Tomar</a:t>
            </a:r>
            <a:r>
              <a:rPr lang="en-US" dirty="0">
                <a:latin typeface="Arial monospaced for SAP" panose="020B0609020202030204" pitchFamily="49" charset="0"/>
              </a:rPr>
              <a:t>       EN22CS301062</a:t>
            </a:r>
          </a:p>
          <a:p>
            <a:r>
              <a:rPr lang="en-US" dirty="0" err="1">
                <a:latin typeface="Arial monospaced for SAP" panose="020B0609020202030204" pitchFamily="49" charset="0"/>
              </a:rPr>
              <a:t>Akash</a:t>
            </a:r>
            <a:r>
              <a:rPr lang="en-US" dirty="0">
                <a:latin typeface="Arial monospaced for SAP" panose="020B0609020202030204" pitchFamily="49" charset="0"/>
              </a:rPr>
              <a:t> Ghosh                  EN22CS301082</a:t>
            </a:r>
          </a:p>
          <a:p>
            <a:r>
              <a:rPr lang="en-US" dirty="0" err="1">
                <a:latin typeface="Arial monospaced for SAP" panose="020B0609020202030204" pitchFamily="49" charset="0"/>
              </a:rPr>
              <a:t>Akash</a:t>
            </a:r>
            <a:r>
              <a:rPr lang="en-US" dirty="0">
                <a:latin typeface="Arial monospaced for SAP" panose="020B0609020202030204" pitchFamily="49" charset="0"/>
              </a:rPr>
              <a:t> Ravi </a:t>
            </a:r>
            <a:r>
              <a:rPr lang="en-US" dirty="0" err="1">
                <a:latin typeface="Arial monospaced for SAP" panose="020B0609020202030204" pitchFamily="49" charset="0"/>
              </a:rPr>
              <a:t>Jaisinghani</a:t>
            </a:r>
            <a:r>
              <a:rPr lang="en-US" dirty="0">
                <a:latin typeface="Arial monospaced for SAP" panose="020B0609020202030204" pitchFamily="49" charset="0"/>
              </a:rPr>
              <a:t>       EN22CS301084</a:t>
            </a:r>
          </a:p>
          <a:p>
            <a:r>
              <a:rPr lang="en-US" dirty="0"/>
              <a:t>Of Batch B1</a:t>
            </a:r>
          </a:p>
        </p:txBody>
      </p:sp>
      <p:sp>
        <p:nvSpPr>
          <p:cNvPr id="3" name="Rectangle 2"/>
          <p:cNvSpPr/>
          <p:nvPr/>
        </p:nvSpPr>
        <p:spPr>
          <a:xfrm>
            <a:off x="217714" y="4884896"/>
            <a:ext cx="538189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 monospaced for SAP" panose="020B0609020202030204" pitchFamily="49" charset="0"/>
              </a:rPr>
              <a:t>To:</a:t>
            </a:r>
          </a:p>
          <a:p>
            <a:r>
              <a:rPr lang="en-US" dirty="0">
                <a:latin typeface="Arial monospaced for SAP" panose="020B0609020202030204" pitchFamily="49" charset="0"/>
              </a:rPr>
              <a:t>Prof. </a:t>
            </a:r>
            <a:r>
              <a:rPr lang="en-US" dirty="0" err="1">
                <a:latin typeface="Arial monospaced for SAP" panose="020B0609020202030204" pitchFamily="49" charset="0"/>
              </a:rPr>
              <a:t>Jyotsana</a:t>
            </a:r>
            <a:r>
              <a:rPr lang="en-US" dirty="0">
                <a:latin typeface="Arial monospaced for SAP" panose="020B0609020202030204" pitchFamily="49" charset="0"/>
              </a:rPr>
              <a:t> </a:t>
            </a:r>
            <a:r>
              <a:rPr lang="en-US" dirty="0" err="1">
                <a:latin typeface="Arial monospaced for SAP" panose="020B0609020202030204" pitchFamily="49" charset="0"/>
              </a:rPr>
              <a:t>Goyal</a:t>
            </a:r>
            <a:endParaRPr lang="en-US" dirty="0">
              <a:latin typeface="Arial monospaced for SAP" panose="020B06090202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 anchor="ctr"/>
          <a:lstStyle/>
          <a:p>
            <a:r>
              <a:rPr lang="en-US" dirty="0" smtClean="0">
                <a:latin typeface="+mn-lt"/>
              </a:rPr>
              <a:t>Implementation of Smart Vitality Tracker with AI</a:t>
            </a:r>
            <a:endParaRPr lang="en-US" dirty="0">
              <a:latin typeface="+mn-lt"/>
            </a:endParaRPr>
          </a:p>
        </p:txBody>
      </p:sp>
      <p:pic>
        <p:nvPicPr>
          <p:cNvPr id="11" name="Picture Placeholder 15" descr="Data points digital background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/>
      </p:pic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0530" y="231735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Technologies</a:t>
            </a:r>
            <a:endParaRPr lang="en-US" dirty="0"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0530" y="1062446"/>
            <a:ext cx="1113604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Pandas : </a:t>
            </a:r>
            <a:r>
              <a:rPr lang="en-US" dirty="0"/>
              <a:t>Pandas is used for handling data in .csv format as </a:t>
            </a:r>
            <a:r>
              <a:rPr lang="en-US" dirty="0" err="1"/>
              <a:t>DataFrames</a:t>
            </a:r>
            <a:r>
              <a:rPr lang="en-US" dirty="0"/>
              <a:t>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NumPy</a:t>
            </a:r>
            <a:r>
              <a:rPr lang="en-US" dirty="0" smtClean="0"/>
              <a:t> : </a:t>
            </a:r>
            <a:r>
              <a:rPr lang="en-US" dirty="0" err="1"/>
              <a:t>NumPy</a:t>
            </a:r>
            <a:r>
              <a:rPr lang="en-US" dirty="0"/>
              <a:t> provides an array object of arbitrary homogeneous items, fast mathematical operations over arrays.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SkLearn</a:t>
            </a:r>
            <a:r>
              <a:rPr lang="en-US" dirty="0" smtClean="0"/>
              <a:t> : </a:t>
            </a:r>
            <a:r>
              <a:rPr lang="en-US" dirty="0" err="1"/>
              <a:t>SkLearn</a:t>
            </a:r>
            <a:r>
              <a:rPr lang="en-US" dirty="0"/>
              <a:t> is a Python module integrating classical machine learning algorithms in the tightly-knit world of scientific Python packages (</a:t>
            </a:r>
            <a:r>
              <a:rPr lang="en-US" dirty="0" err="1"/>
              <a:t>numpy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, </a:t>
            </a:r>
            <a:r>
              <a:rPr lang="en-US" dirty="0" err="1"/>
              <a:t>matplotlib</a:t>
            </a:r>
            <a:r>
              <a:rPr lang="en-US" dirty="0"/>
              <a:t>).</a:t>
            </a:r>
          </a:p>
          <a:p>
            <a:r>
              <a:rPr lang="en-US" dirty="0" smtClean="0"/>
              <a:t>Metrics(</a:t>
            </a:r>
            <a:r>
              <a:rPr lang="en-US" dirty="0" err="1" smtClean="0"/>
              <a:t>mean_squared_error</a:t>
            </a:r>
            <a:r>
              <a:rPr lang="en-US" dirty="0" smtClean="0"/>
              <a:t>), Model selection(</a:t>
            </a:r>
            <a:r>
              <a:rPr lang="en-US" dirty="0" err="1" smtClean="0"/>
              <a:t>train_test_split</a:t>
            </a:r>
            <a:r>
              <a:rPr lang="en-US" dirty="0" smtClean="0"/>
              <a:t>), Pipeline(Pipeline, </a:t>
            </a:r>
            <a:r>
              <a:rPr lang="en-US" dirty="0" err="1" smtClean="0"/>
              <a:t>make_pipeline</a:t>
            </a:r>
            <a:r>
              <a:rPr lang="en-US" dirty="0" smtClean="0"/>
              <a:t>), Impute(</a:t>
            </a:r>
            <a:r>
              <a:rPr lang="en-US" dirty="0" err="1" smtClean="0"/>
              <a:t>SimpleImputer</a:t>
            </a:r>
            <a:r>
              <a:rPr lang="en-US" dirty="0" smtClean="0"/>
              <a:t>), Preprocessing (</a:t>
            </a:r>
            <a:r>
              <a:rPr lang="en-US" dirty="0" err="1" smtClean="0"/>
              <a:t>StandardScaler</a:t>
            </a:r>
            <a:r>
              <a:rPr lang="en-US" dirty="0" smtClean="0"/>
              <a:t>), Linear Model (</a:t>
            </a:r>
            <a:r>
              <a:rPr lang="en-US" dirty="0" err="1" smtClean="0"/>
              <a:t>LinearRegression</a:t>
            </a:r>
            <a:r>
              <a:rPr lang="en-US" dirty="0" smtClean="0"/>
              <a:t>).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Seaborn</a:t>
            </a:r>
            <a:r>
              <a:rPr lang="en-US" dirty="0" smtClean="0"/>
              <a:t>/</a:t>
            </a:r>
            <a:r>
              <a:rPr lang="en-US" dirty="0" err="1" smtClean="0"/>
              <a:t>MatPlotLib</a:t>
            </a:r>
            <a:r>
              <a:rPr lang="en-US" dirty="0" smtClean="0"/>
              <a:t> : </a:t>
            </a:r>
            <a:r>
              <a:rPr lang="en-US" dirty="0" err="1"/>
              <a:t>Seaborn</a:t>
            </a:r>
            <a:r>
              <a:rPr lang="en-US" dirty="0"/>
              <a:t>/</a:t>
            </a:r>
            <a:r>
              <a:rPr lang="en-US" dirty="0" err="1"/>
              <a:t>MatPlotLib</a:t>
            </a:r>
            <a:r>
              <a:rPr lang="en-US" dirty="0"/>
              <a:t> are libraries used for plotting of data.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PyQt5 :  A package developed for easy UI designing and event handling connections (signals/slots).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SciPy</a:t>
            </a:r>
            <a:r>
              <a:rPr lang="en-US" dirty="0" smtClean="0"/>
              <a:t> : Fundamental algorithms for optimization, Extends </a:t>
            </a:r>
            <a:r>
              <a:rPr lang="en-US" dirty="0" err="1" smtClean="0"/>
              <a:t>NumPy</a:t>
            </a:r>
            <a:r>
              <a:rPr lang="en-US" dirty="0" smtClean="0"/>
              <a:t>, Provides Specialized data structures.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JobLib</a:t>
            </a:r>
            <a:r>
              <a:rPr lang="en-US" dirty="0" smtClean="0"/>
              <a:t> : </a:t>
            </a:r>
            <a:r>
              <a:rPr lang="en-US" dirty="0" err="1"/>
              <a:t>Joblib</a:t>
            </a:r>
            <a:r>
              <a:rPr lang="en-US" dirty="0"/>
              <a:t> enables multiprocessing across several machines or cores on a single machine, which enables programmers to parallelize jobs across numerous machines. </a:t>
            </a:r>
            <a:r>
              <a:rPr lang="en-US" dirty="0" smtClean="0"/>
              <a:t>Saves and Loads ML Models.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Dataset Sample (Sleep Efficiency)</a:t>
            </a:r>
            <a:endParaRPr lang="en-US" dirty="0">
              <a:latin typeface="+mn-lt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559388"/>
              </p:ext>
            </p:extLst>
          </p:nvPr>
        </p:nvGraphicFramePr>
        <p:xfrm>
          <a:off x="550862" y="1082312"/>
          <a:ext cx="11477904" cy="5486400"/>
        </p:xfrm>
        <a:graphic>
          <a:graphicData uri="http://schemas.openxmlformats.org/drawingml/2006/table">
            <a:tbl>
              <a:tblPr/>
              <a:tblGrid>
                <a:gridCol w="717369">
                  <a:extLst>
                    <a:ext uri="{9D8B030D-6E8A-4147-A177-3AD203B41FA5}">
                      <a16:colId xmlns:a16="http://schemas.microsoft.com/office/drawing/2014/main" val="195911252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79452938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926630928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82559610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941658899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4203490287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71495928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620724975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30060074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2100561966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765848057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457780354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3460378223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745845160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1552754492"/>
                    </a:ext>
                  </a:extLst>
                </a:gridCol>
                <a:gridCol w="717369">
                  <a:extLst>
                    <a:ext uri="{9D8B030D-6E8A-4147-A177-3AD203B41FA5}">
                      <a16:colId xmlns:a16="http://schemas.microsoft.com/office/drawing/2014/main" val="943845968"/>
                    </a:ext>
                  </a:extLst>
                </a:gridCol>
              </a:tblGrid>
              <a:tr h="887784"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ID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Gender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Bedtime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Wakeup time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Sleep duration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Sleep efficiency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REM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Deep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Light sleep percentage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Awakenings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Caffeine consumption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Alcohol consumption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Smoking status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Exercise frequency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2593728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65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2021-03-06 01:00:00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2021-03-06 07:00:00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0.88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4868145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2021-12-05 02:00:00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2021-12-05 09:00:00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0.66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2223792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2021-05-25 21:30:00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2021-05-25 05:30:00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8.0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0.89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569391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40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2021-11-03 02:30:00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2021-11-03 08:30:00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0.51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25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52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Yes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329681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2021-03-13 01:00:00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2021-03-13 09:00:00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8.0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0.76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55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531924"/>
                  </a:ext>
                </a:extLst>
              </a:tr>
              <a:tr h="766436">
                <a:tc>
                  <a:txBody>
                    <a:bodyPr/>
                    <a:lstStyle/>
                    <a:p>
                      <a:r>
                        <a:rPr lang="en-IN" sz="1200"/>
                        <a:t>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36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Female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2021-07-01 21:00:00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2021-07-01 04:30:00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7.5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0.9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28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60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17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Na</a:t>
                      </a:r>
                      <a:endParaRPr lang="en-IN" sz="1200" dirty="0"/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/>
                        <a:t>0.0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No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1.0</a:t>
                      </a:r>
                    </a:p>
                  </a:txBody>
                  <a:tcPr marL="33714" marR="33714" marT="16857" marB="168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505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748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86" y="2266788"/>
            <a:ext cx="6401693" cy="2324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8279825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6833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Finding Outliers: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774441" y="1065071"/>
            <a:ext cx="933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This Scatter-plot shows us the relation between “Exercise Frequency”  and  “Sleep Efficiency”.</a:t>
            </a:r>
          </a:p>
          <a:p>
            <a:r>
              <a:rPr lang="en-US" dirty="0" smtClean="0"/>
              <a:t>The graph can be interpreted as higher the exercise frequency, higher the sleep efficiency.</a:t>
            </a:r>
          </a:p>
          <a:p>
            <a:r>
              <a:rPr lang="en-US" dirty="0" smtClean="0"/>
              <a:t>The data-point that shows otherwise, needs to be dropped.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197" y="2118049"/>
            <a:ext cx="5052999" cy="455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598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Finding Outliers: Sleep Analysis Model (Overview)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861" y="1485933"/>
            <a:ext cx="5890568" cy="51108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4441" y="1065071"/>
            <a:ext cx="93306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This Scatter-plot shows us the relation between “Alcohol Consumption”  and  “Sleep Efficiency”.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943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Data Cleaning: Handling the missing Values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/>
          <p:cNvSpPr txBox="1"/>
          <p:nvPr/>
        </p:nvSpPr>
        <p:spPr>
          <a:xfrm>
            <a:off x="774441" y="1065071"/>
            <a:ext cx="93306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next step is to remove any missing Values and filling them with a default value.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669" y="1698285"/>
            <a:ext cx="6941976" cy="499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518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1"/>
            <a:ext cx="11205709" cy="596202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Feature Engineering: </a:t>
            </a:r>
            <a:r>
              <a:rPr lang="en-US" dirty="0" err="1" smtClean="0">
                <a:latin typeface="+mn-lt"/>
              </a:rPr>
              <a:t>HeatMap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836" y="1630819"/>
            <a:ext cx="6736703" cy="5010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flipH="1">
            <a:off x="1118739" y="957136"/>
            <a:ext cx="9191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</a:t>
            </a:r>
            <a:r>
              <a:rPr lang="en-US" dirty="0" err="1" smtClean="0"/>
              <a:t>HeatMap</a:t>
            </a:r>
            <a:r>
              <a:rPr lang="en-US" dirty="0" smtClean="0"/>
              <a:t> shows that the correlation coefficient between “light sleep %” and “Deep Sleep %” is 0.99, and thus one needs to be dropped.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855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>
                <a:latin typeface="+mn-lt"/>
              </a:rPr>
              <a:t>Feature Engineering: </a:t>
            </a:r>
            <a:r>
              <a:rPr lang="en-US" dirty="0" err="1" smtClean="0">
                <a:latin typeface="+mn-lt"/>
              </a:rPr>
              <a:t>HeatMap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429"/>
            <a:ext cx="12192000" cy="5914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96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5233"/>
            <a:ext cx="11775231" cy="540284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Feature Engineering: impact of gender on sleep </a:t>
            </a:r>
            <a:r>
              <a:rPr lang="en-US" dirty="0">
                <a:latin typeface="+mn-lt"/>
              </a:rPr>
              <a:t>e</a:t>
            </a:r>
            <a:r>
              <a:rPr lang="en-US" dirty="0" smtClean="0">
                <a:latin typeface="+mn-lt"/>
              </a:rPr>
              <a:t>fficiency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49" y="1532553"/>
            <a:ext cx="5839640" cy="51248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9249" y="1024369"/>
            <a:ext cx="1200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box plot shows that gender does not significantly affect sleep efficiency and can therefore be dropped as a variable.</a:t>
            </a:r>
          </a:p>
        </p:txBody>
      </p:sp>
    </p:spTree>
    <p:extLst>
      <p:ext uri="{BB962C8B-B14F-4D97-AF65-F5344CB8AC3E}">
        <p14:creationId xmlns:p14="http://schemas.microsoft.com/office/powerpoint/2010/main" val="2210890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816" y="131586"/>
            <a:ext cx="11943184" cy="604289"/>
          </a:xfrm>
          <a:noFill/>
        </p:spPr>
        <p:txBody>
          <a:bodyPr>
            <a:noAutofit/>
          </a:bodyPr>
          <a:lstStyle/>
          <a:p>
            <a:r>
              <a:rPr lang="en-US" dirty="0">
                <a:latin typeface="+mn-lt"/>
              </a:rPr>
              <a:t>Feature Engineering: impact of gender on sleep </a:t>
            </a:r>
            <a:r>
              <a:rPr lang="en-US" dirty="0" smtClean="0">
                <a:latin typeface="+mn-lt"/>
              </a:rPr>
              <a:t>efficiency.</a:t>
            </a:r>
            <a:endParaRPr lang="en-US" dirty="0">
              <a:latin typeface="+mn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18216" y="2699658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6859857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19981" y="3236215"/>
            <a:ext cx="1105989" cy="148046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/>
          <p:cNvSpPr txBox="1"/>
          <p:nvPr/>
        </p:nvSpPr>
        <p:spPr>
          <a:xfrm>
            <a:off x="438539" y="1040769"/>
            <a:ext cx="1134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This can also be verified by conducting a T- test , the p-value is high and therefore, gender doesn’t affect Sleep Efficiency. 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920" y="2170514"/>
            <a:ext cx="8776370" cy="340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354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Preparing Pipeline: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767" y="1291400"/>
            <a:ext cx="6049219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37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894" y="196900"/>
            <a:ext cx="11244631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Splitting and training: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421" y="1623161"/>
            <a:ext cx="6873836" cy="48619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 flipH="1">
            <a:off x="1240037" y="1184988"/>
            <a:ext cx="982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Using </a:t>
            </a:r>
            <a:r>
              <a:rPr lang="en-US" dirty="0" err="1" smtClean="0"/>
              <a:t>RandomForestRegressor</a:t>
            </a:r>
            <a:r>
              <a:rPr lang="en-US" dirty="0" smtClean="0"/>
              <a:t> and </a:t>
            </a:r>
            <a:r>
              <a:rPr lang="en-US" dirty="0" err="1" smtClean="0"/>
              <a:t>GridSearchCV</a:t>
            </a:r>
            <a:r>
              <a:rPr lang="en-US" dirty="0" smtClean="0"/>
              <a:t> , the MSE value is 0.0265.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606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894" y="196900"/>
            <a:ext cx="11244631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Splitting and training: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279" y="1983964"/>
            <a:ext cx="10127859" cy="44448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46245" y="1207910"/>
            <a:ext cx="10162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Using Linear Regression Model, the lower MSE value implies that LR is a better fit for our Model.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384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Using </a:t>
            </a:r>
            <a:r>
              <a:rPr lang="en-US" dirty="0" err="1" smtClean="0">
                <a:latin typeface="+mn-lt"/>
              </a:rPr>
              <a:t>Joblib</a:t>
            </a:r>
            <a:r>
              <a:rPr lang="en-US" dirty="0" smtClean="0">
                <a:latin typeface="+mn-lt"/>
              </a:rPr>
              <a:t>: Sleep Analysis Model 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710" y="3011134"/>
            <a:ext cx="4649871" cy="1632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129004"/>
            <a:ext cx="10694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Using </a:t>
            </a:r>
            <a:r>
              <a:rPr lang="en-US" dirty="0" err="1" smtClean="0"/>
              <a:t>joblib</a:t>
            </a:r>
            <a:r>
              <a:rPr lang="en-US" dirty="0" smtClean="0"/>
              <a:t> to save our Trained Sleep Analysis Model.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90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7" descr="Data Points Digital background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+mn-lt"/>
              </a:rPr>
              <a:t>UI Design </a:t>
            </a:r>
            <a:r>
              <a:rPr lang="en-US" dirty="0" smtClean="0">
                <a:latin typeface="+mn-lt"/>
              </a:rPr>
              <a:t>using React + </a:t>
            </a:r>
            <a:r>
              <a:rPr lang="en-US" dirty="0" err="1" smtClean="0">
                <a:latin typeface="+mn-lt"/>
              </a:rPr>
              <a:t>Vite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</a:t>
            </a:r>
            <a:r>
              <a:rPr lang="en-US" dirty="0" smtClean="0">
                <a:latin typeface="+mn-lt"/>
              </a:rPr>
              <a:t>React + </a:t>
            </a:r>
            <a:r>
              <a:rPr lang="en-US" dirty="0" err="1" smtClean="0">
                <a:latin typeface="+mn-lt"/>
              </a:rPr>
              <a:t>Vite</a:t>
            </a:r>
            <a:r>
              <a:rPr lang="en-US" dirty="0" smtClean="0">
                <a:latin typeface="+mn-lt"/>
              </a:rPr>
              <a:t> </a:t>
            </a:r>
            <a:r>
              <a:rPr lang="en-US" dirty="0" smtClean="0">
                <a:latin typeface="+mn-lt"/>
              </a:rPr>
              <a:t>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3730"/>
            <a:ext cx="12192000" cy="593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611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</a:t>
            </a:r>
            <a:r>
              <a:rPr lang="en-US" dirty="0" smtClean="0">
                <a:latin typeface="+mn-lt"/>
              </a:rPr>
              <a:t>React + </a:t>
            </a:r>
            <a:r>
              <a:rPr lang="en-US" dirty="0" err="1" smtClean="0">
                <a:latin typeface="+mn-lt"/>
              </a:rPr>
              <a:t>Vite</a:t>
            </a:r>
            <a:r>
              <a:rPr lang="en-US" dirty="0" smtClean="0">
                <a:latin typeface="+mn-lt"/>
              </a:rPr>
              <a:t> </a:t>
            </a:r>
            <a:r>
              <a:rPr lang="en-US" dirty="0" smtClean="0">
                <a:latin typeface="+mn-lt"/>
              </a:rPr>
              <a:t>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1188"/>
            <a:ext cx="12192000" cy="605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44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</a:t>
            </a:r>
            <a:r>
              <a:rPr lang="en-US" dirty="0" smtClean="0">
                <a:latin typeface="+mn-lt"/>
              </a:rPr>
              <a:t>React + </a:t>
            </a:r>
            <a:r>
              <a:rPr lang="en-US" dirty="0" err="1" smtClean="0">
                <a:latin typeface="+mn-lt"/>
              </a:rPr>
              <a:t>Vite</a:t>
            </a:r>
            <a:r>
              <a:rPr lang="en-US" dirty="0" smtClean="0">
                <a:latin typeface="+mn-lt"/>
              </a:rPr>
              <a:t> </a:t>
            </a:r>
            <a:r>
              <a:rPr lang="en-US" dirty="0" smtClean="0">
                <a:latin typeface="+mn-lt"/>
              </a:rPr>
              <a:t>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180" y="801189"/>
            <a:ext cx="7937203" cy="596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02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</a:t>
            </a:r>
            <a:r>
              <a:rPr lang="en-US" dirty="0" smtClean="0">
                <a:latin typeface="+mn-lt"/>
              </a:rPr>
              <a:t>React + </a:t>
            </a:r>
            <a:r>
              <a:rPr lang="en-US" dirty="0" err="1" smtClean="0">
                <a:latin typeface="+mn-lt"/>
              </a:rPr>
              <a:t>Vite</a:t>
            </a:r>
            <a:r>
              <a:rPr lang="en-US" dirty="0" smtClean="0">
                <a:latin typeface="+mn-lt"/>
              </a:rPr>
              <a:t> </a:t>
            </a:r>
            <a:r>
              <a:rPr lang="en-US" dirty="0" smtClean="0">
                <a:latin typeface="+mn-lt"/>
              </a:rPr>
              <a:t>(Overview)</a:t>
            </a:r>
            <a:endParaRPr lang="en-US" dirty="0">
              <a:latin typeface="+mn-lt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6408"/>
            <a:ext cx="12192000" cy="597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59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11057663" cy="604289"/>
          </a:xfrm>
          <a:noFill/>
        </p:spPr>
        <p:txBody>
          <a:bodyPr>
            <a:noAutofit/>
          </a:bodyPr>
          <a:lstStyle/>
          <a:p>
            <a:r>
              <a:rPr lang="en-US" dirty="0" smtClean="0">
                <a:latin typeface="+mn-lt"/>
              </a:rPr>
              <a:t>Code: UI Design by </a:t>
            </a:r>
            <a:r>
              <a:rPr lang="en-US" dirty="0" smtClean="0">
                <a:latin typeface="+mn-lt"/>
              </a:rPr>
              <a:t>React + </a:t>
            </a:r>
            <a:r>
              <a:rPr lang="en-US" dirty="0" err="1" smtClean="0">
                <a:latin typeface="+mn-lt"/>
              </a:rPr>
              <a:t>Vite</a:t>
            </a:r>
            <a:r>
              <a:rPr lang="en-US" dirty="0" smtClean="0">
                <a:latin typeface="+mn-lt"/>
              </a:rPr>
              <a:t> </a:t>
            </a:r>
            <a:r>
              <a:rPr lang="en-US" dirty="0" smtClean="0">
                <a:latin typeface="+mn-lt"/>
              </a:rPr>
              <a:t>(Overview)</a:t>
            </a:r>
            <a:endParaRPr lang="en-US" dirty="0">
              <a:latin typeface="+mn-lt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6408"/>
            <a:ext cx="12192000" cy="597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361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16c05727-aa75-4e4a-9b5f-8a80a1165891"/>
    <ds:schemaRef ds:uri="230e9df3-be65-4c73-a93b-d1236ebd677e"/>
    <ds:schemaRef ds:uri="http://schemas.microsoft.com/office/2006/metadata/properti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71af3243-3dd4-4a8d-8c0d-dd76da1f02a5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3DFloatVTI</Template>
  <TotalTime>3679</TotalTime>
  <Words>703</Words>
  <Application>Microsoft Office PowerPoint</Application>
  <PresentationFormat>Widescreen</PresentationFormat>
  <Paragraphs>188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 monospaced for SAP</vt:lpstr>
      <vt:lpstr>Calibri</vt:lpstr>
      <vt:lpstr>Gill Sans MT</vt:lpstr>
      <vt:lpstr>Walbaum Display</vt:lpstr>
      <vt:lpstr>3DFloatVTI</vt:lpstr>
      <vt:lpstr>Mini-Project CS3PC04</vt:lpstr>
      <vt:lpstr>Implementation of Smart Vitality Tracker with AI</vt:lpstr>
      <vt:lpstr>Technologies</vt:lpstr>
      <vt:lpstr>Dataset Sample (Sleep Efficiency)</vt:lpstr>
      <vt:lpstr>Code: Sleep Analysis Model (Overview)</vt:lpstr>
      <vt:lpstr>Finding Outliers: Sleep Analysis Model (Overview)</vt:lpstr>
      <vt:lpstr>Finding Outliers: Sleep Analysis Model (Overview)</vt:lpstr>
      <vt:lpstr>Data Cleaning: Handling the missing Values</vt:lpstr>
      <vt:lpstr>Feature Engineering: HeatMap</vt:lpstr>
      <vt:lpstr>Feature Engineering: HeatMap</vt:lpstr>
      <vt:lpstr>Feature Engineering: impact of gender on sleep efficiency</vt:lpstr>
      <vt:lpstr>Feature Engineering: impact of gender on sleep efficiency.</vt:lpstr>
      <vt:lpstr>Preparing Pipeline: Sleep Analysis Model (Overview)</vt:lpstr>
      <vt:lpstr>Splitting and training: Sleep Analysis Model (Overview)</vt:lpstr>
      <vt:lpstr>Splitting and training: Sleep Analysis Model (Overview)</vt:lpstr>
      <vt:lpstr>Using Joblib: Sleep Analysis Model (Overview)</vt:lpstr>
      <vt:lpstr>UI Design using React + Vite</vt:lpstr>
      <vt:lpstr>Code: UI Design by React + Vite (Overview)</vt:lpstr>
      <vt:lpstr>Code: UI Design by React + Vite (Overview)</vt:lpstr>
      <vt:lpstr>Code: UI Design by React + Vite (Overview)</vt:lpstr>
      <vt:lpstr>Code: UI Design by React + Vite (Overview)</vt:lpstr>
      <vt:lpstr>Code: UI Design by React + Vite (Overview)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dc:creator>generic_alias</dc:creator>
  <cp:lastModifiedBy>akash jaisinghani</cp:lastModifiedBy>
  <cp:revision>55</cp:revision>
  <dcterms:created xsi:type="dcterms:W3CDTF">2023-12-19T21:03:45Z</dcterms:created>
  <dcterms:modified xsi:type="dcterms:W3CDTF">2025-03-24T05:53:04Z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