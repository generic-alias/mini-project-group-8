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4"/>
  </p:sldMasterIdLst>
  <p:notesMasterIdLst>
    <p:notesMasterId r:id="rId33"/>
  </p:notesMasterIdLst>
  <p:handoutMasterIdLst>
    <p:handoutMasterId r:id="rId34"/>
  </p:handoutMasterIdLst>
  <p:sldIdLst>
    <p:sldId id="278" r:id="rId5"/>
    <p:sldId id="271" r:id="rId6"/>
    <p:sldId id="283" r:id="rId7"/>
    <p:sldId id="309" r:id="rId8"/>
    <p:sldId id="293" r:id="rId9"/>
    <p:sldId id="310" r:id="rId10"/>
    <p:sldId id="316" r:id="rId11"/>
    <p:sldId id="317" r:id="rId12"/>
    <p:sldId id="311" r:id="rId13"/>
    <p:sldId id="312" r:id="rId14"/>
    <p:sldId id="314" r:id="rId15"/>
    <p:sldId id="315" r:id="rId16"/>
    <p:sldId id="294" r:id="rId17"/>
    <p:sldId id="295" r:id="rId18"/>
    <p:sldId id="318" r:id="rId19"/>
    <p:sldId id="297" r:id="rId20"/>
    <p:sldId id="285" r:id="rId21"/>
    <p:sldId id="303" r:id="rId22"/>
    <p:sldId id="304" r:id="rId23"/>
    <p:sldId id="298" r:id="rId24"/>
    <p:sldId id="299" r:id="rId25"/>
    <p:sldId id="300" r:id="rId26"/>
    <p:sldId id="301" r:id="rId27"/>
    <p:sldId id="302" r:id="rId28"/>
    <p:sldId id="305" r:id="rId29"/>
    <p:sldId id="306" r:id="rId30"/>
    <p:sldId id="307" r:id="rId31"/>
    <p:sldId id="308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6CF3DDE-D59E-4E90-ACFB-42FF36A33A7D}">
          <p14:sldIdLst>
            <p14:sldId id="278"/>
            <p14:sldId id="271"/>
            <p14:sldId id="283"/>
            <p14:sldId id="309"/>
            <p14:sldId id="293"/>
          </p14:sldIdLst>
        </p14:section>
        <p14:section name="Untitled Section" id="{BECECFAB-4148-4E37-9571-134EE0351F19}">
          <p14:sldIdLst>
            <p14:sldId id="310"/>
            <p14:sldId id="316"/>
            <p14:sldId id="317"/>
            <p14:sldId id="311"/>
            <p14:sldId id="312"/>
            <p14:sldId id="314"/>
            <p14:sldId id="315"/>
            <p14:sldId id="294"/>
            <p14:sldId id="295"/>
            <p14:sldId id="318"/>
            <p14:sldId id="297"/>
            <p14:sldId id="285"/>
            <p14:sldId id="303"/>
            <p14:sldId id="304"/>
            <p14:sldId id="298"/>
            <p14:sldId id="299"/>
            <p14:sldId id="300"/>
            <p14:sldId id="301"/>
            <p14:sldId id="302"/>
            <p14:sldId id="305"/>
            <p14:sldId id="306"/>
            <p14:sldId id="307"/>
            <p14:sldId id="308"/>
          </p14:sldIdLst>
        </p14:section>
      </p14:sectionLst>
    </p:ex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18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57" autoAdjust="0"/>
    <p:restoredTop sz="95388" autoAdjust="0"/>
  </p:normalViewPr>
  <p:slideViewPr>
    <p:cSldViewPr snapToGrid="0">
      <p:cViewPr varScale="1">
        <p:scale>
          <a:sx n="82" d="100"/>
          <a:sy n="82" d="100"/>
        </p:scale>
        <p:origin x="470" y="77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4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5F4DCF1-ECAF-F7A7-2FE7-5E8E893BC4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1330B0-5BAC-7408-8C3C-78D8336840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BC71B-6527-4638-937B-C93EB849CB02}" type="datetimeFigureOut">
              <a:rPr lang="en-US" smtClean="0"/>
              <a:t>3/22/2025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D7EEB3-E0A5-7440-F7ED-F59975ED1E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548D11-7466-6432-3BF5-64A1A1FA59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A70580-B89C-4157-871D-6B9318EE5F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157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5465A2-8C9C-419F-9FD8-234480873777}" type="datetimeFigureOut">
              <a:rPr lang="en-US" smtClean="0"/>
              <a:t>3/22/2025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AF00E9-A49D-4007-B3B9-A3783809E5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69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223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1917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635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9540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643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883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4149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0063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0014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3929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9388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4660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9254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3305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4406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0368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0567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6754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9226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63495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1998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7330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59381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8540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4493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88123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10182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639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85418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86218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644CBB8-40B8-42F8-9172-07A476341DDA}"/>
              </a:ext>
            </a:extLst>
          </p:cNvPr>
          <p:cNvGrpSpPr/>
          <p:nvPr/>
        </p:nvGrpSpPr>
        <p:grpSpPr>
          <a:xfrm>
            <a:off x="356481" y="879007"/>
            <a:ext cx="734257" cy="760506"/>
            <a:chOff x="5243759" y="1363788"/>
            <a:chExt cx="734257" cy="760506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5CE073E-302A-4AA7-98C7-8667DDDCFA1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4FD1AE2F-DD70-4E93-B905-E052A23F0B1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E8D529E5-8838-47F0-98A4-2D46F11E499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DA2564-D3DB-48AD-83F0-6CC6B574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63" y="474345"/>
            <a:ext cx="11077574" cy="2954655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64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752-36DA-440B-8747-0EB29140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271" y="3629772"/>
            <a:ext cx="11074866" cy="26789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BCC02B0-8581-4752-B7BC-3CE1EF17B9F7}"/>
              </a:ext>
            </a:extLst>
          </p:cNvPr>
          <p:cNvSpPr>
            <a:spLocks noChangeAspect="1"/>
          </p:cNvSpPr>
          <p:nvPr/>
        </p:nvSpPr>
        <p:spPr>
          <a:xfrm rot="18900000">
            <a:off x="11209132" y="4448189"/>
            <a:ext cx="999200" cy="1262947"/>
          </a:xfrm>
          <a:custGeom>
            <a:avLst/>
            <a:gdLst>
              <a:gd name="connsiteX0" fmla="*/ 540000 w 999200"/>
              <a:gd name="connsiteY0" fmla="*/ 0 h 1262947"/>
              <a:gd name="connsiteX1" fmla="*/ 999200 w 999200"/>
              <a:gd name="connsiteY1" fmla="*/ 815317 h 1262947"/>
              <a:gd name="connsiteX2" fmla="*/ 552185 w 999200"/>
              <a:gd name="connsiteY2" fmla="*/ 1262333 h 1262947"/>
              <a:gd name="connsiteX3" fmla="*/ 540000 w 999200"/>
              <a:gd name="connsiteY3" fmla="*/ 1262947 h 1262947"/>
              <a:gd name="connsiteX4" fmla="*/ 0 w 999200"/>
              <a:gd name="connsiteY4" fmla="*/ 992947 h 1262947"/>
              <a:gd name="connsiteX5" fmla="*/ 10971 w 999200"/>
              <a:gd name="connsiteY5" fmla="*/ 938533 h 1262947"/>
              <a:gd name="connsiteX6" fmla="*/ 15626 w 999200"/>
              <a:gd name="connsiteY6" fmla="*/ 931034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9200" h="1262947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10200000" scaled="0"/>
          </a:gradFill>
          <a:ln>
            <a:noFill/>
          </a:ln>
          <a:effectLst>
            <a:innerShdw blurRad="254000" dist="101600" dir="4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A0FF4DB-8180-4D26-AEAE-7ECDB670F71D}"/>
              </a:ext>
            </a:extLst>
          </p:cNvPr>
          <p:cNvSpPr/>
          <p:nvPr/>
        </p:nvSpPr>
        <p:spPr>
          <a:xfrm rot="2700000">
            <a:off x="11686937" y="4853516"/>
            <a:ext cx="540000" cy="978284"/>
          </a:xfrm>
          <a:custGeom>
            <a:avLst/>
            <a:gdLst>
              <a:gd name="connsiteX0" fmla="*/ 113288 w 540000"/>
              <a:gd name="connsiteY0" fmla="*/ 0 h 978284"/>
              <a:gd name="connsiteX1" fmla="*/ 539386 w 540000"/>
              <a:gd name="connsiteY1" fmla="*/ 426099 h 978284"/>
              <a:gd name="connsiteX2" fmla="*/ 540000 w 540000"/>
              <a:gd name="connsiteY2" fmla="*/ 438284 h 978284"/>
              <a:gd name="connsiteX3" fmla="*/ 270000 w 540000"/>
              <a:gd name="connsiteY3" fmla="*/ 978284 h 978284"/>
              <a:gd name="connsiteX4" fmla="*/ 0 w 540000"/>
              <a:gd name="connsiteY4" fmla="*/ 438284 h 978284"/>
              <a:gd name="connsiteX5" fmla="*/ 79081 w 540000"/>
              <a:gd name="connsiteY5" fmla="*/ 56446 h 978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000" h="978284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23310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73780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881275"/>
            <a:ext cx="5437186" cy="535354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77270"/>
            <a:ext cx="5429114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881275"/>
            <a:ext cx="5436392" cy="535354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577270"/>
            <a:ext cx="5436391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51633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49" y="550799"/>
            <a:ext cx="8283313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51F65-E111-4656-83BE-CFCDE2D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F82CB-2D17-4918-821E-485475CF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6589D-A056-4817-AE15-39D87FE1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489F067-39E1-4757-BC11-6169A343F2E1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10727" y="3958416"/>
            <a:ext cx="3536330" cy="1853969"/>
          </a:xfrm>
          <a:custGeom>
            <a:avLst/>
            <a:gdLst>
              <a:gd name="connsiteX0" fmla="*/ 3536330 w 3536330"/>
              <a:gd name="connsiteY0" fmla="*/ 1853969 h 1853969"/>
              <a:gd name="connsiteX1" fmla="*/ 1682362 w 3536330"/>
              <a:gd name="connsiteY1" fmla="*/ 0 h 1853969"/>
              <a:gd name="connsiteX2" fmla="*/ 52157 w 3536330"/>
              <a:gd name="connsiteY2" fmla="*/ 970257 h 1853969"/>
              <a:gd name="connsiteX3" fmla="*/ 0 w 3536330"/>
              <a:gd name="connsiteY3" fmla="*/ 1078528 h 1853969"/>
              <a:gd name="connsiteX4" fmla="*/ 757215 w 3536330"/>
              <a:gd name="connsiteY4" fmla="*/ 1835743 h 1853969"/>
              <a:gd name="connsiteX5" fmla="*/ 774211 w 3536330"/>
              <a:gd name="connsiteY5" fmla="*/ 1667149 h 1853969"/>
              <a:gd name="connsiteX6" fmla="*/ 1682362 w 3536330"/>
              <a:gd name="connsiteY6" fmla="*/ 926985 h 1853969"/>
              <a:gd name="connsiteX7" fmla="*/ 2609345 w 3536330"/>
              <a:gd name="connsiteY7" fmla="*/ 1853969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6330" h="1853969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 flip="none" rotWithShape="1">
            <a:gsLst>
              <a:gs pos="97000">
                <a:schemeClr val="bg2"/>
              </a:gs>
              <a:gs pos="31000">
                <a:schemeClr val="bg2">
                  <a:lumMod val="90000"/>
                  <a:lumOff val="10000"/>
                </a:schemeClr>
              </a:gs>
            </a:gsLst>
            <a:lin ang="15000000" scaled="0"/>
            <a:tileRect/>
          </a:gradFill>
          <a:ln>
            <a:noFill/>
          </a:ln>
          <a:effectLst>
            <a:innerShdw blurRad="355600" dist="101600" dir="16200000">
              <a:schemeClr val="accent1">
                <a:lumMod val="60000"/>
                <a:lumOff val="40000"/>
                <a:alpha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31011-607F-42F1-B2D9-2BA8E91CC6AF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81151" y="3649708"/>
            <a:ext cx="3478701" cy="2164843"/>
          </a:xfrm>
          <a:custGeom>
            <a:avLst/>
            <a:gdLst>
              <a:gd name="connsiteX0" fmla="*/ 3478701 w 3478701"/>
              <a:gd name="connsiteY0" fmla="*/ 2164843 h 2164843"/>
              <a:gd name="connsiteX1" fmla="*/ 1624733 w 3478701"/>
              <a:gd name="connsiteY1" fmla="*/ 0 h 2164843"/>
              <a:gd name="connsiteX2" fmla="*/ 87393 w 3478701"/>
              <a:gd name="connsiteY2" fmla="*/ 954459 h 2164843"/>
              <a:gd name="connsiteX3" fmla="*/ 0 w 3478701"/>
              <a:gd name="connsiteY3" fmla="*/ 1122434 h 2164843"/>
              <a:gd name="connsiteX4" fmla="*/ 736015 w 3478701"/>
              <a:gd name="connsiteY4" fmla="*/ 1858449 h 2164843"/>
              <a:gd name="connsiteX5" fmla="*/ 739424 w 3478701"/>
              <a:gd name="connsiteY5" fmla="*/ 1842964 h 2164843"/>
              <a:gd name="connsiteX6" fmla="*/ 1624733 w 3478701"/>
              <a:gd name="connsiteY6" fmla="*/ 1082422 h 2164843"/>
              <a:gd name="connsiteX7" fmla="*/ 2551716 w 3478701"/>
              <a:gd name="connsiteY7" fmla="*/ 2164843 h 2164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78701" h="2164843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472EFA-56B5-4A41-8D4B-E9F37727F34D}"/>
              </a:ext>
            </a:extLst>
          </p:cNvPr>
          <p:cNvSpPr/>
          <p:nvPr/>
        </p:nvSpPr>
        <p:spPr>
          <a:xfrm rot="13500000" flipV="1">
            <a:off x="1512277" y="2840042"/>
            <a:ext cx="214196" cy="933178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781B6C-21AD-489D-A3CB-522BB2AC543F}"/>
              </a:ext>
            </a:extLst>
          </p:cNvPr>
          <p:cNvSpPr>
            <a:spLocks noChangeAspect="1"/>
          </p:cNvSpPr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1AD5B80-530E-44CD-8D4A-2796FB214CBF}"/>
              </a:ext>
            </a:extLst>
          </p:cNvPr>
          <p:cNvGrpSpPr/>
          <p:nvPr/>
        </p:nvGrpSpPr>
        <p:grpSpPr>
          <a:xfrm>
            <a:off x="623181" y="1514007"/>
            <a:ext cx="734257" cy="760506"/>
            <a:chOff x="5243759" y="1363788"/>
            <a:chExt cx="734257" cy="760506"/>
          </a:xfrm>
        </p:grpSpPr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2F746AA8-9050-4515-9B17-BC850368529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23EC1AC3-1698-46D5-80B7-F22F15E1A5E4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73766156-553C-46EB-93FA-4F37CC0FF5CF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27866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73468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57937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98F1FBA-F8BB-42CF-8B3E-D19AAFEE96C1}"/>
              </a:ext>
            </a:extLst>
          </p:cNvPr>
          <p:cNvGrpSpPr/>
          <p:nvPr/>
        </p:nvGrpSpPr>
        <p:grpSpPr>
          <a:xfrm>
            <a:off x="334964" y="5115518"/>
            <a:ext cx="734257" cy="760506"/>
            <a:chOff x="5243759" y="1363788"/>
            <a:chExt cx="734257" cy="76050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0EE09DD-C3DB-4266-BCC3-A765CFFBF37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F301FE0-96DC-4EFB-BBEE-AED762C337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3BEAD276-8850-4C0C-9777-8537000D522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5EE0A0-B07E-479B-9684-4BD09FA4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75409"/>
            <a:ext cx="4500562" cy="984885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893A9-3462-4F51-83AE-5D2F124B9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67324" y="575409"/>
            <a:ext cx="6373813" cy="573331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9240C-79C0-4A88-A476-725DE1B9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76195"/>
            <a:ext cx="4500562" cy="4532530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69433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9361-B9A1-48F2-9473-23DE30E2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03906"/>
            <a:ext cx="11090275" cy="133305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86779-C2F3-447D-85F7-F6B0E2C97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60558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6583A-514F-4632-820D-E7EE236A4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3CBBB-7DDC-4437-8C7D-22A1C3520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9EBF-DA20-4024-8006-B158D571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C8B9-14B5-4DF1-994D-AB47DB3B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6582-5F9B-4F5E-AAD5-D608CB68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59864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18020" y="662937"/>
            <a:ext cx="4624442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88CE9D0-E6DB-A38D-ED84-A53D0493E6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26745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3520569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4045464"/>
            <a:ext cx="11115355" cy="2286000"/>
          </a:xfrm>
        </p:spPr>
        <p:txBody>
          <a:bodyPr anchor="ctr">
            <a:no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94"/>
            <a:ext cx="12192000" cy="3771878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7BF9F63-86BE-5515-AD3C-59481B3FF4B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225773" y="385222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3844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196900"/>
            <a:ext cx="4159160" cy="3155900"/>
          </a:xfrm>
        </p:spPr>
        <p:txBody>
          <a:bodyPr lIns="91440" anchor="b">
            <a:no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7271" y="3505200"/>
            <a:ext cx="4159160" cy="2352356"/>
          </a:xfrm>
        </p:spPr>
        <p:txBody>
          <a:bodyPr lIns="91440" rIns="9144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0ABD6E1-FE78-D78B-E80C-09490F5D8D0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668780" y="50590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2BB1BCD-5C1C-ED05-D6B4-F92367209BE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10822156" y="4143453"/>
            <a:ext cx="734257" cy="760506"/>
            <a:chOff x="5243759" y="1363788"/>
            <a:chExt cx="734257" cy="76050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700A5CAB-28E9-FB7A-E72E-39F3ADE58C6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2BA2D9BC-CA87-28FA-7A02-455E740EACA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734E5ADF-EEF0-2501-9D7B-8FC1A49F60A7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780F3839-9B1B-2346-C1F4-E876E6AE32E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78049" y="788713"/>
            <a:ext cx="5132388" cy="5132388"/>
          </a:xfrm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tIns="365760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4700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96D26C0-4AFC-33CC-99BE-317E9A84435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376680"/>
            <a:ext cx="9144000" cy="2286000"/>
          </a:xfrm>
        </p:spPr>
        <p:txBody>
          <a:bodyPr anchor="b">
            <a:no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99840"/>
            <a:ext cx="9144000" cy="228600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728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9558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9" r:id="rId13"/>
    <p:sldLayoutId id="2147483720" r:id="rId14"/>
    <p:sldLayoutId id="2147483722" r:id="rId1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4808" y="837108"/>
            <a:ext cx="4624442" cy="2141223"/>
          </a:xfrm>
          <a:noFill/>
        </p:spPr>
        <p:txBody>
          <a:bodyPr anchor="ctr">
            <a:noAutofit/>
          </a:bodyPr>
          <a:lstStyle/>
          <a:p>
            <a:r>
              <a:rPr lang="en-US" dirty="0" smtClean="0">
                <a:latin typeface="+mn-lt"/>
              </a:rPr>
              <a:t>Mini-Project</a:t>
            </a:r>
            <a:br>
              <a:rPr lang="en-US" dirty="0" smtClean="0">
                <a:latin typeface="+mn-lt"/>
              </a:rPr>
            </a:br>
            <a:r>
              <a:rPr lang="en-US" sz="1600" dirty="0" smtClean="0">
                <a:latin typeface="+mn-lt"/>
              </a:rPr>
              <a:t>CS3PC04</a:t>
            </a:r>
            <a:endParaRPr lang="en-US" dirty="0">
              <a:latin typeface="+mn-lt"/>
            </a:endParaRPr>
          </a:p>
        </p:txBody>
      </p:sp>
      <p:pic>
        <p:nvPicPr>
          <p:cNvPr id="8" name="Picture Placeholder 13" descr="Data points digital background">
            <a:extLst>
              <a:ext uri="{FF2B5EF4-FFF2-40B4-BE49-F238E27FC236}">
                <a16:creationId xmlns:a16="http://schemas.microsoft.com/office/drawing/2014/main" id="{53227D59-33F9-9DDB-1C5C-A938A989EE5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6" r="7936"/>
          <a:stretch/>
        </p:blipFill>
        <p:spPr/>
      </p:pic>
      <p:sp>
        <p:nvSpPr>
          <p:cNvPr id="2" name="Rectangle 1"/>
          <p:cNvSpPr/>
          <p:nvPr/>
        </p:nvSpPr>
        <p:spPr>
          <a:xfrm>
            <a:off x="6505303" y="4884896"/>
            <a:ext cx="559961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 monospaced for SAP" panose="020B0609020202030204" pitchFamily="49" charset="0"/>
              </a:rPr>
              <a:t>By:</a:t>
            </a:r>
          </a:p>
          <a:p>
            <a:r>
              <a:rPr lang="en-US" dirty="0">
                <a:latin typeface="Arial monospaced for SAP" panose="020B0609020202030204" pitchFamily="49" charset="0"/>
              </a:rPr>
              <a:t>Aditya Raj Singh </a:t>
            </a:r>
            <a:r>
              <a:rPr lang="en-US" dirty="0" err="1">
                <a:latin typeface="Arial monospaced for SAP" panose="020B0609020202030204" pitchFamily="49" charset="0"/>
              </a:rPr>
              <a:t>Tomar</a:t>
            </a:r>
            <a:r>
              <a:rPr lang="en-US" dirty="0">
                <a:latin typeface="Arial monospaced for SAP" panose="020B0609020202030204" pitchFamily="49" charset="0"/>
              </a:rPr>
              <a:t>       EN22CS301062</a:t>
            </a:r>
          </a:p>
          <a:p>
            <a:r>
              <a:rPr lang="en-US" dirty="0" err="1">
                <a:latin typeface="Arial monospaced for SAP" panose="020B0609020202030204" pitchFamily="49" charset="0"/>
              </a:rPr>
              <a:t>Akash</a:t>
            </a:r>
            <a:r>
              <a:rPr lang="en-US" dirty="0">
                <a:latin typeface="Arial monospaced for SAP" panose="020B0609020202030204" pitchFamily="49" charset="0"/>
              </a:rPr>
              <a:t> Ghosh                  EN22CS301082</a:t>
            </a:r>
          </a:p>
          <a:p>
            <a:r>
              <a:rPr lang="en-US" dirty="0" err="1">
                <a:latin typeface="Arial monospaced for SAP" panose="020B0609020202030204" pitchFamily="49" charset="0"/>
              </a:rPr>
              <a:t>Akash</a:t>
            </a:r>
            <a:r>
              <a:rPr lang="en-US" dirty="0">
                <a:latin typeface="Arial monospaced for SAP" panose="020B0609020202030204" pitchFamily="49" charset="0"/>
              </a:rPr>
              <a:t> Ravi </a:t>
            </a:r>
            <a:r>
              <a:rPr lang="en-US" dirty="0" err="1">
                <a:latin typeface="Arial monospaced for SAP" panose="020B0609020202030204" pitchFamily="49" charset="0"/>
              </a:rPr>
              <a:t>Jaisinghani</a:t>
            </a:r>
            <a:r>
              <a:rPr lang="en-US" dirty="0">
                <a:latin typeface="Arial monospaced for SAP" panose="020B0609020202030204" pitchFamily="49" charset="0"/>
              </a:rPr>
              <a:t>       EN22CS301084</a:t>
            </a:r>
          </a:p>
          <a:p>
            <a:r>
              <a:rPr lang="en-US" dirty="0"/>
              <a:t>Of Batch B1</a:t>
            </a:r>
          </a:p>
        </p:txBody>
      </p:sp>
      <p:sp>
        <p:nvSpPr>
          <p:cNvPr id="3" name="Rectangle 2"/>
          <p:cNvSpPr/>
          <p:nvPr/>
        </p:nvSpPr>
        <p:spPr>
          <a:xfrm>
            <a:off x="217714" y="4884896"/>
            <a:ext cx="53818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 monospaced for SAP" panose="020B0609020202030204" pitchFamily="49" charset="0"/>
              </a:rPr>
              <a:t>To:</a:t>
            </a:r>
          </a:p>
          <a:p>
            <a:r>
              <a:rPr lang="en-US" dirty="0">
                <a:latin typeface="Arial monospaced for SAP" panose="020B0609020202030204" pitchFamily="49" charset="0"/>
              </a:rPr>
              <a:t>Prof. </a:t>
            </a:r>
            <a:r>
              <a:rPr lang="en-US" dirty="0" err="1">
                <a:latin typeface="Arial monospaced for SAP" panose="020B0609020202030204" pitchFamily="49" charset="0"/>
              </a:rPr>
              <a:t>Jyotsana</a:t>
            </a:r>
            <a:r>
              <a:rPr lang="en-US" dirty="0">
                <a:latin typeface="Arial monospaced for SAP" panose="020B0609020202030204" pitchFamily="49" charset="0"/>
              </a:rPr>
              <a:t> </a:t>
            </a:r>
            <a:r>
              <a:rPr lang="en-US" dirty="0" err="1">
                <a:latin typeface="Arial monospaced for SAP" panose="020B0609020202030204" pitchFamily="49" charset="0"/>
              </a:rPr>
              <a:t>Goyal</a:t>
            </a:r>
            <a:endParaRPr lang="en-US" dirty="0">
              <a:latin typeface="Arial monospaced for SAP" panose="020B0609020202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3092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noFill/>
        </p:spPr>
        <p:txBody>
          <a:bodyPr anchor="ctr"/>
          <a:lstStyle/>
          <a:p>
            <a:r>
              <a:rPr lang="en-US" dirty="0" smtClean="0">
                <a:latin typeface="+mn-lt"/>
              </a:rPr>
              <a:t>Implementation of Smart Vitality Tracker with AI</a:t>
            </a:r>
            <a:endParaRPr lang="en-US" dirty="0">
              <a:latin typeface="+mn-lt"/>
            </a:endParaRPr>
          </a:p>
        </p:txBody>
      </p:sp>
      <p:pic>
        <p:nvPicPr>
          <p:cNvPr id="11" name="Picture Placeholder 15" descr="Data points digital background">
            <a:extLst>
              <a:ext uri="{FF2B5EF4-FFF2-40B4-BE49-F238E27FC236}">
                <a16:creationId xmlns:a16="http://schemas.microsoft.com/office/drawing/2014/main" id="{A496DCE5-C34A-22C2-A9D8-E90DFC8CE86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/>
      </p:pic>
    </p:spTree>
    <p:extLst>
      <p:ext uri="{BB962C8B-B14F-4D97-AF65-F5344CB8AC3E}">
        <p14:creationId xmlns:p14="http://schemas.microsoft.com/office/powerpoint/2010/main" val="1839748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0530" y="231735"/>
            <a:ext cx="11057663" cy="604289"/>
          </a:xfrm>
          <a:noFill/>
        </p:spPr>
        <p:txBody>
          <a:bodyPr>
            <a:noAutofit/>
          </a:bodyPr>
          <a:lstStyle/>
          <a:p>
            <a:r>
              <a:rPr lang="en-US" dirty="0" smtClean="0">
                <a:latin typeface="+mn-lt"/>
              </a:rPr>
              <a:t>Technologies</a:t>
            </a:r>
            <a:endParaRPr lang="en-US" dirty="0">
              <a:latin typeface="+mn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0530" y="1062446"/>
            <a:ext cx="1113604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Pandas : </a:t>
            </a:r>
            <a:r>
              <a:rPr lang="en-US" dirty="0"/>
              <a:t>Pandas is used for handling data in .csv format as </a:t>
            </a:r>
            <a:r>
              <a:rPr lang="en-US" dirty="0" err="1"/>
              <a:t>DataFrames</a:t>
            </a:r>
            <a:r>
              <a:rPr lang="en-US" dirty="0"/>
              <a:t>.</a:t>
            </a:r>
          </a:p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NumPy</a:t>
            </a:r>
            <a:r>
              <a:rPr lang="en-US" dirty="0" smtClean="0"/>
              <a:t> : </a:t>
            </a:r>
            <a:r>
              <a:rPr lang="en-US" dirty="0" err="1"/>
              <a:t>NumPy</a:t>
            </a:r>
            <a:r>
              <a:rPr lang="en-US" dirty="0"/>
              <a:t> provides an array object of arbitrary homogeneous items, fast mathematical operations over arrays.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SkLearn</a:t>
            </a:r>
            <a:r>
              <a:rPr lang="en-US" dirty="0" smtClean="0"/>
              <a:t> : </a:t>
            </a:r>
            <a:r>
              <a:rPr lang="en-US" dirty="0" err="1"/>
              <a:t>SkLearn</a:t>
            </a:r>
            <a:r>
              <a:rPr lang="en-US" dirty="0"/>
              <a:t> is a Python module integrating classical machine learning algorithms in the tightly-knit world of scientific Python packages (</a:t>
            </a:r>
            <a:r>
              <a:rPr lang="en-US" dirty="0" err="1"/>
              <a:t>numpy</a:t>
            </a:r>
            <a:r>
              <a:rPr lang="en-US" dirty="0"/>
              <a:t>, </a:t>
            </a:r>
            <a:r>
              <a:rPr lang="en-US" dirty="0" err="1"/>
              <a:t>scipy</a:t>
            </a:r>
            <a:r>
              <a:rPr lang="en-US" dirty="0"/>
              <a:t>, </a:t>
            </a:r>
            <a:r>
              <a:rPr lang="en-US" dirty="0" err="1"/>
              <a:t>matplotlib</a:t>
            </a:r>
            <a:r>
              <a:rPr lang="en-US" dirty="0"/>
              <a:t>).</a:t>
            </a:r>
          </a:p>
          <a:p>
            <a:r>
              <a:rPr lang="en-US" dirty="0" smtClean="0"/>
              <a:t>Metrics(</a:t>
            </a:r>
            <a:r>
              <a:rPr lang="en-US" dirty="0" err="1" smtClean="0"/>
              <a:t>mean_squared_error</a:t>
            </a:r>
            <a:r>
              <a:rPr lang="en-US" dirty="0" smtClean="0"/>
              <a:t>), Model selection(</a:t>
            </a:r>
            <a:r>
              <a:rPr lang="en-US" dirty="0" err="1" smtClean="0"/>
              <a:t>train_test_split</a:t>
            </a:r>
            <a:r>
              <a:rPr lang="en-US" dirty="0" smtClean="0"/>
              <a:t>), Pipeline(Pipeline, </a:t>
            </a:r>
            <a:r>
              <a:rPr lang="en-US" dirty="0" err="1" smtClean="0"/>
              <a:t>make_pipeline</a:t>
            </a:r>
            <a:r>
              <a:rPr lang="en-US" dirty="0" smtClean="0"/>
              <a:t>), Impute(</a:t>
            </a:r>
            <a:r>
              <a:rPr lang="en-US" dirty="0" err="1" smtClean="0"/>
              <a:t>SimpleImputer</a:t>
            </a:r>
            <a:r>
              <a:rPr lang="en-US" dirty="0" smtClean="0"/>
              <a:t>), Preprocessing (</a:t>
            </a:r>
            <a:r>
              <a:rPr lang="en-US" dirty="0" err="1" smtClean="0"/>
              <a:t>StandardScaler</a:t>
            </a:r>
            <a:r>
              <a:rPr lang="en-US" dirty="0" smtClean="0"/>
              <a:t>), Linear Model (</a:t>
            </a:r>
            <a:r>
              <a:rPr lang="en-US" dirty="0" err="1" smtClean="0"/>
              <a:t>LinearRegression</a:t>
            </a:r>
            <a:r>
              <a:rPr lang="en-US" dirty="0" smtClean="0"/>
              <a:t>).</a:t>
            </a:r>
          </a:p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Seaborn</a:t>
            </a:r>
            <a:r>
              <a:rPr lang="en-US" dirty="0" smtClean="0"/>
              <a:t>/</a:t>
            </a:r>
            <a:r>
              <a:rPr lang="en-US" dirty="0" err="1" smtClean="0"/>
              <a:t>MatPlotLib</a:t>
            </a:r>
            <a:r>
              <a:rPr lang="en-US" dirty="0" smtClean="0"/>
              <a:t> : </a:t>
            </a:r>
            <a:r>
              <a:rPr lang="en-US" dirty="0" err="1"/>
              <a:t>Seaborn</a:t>
            </a:r>
            <a:r>
              <a:rPr lang="en-US" dirty="0"/>
              <a:t>/</a:t>
            </a:r>
            <a:r>
              <a:rPr lang="en-US" dirty="0" err="1"/>
              <a:t>MatPlotLib</a:t>
            </a:r>
            <a:r>
              <a:rPr lang="en-US" dirty="0"/>
              <a:t> are libraries used for plotting of data.</a:t>
            </a:r>
          </a:p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PyQt5 :  A package developed for easy UI designing and event handling connections (signals/slots).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SciPy</a:t>
            </a:r>
            <a:r>
              <a:rPr lang="en-US" dirty="0" smtClean="0"/>
              <a:t> : Fundamental algorithms for optimization, Extends </a:t>
            </a:r>
            <a:r>
              <a:rPr lang="en-US" dirty="0" err="1" smtClean="0"/>
              <a:t>NumPy</a:t>
            </a:r>
            <a:r>
              <a:rPr lang="en-US" dirty="0" smtClean="0"/>
              <a:t>, Provides Specialized data structures.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JobLib</a:t>
            </a:r>
            <a:r>
              <a:rPr lang="en-US" dirty="0" smtClean="0"/>
              <a:t> : </a:t>
            </a:r>
            <a:r>
              <a:rPr lang="en-US" dirty="0" err="1"/>
              <a:t>Joblib</a:t>
            </a:r>
            <a:r>
              <a:rPr lang="en-US" dirty="0"/>
              <a:t> enables multiprocessing across several machines or cores on a single machine, which enables programmers to parallelize jobs across numerous machines. </a:t>
            </a:r>
            <a:r>
              <a:rPr lang="en-US" dirty="0" smtClean="0"/>
              <a:t>Saves and Loads ML Models.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8592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196900"/>
            <a:ext cx="11057663" cy="604289"/>
          </a:xfrm>
          <a:noFill/>
        </p:spPr>
        <p:txBody>
          <a:bodyPr>
            <a:noAutofit/>
          </a:bodyPr>
          <a:lstStyle/>
          <a:p>
            <a:r>
              <a:rPr lang="en-US" dirty="0" smtClean="0">
                <a:latin typeface="+mn-lt"/>
              </a:rPr>
              <a:t>Dataset </a:t>
            </a:r>
            <a:r>
              <a:rPr lang="en-US" dirty="0" smtClean="0">
                <a:latin typeface="+mn-lt"/>
              </a:rPr>
              <a:t>Sample (Sleep Efficiency)</a:t>
            </a:r>
            <a:endParaRPr lang="en-US" dirty="0">
              <a:latin typeface="+mn-lt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0559388"/>
              </p:ext>
            </p:extLst>
          </p:nvPr>
        </p:nvGraphicFramePr>
        <p:xfrm>
          <a:off x="550862" y="1082312"/>
          <a:ext cx="11477904" cy="5486400"/>
        </p:xfrm>
        <a:graphic>
          <a:graphicData uri="http://schemas.openxmlformats.org/drawingml/2006/table">
            <a:tbl>
              <a:tblPr/>
              <a:tblGrid>
                <a:gridCol w="717369">
                  <a:extLst>
                    <a:ext uri="{9D8B030D-6E8A-4147-A177-3AD203B41FA5}">
                      <a16:colId xmlns:a16="http://schemas.microsoft.com/office/drawing/2014/main" val="1959112529"/>
                    </a:ext>
                  </a:extLst>
                </a:gridCol>
                <a:gridCol w="717369">
                  <a:extLst>
                    <a:ext uri="{9D8B030D-6E8A-4147-A177-3AD203B41FA5}">
                      <a16:colId xmlns:a16="http://schemas.microsoft.com/office/drawing/2014/main" val="1794529389"/>
                    </a:ext>
                  </a:extLst>
                </a:gridCol>
                <a:gridCol w="717369">
                  <a:extLst>
                    <a:ext uri="{9D8B030D-6E8A-4147-A177-3AD203B41FA5}">
                      <a16:colId xmlns:a16="http://schemas.microsoft.com/office/drawing/2014/main" val="2926630928"/>
                    </a:ext>
                  </a:extLst>
                </a:gridCol>
                <a:gridCol w="717369">
                  <a:extLst>
                    <a:ext uri="{9D8B030D-6E8A-4147-A177-3AD203B41FA5}">
                      <a16:colId xmlns:a16="http://schemas.microsoft.com/office/drawing/2014/main" val="2825596109"/>
                    </a:ext>
                  </a:extLst>
                </a:gridCol>
                <a:gridCol w="717369">
                  <a:extLst>
                    <a:ext uri="{9D8B030D-6E8A-4147-A177-3AD203B41FA5}">
                      <a16:colId xmlns:a16="http://schemas.microsoft.com/office/drawing/2014/main" val="2941658899"/>
                    </a:ext>
                  </a:extLst>
                </a:gridCol>
                <a:gridCol w="717369">
                  <a:extLst>
                    <a:ext uri="{9D8B030D-6E8A-4147-A177-3AD203B41FA5}">
                      <a16:colId xmlns:a16="http://schemas.microsoft.com/office/drawing/2014/main" val="4203490287"/>
                    </a:ext>
                  </a:extLst>
                </a:gridCol>
                <a:gridCol w="717369">
                  <a:extLst>
                    <a:ext uri="{9D8B030D-6E8A-4147-A177-3AD203B41FA5}">
                      <a16:colId xmlns:a16="http://schemas.microsoft.com/office/drawing/2014/main" val="2714959280"/>
                    </a:ext>
                  </a:extLst>
                </a:gridCol>
                <a:gridCol w="717369">
                  <a:extLst>
                    <a:ext uri="{9D8B030D-6E8A-4147-A177-3AD203B41FA5}">
                      <a16:colId xmlns:a16="http://schemas.microsoft.com/office/drawing/2014/main" val="3620724975"/>
                    </a:ext>
                  </a:extLst>
                </a:gridCol>
                <a:gridCol w="717369">
                  <a:extLst>
                    <a:ext uri="{9D8B030D-6E8A-4147-A177-3AD203B41FA5}">
                      <a16:colId xmlns:a16="http://schemas.microsoft.com/office/drawing/2014/main" val="2300600740"/>
                    </a:ext>
                  </a:extLst>
                </a:gridCol>
                <a:gridCol w="717369">
                  <a:extLst>
                    <a:ext uri="{9D8B030D-6E8A-4147-A177-3AD203B41FA5}">
                      <a16:colId xmlns:a16="http://schemas.microsoft.com/office/drawing/2014/main" val="2100561966"/>
                    </a:ext>
                  </a:extLst>
                </a:gridCol>
                <a:gridCol w="717369">
                  <a:extLst>
                    <a:ext uri="{9D8B030D-6E8A-4147-A177-3AD203B41FA5}">
                      <a16:colId xmlns:a16="http://schemas.microsoft.com/office/drawing/2014/main" val="1765848057"/>
                    </a:ext>
                  </a:extLst>
                </a:gridCol>
                <a:gridCol w="717369">
                  <a:extLst>
                    <a:ext uri="{9D8B030D-6E8A-4147-A177-3AD203B41FA5}">
                      <a16:colId xmlns:a16="http://schemas.microsoft.com/office/drawing/2014/main" val="3457780354"/>
                    </a:ext>
                  </a:extLst>
                </a:gridCol>
                <a:gridCol w="717369">
                  <a:extLst>
                    <a:ext uri="{9D8B030D-6E8A-4147-A177-3AD203B41FA5}">
                      <a16:colId xmlns:a16="http://schemas.microsoft.com/office/drawing/2014/main" val="3460378223"/>
                    </a:ext>
                  </a:extLst>
                </a:gridCol>
                <a:gridCol w="717369">
                  <a:extLst>
                    <a:ext uri="{9D8B030D-6E8A-4147-A177-3AD203B41FA5}">
                      <a16:colId xmlns:a16="http://schemas.microsoft.com/office/drawing/2014/main" val="745845160"/>
                    </a:ext>
                  </a:extLst>
                </a:gridCol>
                <a:gridCol w="717369">
                  <a:extLst>
                    <a:ext uri="{9D8B030D-6E8A-4147-A177-3AD203B41FA5}">
                      <a16:colId xmlns:a16="http://schemas.microsoft.com/office/drawing/2014/main" val="1552754492"/>
                    </a:ext>
                  </a:extLst>
                </a:gridCol>
                <a:gridCol w="717369">
                  <a:extLst>
                    <a:ext uri="{9D8B030D-6E8A-4147-A177-3AD203B41FA5}">
                      <a16:colId xmlns:a16="http://schemas.microsoft.com/office/drawing/2014/main" val="943845968"/>
                    </a:ext>
                  </a:extLst>
                </a:gridCol>
              </a:tblGrid>
              <a:tr h="887784"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ID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Age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Gender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Bedtime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Wakeup time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Sleep duration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Sleep efficiency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REM sleep percentage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Deep sleep percentage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Light sleep percentage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Awakenings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Caffeine consumption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Alcohol consumption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Smoking status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Exercise frequency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2593728"/>
                  </a:ext>
                </a:extLst>
              </a:tr>
              <a:tr h="766436">
                <a:tc>
                  <a:txBody>
                    <a:bodyPr/>
                    <a:lstStyle/>
                    <a:p>
                      <a:r>
                        <a:rPr lang="en-IN" sz="1200"/>
                        <a:t>2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65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Female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2021-03-06 01:00:00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2021-03-06 07:00:00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6.0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0.88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18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70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0.0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0.0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0.0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Yes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3.0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4868145"/>
                  </a:ext>
                </a:extLst>
              </a:tr>
              <a:tr h="766436">
                <a:tc>
                  <a:txBody>
                    <a:bodyPr/>
                    <a:lstStyle/>
                    <a:p>
                      <a:r>
                        <a:rPr lang="en-IN" sz="1200"/>
                        <a:t>3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69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Male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2021-12-05 02:00:00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2021-12-05 09:00:00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7.0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0.66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24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28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53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3.0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0.0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3.0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Yes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3.0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2223792"/>
                  </a:ext>
                </a:extLst>
              </a:tr>
              <a:tr h="766436">
                <a:tc>
                  <a:txBody>
                    <a:bodyPr/>
                    <a:lstStyle/>
                    <a:p>
                      <a:r>
                        <a:rPr lang="en-IN" sz="1200"/>
                        <a:t>4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3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40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Female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2021-05-25 21:30:00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2021-05-25 05:30:00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8.0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0.89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70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0.0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0.0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No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3.0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4569391"/>
                  </a:ext>
                </a:extLst>
              </a:tr>
              <a:tr h="766436">
                <a:tc>
                  <a:txBody>
                    <a:bodyPr/>
                    <a:lstStyle/>
                    <a:p>
                      <a:r>
                        <a:rPr lang="en-IN" sz="1200"/>
                        <a:t>5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4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40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Female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2021-11-03 02:30:00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2021-11-03 08:30:00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6.0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0.51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28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25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52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3.0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50.0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5.0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Yes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6329681"/>
                  </a:ext>
                </a:extLst>
              </a:tr>
              <a:tr h="766436">
                <a:tc>
                  <a:txBody>
                    <a:bodyPr/>
                    <a:lstStyle/>
                    <a:p>
                      <a:r>
                        <a:rPr lang="en-IN" sz="1200"/>
                        <a:t>6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5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57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Male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2021-03-13 01:00:00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2021-03-13 09:00:00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8.0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0.76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27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55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18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3.0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0.0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3.0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No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3.0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7531924"/>
                  </a:ext>
                </a:extLst>
              </a:tr>
              <a:tr h="766436">
                <a:tc>
                  <a:txBody>
                    <a:bodyPr/>
                    <a:lstStyle/>
                    <a:p>
                      <a:r>
                        <a:rPr lang="en-IN" sz="1200"/>
                        <a:t>7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6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36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Female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2021-07-01 21:00:00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2021-07-01 04:30:00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7.5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0.9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28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60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17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0.0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Na</a:t>
                      </a:r>
                      <a:endParaRPr lang="en-IN" sz="1200" dirty="0"/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0.0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No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1.0</a:t>
                      </a:r>
                    </a:p>
                  </a:txBody>
                  <a:tcPr marL="33714" marR="33714" marT="16857" marB="16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35057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0748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196900"/>
            <a:ext cx="11057663" cy="604289"/>
          </a:xfrm>
          <a:noFill/>
        </p:spPr>
        <p:txBody>
          <a:bodyPr>
            <a:noAutofit/>
          </a:bodyPr>
          <a:lstStyle/>
          <a:p>
            <a:r>
              <a:rPr lang="en-US" dirty="0" smtClean="0">
                <a:latin typeface="+mn-lt"/>
              </a:rPr>
              <a:t>Code: </a:t>
            </a:r>
            <a:r>
              <a:rPr lang="en-US" dirty="0" smtClean="0">
                <a:latin typeface="+mn-lt"/>
              </a:rPr>
              <a:t>Sleep Analysis Model (Overview)</a:t>
            </a:r>
            <a:endParaRPr lang="en-US" dirty="0">
              <a:latin typeface="+mn-l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9986" y="2266788"/>
            <a:ext cx="6401693" cy="232442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18216" y="2699658"/>
            <a:ext cx="1105989" cy="14804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6859857" y="3236215"/>
            <a:ext cx="1105989" cy="14804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8019981" y="3236215"/>
            <a:ext cx="1105989" cy="14804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8279825" y="3236215"/>
            <a:ext cx="1105989" cy="14804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6833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196900"/>
            <a:ext cx="11057663" cy="604289"/>
          </a:xfrm>
          <a:noFill/>
        </p:spPr>
        <p:txBody>
          <a:bodyPr>
            <a:noAutofit/>
          </a:bodyPr>
          <a:lstStyle/>
          <a:p>
            <a:r>
              <a:rPr lang="en-US" dirty="0" smtClean="0">
                <a:latin typeface="+mn-lt"/>
              </a:rPr>
              <a:t>Finding Outliers: </a:t>
            </a:r>
            <a:r>
              <a:rPr lang="en-US" dirty="0" smtClean="0">
                <a:latin typeface="+mn-lt"/>
              </a:rPr>
              <a:t>Sleep Analysis Model (Overview)</a:t>
            </a:r>
            <a:endParaRPr lang="en-US" dirty="0">
              <a:latin typeface="+mn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18216" y="2699658"/>
            <a:ext cx="1105989" cy="14804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6859857" y="3236215"/>
            <a:ext cx="1105989" cy="14804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8019981" y="3236215"/>
            <a:ext cx="1105989" cy="14804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774441" y="1065071"/>
            <a:ext cx="93306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This Scatter-plot shows us the relation between “Exercise Frequency”  and  “Sleep Efficiency”.</a:t>
            </a:r>
          </a:p>
          <a:p>
            <a:r>
              <a:rPr lang="en-US" dirty="0" smtClean="0"/>
              <a:t>The graph can be interpreted as higher the exercise frequency, higher the sleep efficiency.</a:t>
            </a:r>
          </a:p>
          <a:p>
            <a:r>
              <a:rPr lang="en-US" dirty="0" smtClean="0"/>
              <a:t>The data-point that shows otherwise, needs to be dropped.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197" y="2118049"/>
            <a:ext cx="5052999" cy="4555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598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196900"/>
            <a:ext cx="11057663" cy="604289"/>
          </a:xfrm>
          <a:noFill/>
        </p:spPr>
        <p:txBody>
          <a:bodyPr>
            <a:noAutofit/>
          </a:bodyPr>
          <a:lstStyle/>
          <a:p>
            <a:r>
              <a:rPr lang="en-US" dirty="0" smtClean="0">
                <a:latin typeface="+mn-lt"/>
              </a:rPr>
              <a:t>Finding Outliers: </a:t>
            </a:r>
            <a:r>
              <a:rPr lang="en-US" dirty="0" smtClean="0">
                <a:latin typeface="+mn-lt"/>
              </a:rPr>
              <a:t>Sleep Analysis Model (Overview)</a:t>
            </a:r>
            <a:endParaRPr lang="en-US" dirty="0">
              <a:latin typeface="+mn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18216" y="2699658"/>
            <a:ext cx="1105989" cy="14804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6859857" y="3236215"/>
            <a:ext cx="1105989" cy="14804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8019981" y="3236215"/>
            <a:ext cx="1105989" cy="14804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861" y="1485933"/>
            <a:ext cx="5890568" cy="51108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4441" y="1065071"/>
            <a:ext cx="9330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This Scatter-plot shows us the relation between “Alcohol Consumption”  and  “Sleep Efficiency”.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8943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196900"/>
            <a:ext cx="11057663" cy="604289"/>
          </a:xfrm>
          <a:noFill/>
        </p:spPr>
        <p:txBody>
          <a:bodyPr>
            <a:noAutofit/>
          </a:bodyPr>
          <a:lstStyle/>
          <a:p>
            <a:r>
              <a:rPr lang="en-US" dirty="0" smtClean="0">
                <a:latin typeface="+mn-lt"/>
              </a:rPr>
              <a:t>Data Cleaning</a:t>
            </a:r>
            <a:r>
              <a:rPr lang="en-US" dirty="0" smtClean="0">
                <a:latin typeface="+mn-lt"/>
              </a:rPr>
              <a:t>: Handling the missing Values</a:t>
            </a:r>
            <a:endParaRPr lang="en-US" dirty="0">
              <a:latin typeface="+mn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18216" y="2699658"/>
            <a:ext cx="1105989" cy="14804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6859857" y="3236215"/>
            <a:ext cx="1105989" cy="14804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8019981" y="3236215"/>
            <a:ext cx="1105989" cy="14804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774441" y="1065071"/>
            <a:ext cx="9330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next step is to remove any missing Values and filling them with a default value.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669" y="1698285"/>
            <a:ext cx="6941976" cy="4998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518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196901"/>
            <a:ext cx="11205709" cy="596202"/>
          </a:xfrm>
          <a:noFill/>
        </p:spPr>
        <p:txBody>
          <a:bodyPr>
            <a:noAutofit/>
          </a:bodyPr>
          <a:lstStyle/>
          <a:p>
            <a:r>
              <a:rPr lang="en-US" dirty="0" smtClean="0">
                <a:latin typeface="+mn-lt"/>
              </a:rPr>
              <a:t>Feature Engineering</a:t>
            </a:r>
            <a:r>
              <a:rPr lang="en-US" dirty="0" smtClean="0">
                <a:latin typeface="+mn-lt"/>
              </a:rPr>
              <a:t>: </a:t>
            </a:r>
            <a:r>
              <a:rPr lang="en-US" dirty="0" err="1" smtClean="0">
                <a:latin typeface="+mn-lt"/>
              </a:rPr>
              <a:t>HeatMap</a:t>
            </a:r>
            <a:endParaRPr lang="en-US" dirty="0">
              <a:latin typeface="+mn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18216" y="2699658"/>
            <a:ext cx="1105989" cy="14804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6859857" y="3236215"/>
            <a:ext cx="1105989" cy="14804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8019981" y="3236215"/>
            <a:ext cx="1105989" cy="14804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5836" y="1630819"/>
            <a:ext cx="6736703" cy="50103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 flipH="1">
            <a:off x="1118739" y="957136"/>
            <a:ext cx="91915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</a:t>
            </a:r>
            <a:r>
              <a:rPr lang="en-US" dirty="0" err="1" smtClean="0"/>
              <a:t>HeatMap</a:t>
            </a:r>
            <a:r>
              <a:rPr lang="en-US" dirty="0" smtClean="0"/>
              <a:t> shows that the correlation coefficient between “light sleep %” and “Deep Sleep %” is 0.99, and thus one needs to be dropped.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855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196900"/>
            <a:ext cx="11057663" cy="604289"/>
          </a:xfrm>
          <a:noFill/>
        </p:spPr>
        <p:txBody>
          <a:bodyPr>
            <a:noAutofit/>
          </a:bodyPr>
          <a:lstStyle/>
          <a:p>
            <a:r>
              <a:rPr lang="en-US" dirty="0">
                <a:latin typeface="+mn-lt"/>
              </a:rPr>
              <a:t>Feature Engineering: </a:t>
            </a:r>
            <a:r>
              <a:rPr lang="en-US" dirty="0" err="1" smtClean="0">
                <a:latin typeface="+mn-lt"/>
              </a:rPr>
              <a:t>HeatMap</a:t>
            </a:r>
            <a:endParaRPr lang="en-US" dirty="0">
              <a:latin typeface="+mn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18216" y="2699658"/>
            <a:ext cx="1105989" cy="14804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6859857" y="3236215"/>
            <a:ext cx="1105989" cy="14804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8019981" y="3236215"/>
            <a:ext cx="1105989" cy="14804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3429"/>
            <a:ext cx="12192000" cy="5914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896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45233"/>
            <a:ext cx="11775231" cy="540284"/>
          </a:xfrm>
          <a:noFill/>
        </p:spPr>
        <p:txBody>
          <a:bodyPr>
            <a:noAutofit/>
          </a:bodyPr>
          <a:lstStyle/>
          <a:p>
            <a:r>
              <a:rPr lang="en-US" dirty="0" smtClean="0">
                <a:latin typeface="+mn-lt"/>
              </a:rPr>
              <a:t>Feature Engineering: impact of gender on sleep </a:t>
            </a:r>
            <a:r>
              <a:rPr lang="en-US" dirty="0">
                <a:latin typeface="+mn-lt"/>
              </a:rPr>
              <a:t>e</a:t>
            </a:r>
            <a:r>
              <a:rPr lang="en-US" dirty="0" smtClean="0">
                <a:latin typeface="+mn-lt"/>
              </a:rPr>
              <a:t>fficiency</a:t>
            </a:r>
            <a:endParaRPr lang="en-US" dirty="0">
              <a:latin typeface="+mn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18216" y="2699658"/>
            <a:ext cx="1105989" cy="14804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6859857" y="3236215"/>
            <a:ext cx="1105989" cy="14804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8019981" y="3236215"/>
            <a:ext cx="1105989" cy="14804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6849" y="1532553"/>
            <a:ext cx="5839640" cy="51248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9249" y="1024369"/>
            <a:ext cx="12000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box plot shows that gender does not significantly affect sleep efficiency and can therefore be dropped as a variable.</a:t>
            </a:r>
          </a:p>
        </p:txBody>
      </p:sp>
    </p:spTree>
    <p:extLst>
      <p:ext uri="{BB962C8B-B14F-4D97-AF65-F5344CB8AC3E}">
        <p14:creationId xmlns:p14="http://schemas.microsoft.com/office/powerpoint/2010/main" val="2210890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816" y="131586"/>
            <a:ext cx="11943184" cy="604289"/>
          </a:xfrm>
          <a:noFill/>
        </p:spPr>
        <p:txBody>
          <a:bodyPr>
            <a:noAutofit/>
          </a:bodyPr>
          <a:lstStyle/>
          <a:p>
            <a:r>
              <a:rPr lang="en-US" dirty="0">
                <a:latin typeface="+mn-lt"/>
              </a:rPr>
              <a:t>Feature Engineering: impact of gender on sleep </a:t>
            </a:r>
            <a:r>
              <a:rPr lang="en-US" dirty="0" smtClean="0">
                <a:latin typeface="+mn-lt"/>
              </a:rPr>
              <a:t>efficiency.</a:t>
            </a:r>
            <a:endParaRPr lang="en-US" dirty="0">
              <a:latin typeface="+mn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18216" y="2699658"/>
            <a:ext cx="1105989" cy="14804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6859857" y="3236215"/>
            <a:ext cx="1105989" cy="14804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8019981" y="3236215"/>
            <a:ext cx="1105989" cy="14804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438539" y="1040769"/>
            <a:ext cx="11344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This can also be verified by conducting a T- test , the p-value is high and therefore, gender doesn’t affect Sleep Efficiency.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8920" y="2170514"/>
            <a:ext cx="8776370" cy="3409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354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196900"/>
            <a:ext cx="11057663" cy="604289"/>
          </a:xfrm>
          <a:noFill/>
        </p:spPr>
        <p:txBody>
          <a:bodyPr>
            <a:noAutofit/>
          </a:bodyPr>
          <a:lstStyle/>
          <a:p>
            <a:r>
              <a:rPr lang="en-US" dirty="0" smtClean="0">
                <a:latin typeface="+mn-lt"/>
              </a:rPr>
              <a:t>Preparing Pipeline: </a:t>
            </a:r>
            <a:r>
              <a:rPr lang="en-US" dirty="0" smtClean="0">
                <a:latin typeface="+mn-lt"/>
              </a:rPr>
              <a:t>Sleep Analysis Model (Overview)</a:t>
            </a:r>
            <a:endParaRPr lang="en-US" dirty="0">
              <a:latin typeface="+mn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9767" y="1291400"/>
            <a:ext cx="6049219" cy="46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37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3894" y="196900"/>
            <a:ext cx="11244631" cy="604289"/>
          </a:xfrm>
          <a:noFill/>
        </p:spPr>
        <p:txBody>
          <a:bodyPr>
            <a:noAutofit/>
          </a:bodyPr>
          <a:lstStyle/>
          <a:p>
            <a:r>
              <a:rPr lang="en-US" dirty="0" smtClean="0">
                <a:latin typeface="+mn-lt"/>
              </a:rPr>
              <a:t>Splitting and training</a:t>
            </a:r>
            <a:r>
              <a:rPr lang="en-US" dirty="0" smtClean="0">
                <a:latin typeface="+mn-lt"/>
              </a:rPr>
              <a:t>: </a:t>
            </a:r>
            <a:r>
              <a:rPr lang="en-US" dirty="0" smtClean="0">
                <a:latin typeface="+mn-lt"/>
              </a:rPr>
              <a:t>Sleep Analysis Model (Overview)</a:t>
            </a:r>
            <a:endParaRPr lang="en-US" dirty="0">
              <a:latin typeface="+mn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0421" y="1623161"/>
            <a:ext cx="6873836" cy="48619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flipH="1">
            <a:off x="1240037" y="1184988"/>
            <a:ext cx="9826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Using </a:t>
            </a:r>
            <a:r>
              <a:rPr lang="en-US" dirty="0" err="1" smtClean="0"/>
              <a:t>RandomForestRegressor</a:t>
            </a:r>
            <a:r>
              <a:rPr lang="en-US" dirty="0" smtClean="0"/>
              <a:t> and </a:t>
            </a:r>
            <a:r>
              <a:rPr lang="en-US" dirty="0" err="1" smtClean="0"/>
              <a:t>GridSearchCV</a:t>
            </a:r>
            <a:r>
              <a:rPr lang="en-US" dirty="0" smtClean="0"/>
              <a:t> , the MSE value is 0.0265.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606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3894" y="196900"/>
            <a:ext cx="11244631" cy="604289"/>
          </a:xfrm>
          <a:noFill/>
        </p:spPr>
        <p:txBody>
          <a:bodyPr>
            <a:noAutofit/>
          </a:bodyPr>
          <a:lstStyle/>
          <a:p>
            <a:r>
              <a:rPr lang="en-US" dirty="0" smtClean="0">
                <a:latin typeface="+mn-lt"/>
              </a:rPr>
              <a:t>Splitting and training</a:t>
            </a:r>
            <a:r>
              <a:rPr lang="en-US" dirty="0" smtClean="0">
                <a:latin typeface="+mn-lt"/>
              </a:rPr>
              <a:t>: </a:t>
            </a:r>
            <a:r>
              <a:rPr lang="en-US" dirty="0" smtClean="0">
                <a:latin typeface="+mn-lt"/>
              </a:rPr>
              <a:t>Sleep Analysis Model (Overview)</a:t>
            </a:r>
            <a:endParaRPr lang="en-US" dirty="0">
              <a:latin typeface="+mn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279" y="1983964"/>
            <a:ext cx="10127859" cy="44448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46245" y="1207910"/>
            <a:ext cx="10162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Using Linear Regression Model, the lower MSE value implies that LR is a better fit for our Model.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384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196900"/>
            <a:ext cx="11057663" cy="604289"/>
          </a:xfrm>
          <a:noFill/>
        </p:spPr>
        <p:txBody>
          <a:bodyPr>
            <a:noAutofit/>
          </a:bodyPr>
          <a:lstStyle/>
          <a:p>
            <a:r>
              <a:rPr lang="en-US" dirty="0" smtClean="0">
                <a:latin typeface="+mn-lt"/>
              </a:rPr>
              <a:t>Using </a:t>
            </a:r>
            <a:r>
              <a:rPr lang="en-US" dirty="0" err="1" smtClean="0">
                <a:latin typeface="+mn-lt"/>
              </a:rPr>
              <a:t>Joblib</a:t>
            </a:r>
            <a:r>
              <a:rPr lang="en-US" dirty="0" smtClean="0">
                <a:latin typeface="+mn-lt"/>
              </a:rPr>
              <a:t>: </a:t>
            </a:r>
            <a:r>
              <a:rPr lang="en-US" dirty="0" smtClean="0">
                <a:latin typeface="+mn-lt"/>
              </a:rPr>
              <a:t>Sleep Analysis Model (Overview)</a:t>
            </a:r>
            <a:endParaRPr lang="en-US" dirty="0">
              <a:latin typeface="+mn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0710" y="3011134"/>
            <a:ext cx="4649871" cy="16324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129004"/>
            <a:ext cx="10694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Using </a:t>
            </a:r>
            <a:r>
              <a:rPr lang="en-US" dirty="0" err="1" smtClean="0"/>
              <a:t>joblib</a:t>
            </a:r>
            <a:r>
              <a:rPr lang="en-US" dirty="0" smtClean="0"/>
              <a:t> to save our Trained Sleep Analysis Model.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908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7" descr="Data Points Digital background">
            <a:extLst>
              <a:ext uri="{FF2B5EF4-FFF2-40B4-BE49-F238E27FC236}">
                <a16:creationId xmlns:a16="http://schemas.microsoft.com/office/drawing/2014/main" id="{1358CD3B-43A8-5BF7-2E60-B0563F068D1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A84D4AF-8D29-5A55-F3F8-1E928E3B08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+mn-lt"/>
              </a:rPr>
              <a:t>UI Design using PyQt5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55514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196900"/>
            <a:ext cx="11057663" cy="604289"/>
          </a:xfrm>
          <a:noFill/>
        </p:spPr>
        <p:txBody>
          <a:bodyPr>
            <a:noAutofit/>
          </a:bodyPr>
          <a:lstStyle/>
          <a:p>
            <a:r>
              <a:rPr lang="en-US" dirty="0" smtClean="0">
                <a:latin typeface="+mn-lt"/>
              </a:rPr>
              <a:t>Code: UI Design by PyQt5 (Overview)</a:t>
            </a:r>
            <a:endParaRPr lang="en-US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568" y="1933303"/>
            <a:ext cx="10562249" cy="480087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8277" y="1140824"/>
            <a:ext cx="4772422" cy="600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611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196900"/>
            <a:ext cx="11057663" cy="604289"/>
          </a:xfrm>
          <a:noFill/>
        </p:spPr>
        <p:txBody>
          <a:bodyPr>
            <a:noAutofit/>
          </a:bodyPr>
          <a:lstStyle/>
          <a:p>
            <a:r>
              <a:rPr lang="en-US" dirty="0" smtClean="0">
                <a:latin typeface="+mn-lt"/>
              </a:rPr>
              <a:t>Code: UI Design by PyQt5 (Overview)</a:t>
            </a:r>
            <a:endParaRPr lang="en-US" dirty="0">
              <a:latin typeface="+mn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0857"/>
            <a:ext cx="12204575" cy="586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652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196900"/>
            <a:ext cx="11057663" cy="604289"/>
          </a:xfrm>
          <a:noFill/>
        </p:spPr>
        <p:txBody>
          <a:bodyPr>
            <a:noAutofit/>
          </a:bodyPr>
          <a:lstStyle/>
          <a:p>
            <a:r>
              <a:rPr lang="en-US" dirty="0" smtClean="0">
                <a:latin typeface="+mn-lt"/>
              </a:rPr>
              <a:t>Code: UI Design by PyQt5 (Overview)</a:t>
            </a:r>
            <a:endParaRPr lang="en-US" dirty="0">
              <a:latin typeface="+mn-l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0840" y="2717075"/>
            <a:ext cx="6790930" cy="156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367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196900"/>
            <a:ext cx="11057663" cy="604289"/>
          </a:xfrm>
          <a:noFill/>
        </p:spPr>
        <p:txBody>
          <a:bodyPr>
            <a:noAutofit/>
          </a:bodyPr>
          <a:lstStyle/>
          <a:p>
            <a:r>
              <a:rPr lang="en-US" dirty="0" smtClean="0">
                <a:latin typeface="+mn-lt"/>
              </a:rPr>
              <a:t>Code: UI Design by PyQt5 (Overview)</a:t>
            </a:r>
            <a:endParaRPr lang="en-US" dirty="0">
              <a:latin typeface="+mn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3829" y="1418944"/>
            <a:ext cx="6043748" cy="4637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843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196900"/>
            <a:ext cx="11057663" cy="604289"/>
          </a:xfrm>
          <a:noFill/>
        </p:spPr>
        <p:txBody>
          <a:bodyPr>
            <a:noAutofit/>
          </a:bodyPr>
          <a:lstStyle/>
          <a:p>
            <a:r>
              <a:rPr lang="en-US" dirty="0" smtClean="0">
                <a:latin typeface="+mn-lt"/>
              </a:rPr>
              <a:t>Code: UI Design by PyQt5 (Overview)</a:t>
            </a:r>
            <a:endParaRPr lang="en-US" dirty="0">
              <a:latin typeface="+mn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2138" y="1491209"/>
            <a:ext cx="5590902" cy="4697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450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196900"/>
            <a:ext cx="11057663" cy="604289"/>
          </a:xfrm>
          <a:noFill/>
        </p:spPr>
        <p:txBody>
          <a:bodyPr>
            <a:noAutofit/>
          </a:bodyPr>
          <a:lstStyle/>
          <a:p>
            <a:r>
              <a:rPr lang="en-US" dirty="0" smtClean="0">
                <a:latin typeface="+mn-lt"/>
              </a:rPr>
              <a:t>Code: UI Design by PyQt5 (Overview)</a:t>
            </a:r>
            <a:endParaRPr lang="en-US" dirty="0">
              <a:latin typeface="+mn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437" y="2038156"/>
            <a:ext cx="11159624" cy="36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722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196900"/>
            <a:ext cx="11057663" cy="604289"/>
          </a:xfrm>
          <a:noFill/>
        </p:spPr>
        <p:txBody>
          <a:bodyPr>
            <a:noAutofit/>
          </a:bodyPr>
          <a:lstStyle/>
          <a:p>
            <a:r>
              <a:rPr lang="en-US" dirty="0" smtClean="0">
                <a:latin typeface="+mn-lt"/>
              </a:rPr>
              <a:t>Code: UI Design by PyQt5 (Overview)</a:t>
            </a:r>
            <a:endParaRPr lang="en-US" dirty="0">
              <a:latin typeface="+mn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3656" y="2034969"/>
            <a:ext cx="4990084" cy="2554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03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196900"/>
            <a:ext cx="11057663" cy="604289"/>
          </a:xfrm>
          <a:noFill/>
        </p:spPr>
        <p:txBody>
          <a:bodyPr>
            <a:noAutofit/>
          </a:bodyPr>
          <a:lstStyle/>
          <a:p>
            <a:r>
              <a:rPr lang="en-US" dirty="0" smtClean="0">
                <a:latin typeface="+mn-lt"/>
              </a:rPr>
              <a:t>Execution of the Code</a:t>
            </a:r>
            <a:endParaRPr lang="en-US" dirty="0">
              <a:latin typeface="+mn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173" y="981347"/>
            <a:ext cx="7820892" cy="5560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615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196900"/>
            <a:ext cx="11057663" cy="604289"/>
          </a:xfrm>
          <a:noFill/>
        </p:spPr>
        <p:txBody>
          <a:bodyPr>
            <a:noAutofit/>
          </a:bodyPr>
          <a:lstStyle/>
          <a:p>
            <a:r>
              <a:rPr lang="en-US" dirty="0" smtClean="0">
                <a:latin typeface="+mn-lt"/>
              </a:rPr>
              <a:t>Execution of the Code</a:t>
            </a:r>
            <a:endParaRPr lang="en-US" dirty="0">
              <a:latin typeface="+mn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6367" y="927156"/>
            <a:ext cx="8020080" cy="571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784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196900"/>
            <a:ext cx="11057663" cy="604289"/>
          </a:xfrm>
          <a:noFill/>
        </p:spPr>
        <p:txBody>
          <a:bodyPr>
            <a:noAutofit/>
          </a:bodyPr>
          <a:lstStyle/>
          <a:p>
            <a:r>
              <a:rPr lang="en-US" dirty="0" smtClean="0">
                <a:latin typeface="+mn-lt"/>
              </a:rPr>
              <a:t>Execution of the Code</a:t>
            </a:r>
            <a:endParaRPr lang="en-US" dirty="0">
              <a:latin typeface="+mn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5955" y="1029600"/>
            <a:ext cx="7668902" cy="5437482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7872549" y="1288869"/>
            <a:ext cx="2142308" cy="63572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Arrow Connector 8"/>
          <p:cNvCxnSpPr>
            <a:endCxn id="5" idx="4"/>
          </p:cNvCxnSpPr>
          <p:nvPr/>
        </p:nvCxnSpPr>
        <p:spPr>
          <a:xfrm flipV="1">
            <a:off x="8786949" y="1924594"/>
            <a:ext cx="156754" cy="41278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5885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196900"/>
            <a:ext cx="11057663" cy="604289"/>
          </a:xfrm>
          <a:noFill/>
        </p:spPr>
        <p:txBody>
          <a:bodyPr>
            <a:noAutofit/>
          </a:bodyPr>
          <a:lstStyle/>
          <a:p>
            <a:r>
              <a:rPr lang="en-US" dirty="0" smtClean="0">
                <a:latin typeface="+mn-lt"/>
              </a:rPr>
              <a:t>Execution of the Code</a:t>
            </a:r>
            <a:endParaRPr lang="en-US" dirty="0">
              <a:latin typeface="+mn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3748" y="1907177"/>
            <a:ext cx="5628041" cy="302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170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97783A8-901D-4F73-81D7-AA6841BEB3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F342EE1-43E5-4AFB-895D-B61B9656DC14}">
  <ds:schemaRefs>
    <ds:schemaRef ds:uri="http://schemas.microsoft.com/office/2006/documentManagement/types"/>
    <ds:schemaRef ds:uri="http://schemas.microsoft.com/sharepoint/v3"/>
    <ds:schemaRef ds:uri="16c05727-aa75-4e4a-9b5f-8a80a1165891"/>
    <ds:schemaRef ds:uri="230e9df3-be65-4c73-a93b-d1236ebd677e"/>
    <ds:schemaRef ds:uri="http://schemas.microsoft.com/office/2006/metadata/properties"/>
    <ds:schemaRef ds:uri="http://purl.org/dc/terms/"/>
    <ds:schemaRef ds:uri="http://www.w3.org/XML/1998/namespace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71af3243-3dd4-4a8d-8c0d-dd76da1f02a5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2F49CD38-5B57-4682-9FCE-B9174068D0A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3DFloatVTI</Template>
  <TotalTime>3665</TotalTime>
  <Words>731</Words>
  <Application>Microsoft Office PowerPoint</Application>
  <PresentationFormat>Widescreen</PresentationFormat>
  <Paragraphs>200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Arial monospaced for SAP</vt:lpstr>
      <vt:lpstr>Calibri</vt:lpstr>
      <vt:lpstr>Gill Sans MT</vt:lpstr>
      <vt:lpstr>Walbaum Display</vt:lpstr>
      <vt:lpstr>3DFloatVTI</vt:lpstr>
      <vt:lpstr>Mini-Project CS3PC04</vt:lpstr>
      <vt:lpstr>Implementation of Smart Vitality Tracker with AI</vt:lpstr>
      <vt:lpstr>Technologies</vt:lpstr>
      <vt:lpstr>Dataset Sample (Sleep Efficiency)</vt:lpstr>
      <vt:lpstr>Code: Sleep Analysis Model (Overview)</vt:lpstr>
      <vt:lpstr>Finding Outliers: Sleep Analysis Model (Overview)</vt:lpstr>
      <vt:lpstr>Finding Outliers: Sleep Analysis Model (Overview)</vt:lpstr>
      <vt:lpstr>Data Cleaning: Handling the missing Values</vt:lpstr>
      <vt:lpstr>Feature Engineering: HeatMap</vt:lpstr>
      <vt:lpstr>Feature Engineering: HeatMap</vt:lpstr>
      <vt:lpstr>Feature Engineering: impact of gender on sleep efficiency</vt:lpstr>
      <vt:lpstr>Feature Engineering: impact of gender on sleep efficiency.</vt:lpstr>
      <vt:lpstr>Preparing Pipeline: Sleep Analysis Model (Overview)</vt:lpstr>
      <vt:lpstr>Splitting and training: Sleep Analysis Model (Overview)</vt:lpstr>
      <vt:lpstr>Splitting and training: Sleep Analysis Model (Overview)</vt:lpstr>
      <vt:lpstr>Using Joblib: Sleep Analysis Model (Overview)</vt:lpstr>
      <vt:lpstr>UI Design using PyQt5</vt:lpstr>
      <vt:lpstr>Code: UI Design by PyQt5 (Overview)</vt:lpstr>
      <vt:lpstr>Code: UI Design by PyQt5 (Overview)</vt:lpstr>
      <vt:lpstr>Code: UI Design by PyQt5 (Overview)</vt:lpstr>
      <vt:lpstr>Code: UI Design by PyQt5 (Overview)</vt:lpstr>
      <vt:lpstr>Code: UI Design by PyQt5 (Overview)</vt:lpstr>
      <vt:lpstr>Code: UI Design by PyQt5 (Overview)</vt:lpstr>
      <vt:lpstr>Code: UI Design by PyQt5 (Overview)</vt:lpstr>
      <vt:lpstr>Execution of the Code</vt:lpstr>
      <vt:lpstr>Execution of the Code</vt:lpstr>
      <vt:lpstr>Execution of the Code</vt:lpstr>
      <vt:lpstr>Execution of the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presentation</dc:title>
  <dc:creator>generic_alias</dc:creator>
  <cp:lastModifiedBy>akash jaisinghani</cp:lastModifiedBy>
  <cp:revision>52</cp:revision>
  <dcterms:created xsi:type="dcterms:W3CDTF">2023-12-19T21:03:45Z</dcterms:created>
  <dcterms:modified xsi:type="dcterms:W3CDTF">2025-03-22T11:25:38Z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