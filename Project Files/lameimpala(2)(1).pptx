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9" r:id="rId6"/>
    <p:sldId id="271" r:id="rId7"/>
    <p:sldId id="273" r:id="rId8"/>
    <p:sldId id="272" r:id="rId9"/>
    <p:sldId id="274" r:id="rId10"/>
    <p:sldId id="27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94C"/>
    <a:srgbClr val="3F3F3F"/>
    <a:srgbClr val="014067"/>
    <a:srgbClr val="014E7D"/>
    <a:srgbClr val="013657"/>
    <a:srgbClr val="01456F"/>
    <a:srgbClr val="014B79"/>
    <a:srgbClr val="0937C9"/>
    <a:srgbClr val="002774"/>
    <a:srgbClr val="929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74" autoAdjust="0"/>
  </p:normalViewPr>
  <p:slideViewPr>
    <p:cSldViewPr snapToGrid="0" showGuides="1">
      <p:cViewPr varScale="1">
        <p:scale>
          <a:sx n="87" d="100"/>
          <a:sy n="87" d="100"/>
        </p:scale>
        <p:origin x="528" y="67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BFC85-49E4-447A-A7E3-16153CB2FE2A}" type="datetimeFigureOut">
              <a:rPr lang="en-US" smtClean="0"/>
              <a:t>1/28/2025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072A3-100F-40A9-915F-8D2D9E6962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1B50E-4C60-4F9E-B773-52059170945B}" type="datetimeFigureOut">
              <a:rPr lang="en-US" noProof="0" smtClean="0"/>
              <a:t>1/28/2025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30CFA-805A-4FD3-B3A0-DAAA5993DA1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3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Title 1" title="Title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45720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2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9" name="Title 1" title="Title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24A5A7-66A2-7F43-9A7A-5E13F74F8C0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8" name="Content Placeholder 3" title="Bullet Point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0" name="Content Placeholder 5" title="Bullet Point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Text Placeholder 4" title="Subtitle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FB39FF5-7AF5-4963-9346-2640496A3302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Diagonal Stripe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4" name="Text Placeholder 4" title="Subtitle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here</a:t>
            </a:r>
          </a:p>
        </p:txBody>
      </p:sp>
      <p:sp>
        <p:nvSpPr>
          <p:cNvPr id="20" name="Chart Placeholder 2" title="Chart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smtClean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9EF72CE-34D2-4581-98D2-89218BC1B4E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7" name="Text Placeholder 4" title="Subtitle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5" name="Table Placeholder 11" title="Table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 smtClean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AFD81C-E6E5-4292-828B-BD147E6DEA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Picture Placeholder 31" title="Image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 title="Title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Add Caption Here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0A6720D-B182-4290-BD91-1D1E4D9306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Phone Number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Email 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Company Website</a:t>
            </a:r>
          </a:p>
        </p:txBody>
      </p:sp>
      <p:sp>
        <p:nvSpPr>
          <p:cNvPr id="14" name="Shape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5" name="Shape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9" name="Shape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0" name="Shape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92047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917915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745963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4737700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6069503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006597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08403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7A5C384-78D0-4088-9411-AB6790574770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A2D954-332B-47D0-BE9F-0F2BDE7795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6131" y="1979613"/>
            <a:ext cx="9139738" cy="2898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53408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B3FE-9015-40FD-A870-D81B5A86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8699F50C-BE38-4BD0-BA84-9B090E1F2B9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09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692" r:id="rId17"/>
    <p:sldLayoutId id="2147483697" r:id="rId18"/>
    <p:sldLayoutId id="2147483716" r:id="rId19"/>
    <p:sldLayoutId id="214748367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6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57F6BCE-75BB-4ECD-BEA5-21C36A9CC0E9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398" y="1598141"/>
            <a:ext cx="4428523" cy="3674075"/>
          </a:xfrm>
        </p:spPr>
      </p:pic>
      <p:grpSp>
        <p:nvGrpSpPr>
          <p:cNvPr id="19" name="Group 18" descr="Company name and logo group of information&#10;">
            <a:extLst>
              <a:ext uri="{FF2B5EF4-FFF2-40B4-BE49-F238E27FC236}">
                <a16:creationId xmlns:a16="http://schemas.microsoft.com/office/drawing/2014/main" id="{5B07AEC6-55AE-4E18-BEEA-A226E87C7897}"/>
              </a:ext>
            </a:extLst>
          </p:cNvPr>
          <p:cNvGrpSpPr/>
          <p:nvPr/>
        </p:nvGrpSpPr>
        <p:grpSpPr>
          <a:xfrm>
            <a:off x="2939374" y="2855631"/>
            <a:ext cx="483785" cy="1125606"/>
            <a:chOff x="2939374" y="2902286"/>
            <a:chExt cx="483785" cy="112560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DF2E04-7632-4FED-B0BF-8FB243D982A3}"/>
                </a:ext>
              </a:extLst>
            </p:cNvPr>
            <p:cNvSpPr txBox="1"/>
            <p:nvPr/>
          </p:nvSpPr>
          <p:spPr>
            <a:xfrm>
              <a:off x="3238428" y="2902286"/>
              <a:ext cx="184731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6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9A1C71-347B-44A9-88B4-692D9731582D}"/>
                </a:ext>
              </a:extLst>
            </p:cNvPr>
            <p:cNvSpPr txBox="1"/>
            <p:nvPr/>
          </p:nvSpPr>
          <p:spPr>
            <a:xfrm>
              <a:off x="2939374" y="3720115"/>
              <a:ext cx="1847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Mini-Project</a:t>
            </a:r>
            <a:endParaRPr lang="en-US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214" y="3640998"/>
            <a:ext cx="4465781" cy="510872"/>
          </a:xfrm>
        </p:spPr>
        <p:txBody>
          <a:bodyPr/>
          <a:lstStyle/>
          <a:p>
            <a:r>
              <a:rPr lang="en-US" dirty="0" smtClean="0"/>
              <a:t>CS3PC04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375721" y="5033319"/>
            <a:ext cx="58162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monospaced for SAP" panose="020B0609020202030204" pitchFamily="49" charset="0"/>
              </a:rPr>
              <a:t>By:</a:t>
            </a:r>
          </a:p>
          <a:p>
            <a:r>
              <a:rPr lang="en-US" dirty="0" smtClean="0">
                <a:latin typeface="Arial monospaced for SAP" panose="020B0609020202030204" pitchFamily="49" charset="0"/>
              </a:rPr>
              <a:t>Aditya Raj Singh </a:t>
            </a:r>
            <a:r>
              <a:rPr lang="en-US" dirty="0" err="1" smtClean="0">
                <a:latin typeface="Arial monospaced for SAP" panose="020B0609020202030204" pitchFamily="49" charset="0"/>
              </a:rPr>
              <a:t>Tomar</a:t>
            </a:r>
            <a:r>
              <a:rPr lang="en-US" dirty="0" smtClean="0">
                <a:latin typeface="Arial monospaced for SAP" panose="020B0609020202030204" pitchFamily="49" charset="0"/>
              </a:rPr>
              <a:t>       EN22CS301062</a:t>
            </a:r>
          </a:p>
          <a:p>
            <a:r>
              <a:rPr lang="en-US" dirty="0" err="1" smtClean="0">
                <a:latin typeface="Arial monospaced for SAP" panose="020B0609020202030204" pitchFamily="49" charset="0"/>
              </a:rPr>
              <a:t>Akash</a:t>
            </a:r>
            <a:r>
              <a:rPr lang="en-US" dirty="0" smtClean="0">
                <a:latin typeface="Arial monospaced for SAP" panose="020B0609020202030204" pitchFamily="49" charset="0"/>
              </a:rPr>
              <a:t> Ghosh                  EN22CS301082</a:t>
            </a:r>
          </a:p>
          <a:p>
            <a:r>
              <a:rPr lang="en-US" dirty="0" err="1" smtClean="0">
                <a:latin typeface="Arial monospaced for SAP" panose="020B0609020202030204" pitchFamily="49" charset="0"/>
              </a:rPr>
              <a:t>Akash</a:t>
            </a:r>
            <a:r>
              <a:rPr lang="en-US" dirty="0" smtClean="0">
                <a:latin typeface="Arial monospaced for SAP" panose="020B0609020202030204" pitchFamily="49" charset="0"/>
              </a:rPr>
              <a:t> Ravi </a:t>
            </a:r>
            <a:r>
              <a:rPr lang="en-US" dirty="0" err="1" smtClean="0">
                <a:latin typeface="Arial monospaced for SAP" panose="020B0609020202030204" pitchFamily="49" charset="0"/>
              </a:rPr>
              <a:t>Jaisinghani</a:t>
            </a:r>
            <a:r>
              <a:rPr lang="en-US" dirty="0" smtClean="0">
                <a:latin typeface="Arial monospaced for SAP" panose="020B0609020202030204" pitchFamily="49" charset="0"/>
              </a:rPr>
              <a:t>       EN22CS301084</a:t>
            </a:r>
            <a:endParaRPr lang="en-US" dirty="0">
              <a:latin typeface="Arial monospaced for SAP" panose="020B0609020202030204" pitchFamily="49" charset="0"/>
            </a:endParaRPr>
          </a:p>
          <a:p>
            <a:r>
              <a:rPr lang="en-US" dirty="0" smtClean="0"/>
              <a:t>Of Batch B1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-26247" y="5594540"/>
            <a:ext cx="2965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monospaced for SAP" panose="020B0609020202030204" pitchFamily="49" charset="0"/>
              </a:rPr>
              <a:t>To:</a:t>
            </a:r>
          </a:p>
          <a:p>
            <a:r>
              <a:rPr lang="en-US" dirty="0" smtClean="0">
                <a:latin typeface="Arial monospaced for SAP" panose="020B0609020202030204" pitchFamily="49" charset="0"/>
              </a:rPr>
              <a:t>Prof. </a:t>
            </a:r>
            <a:r>
              <a:rPr lang="en-US" dirty="0" err="1" smtClean="0">
                <a:latin typeface="Arial monospaced for SAP" panose="020B0609020202030204" pitchFamily="49" charset="0"/>
              </a:rPr>
              <a:t>Jyotsana</a:t>
            </a:r>
            <a:r>
              <a:rPr lang="en-US" dirty="0" smtClean="0">
                <a:latin typeface="Arial monospaced for SAP" panose="020B0609020202030204" pitchFamily="49" charset="0"/>
              </a:rPr>
              <a:t> </a:t>
            </a:r>
            <a:r>
              <a:rPr lang="en-US" dirty="0" err="1" smtClean="0">
                <a:latin typeface="Arial monospaced for SAP" panose="020B0609020202030204" pitchFamily="49" charset="0"/>
              </a:rPr>
              <a:t>Goyal</a:t>
            </a:r>
            <a:endParaRPr lang="en-US" dirty="0">
              <a:latin typeface="Arial monospaced for SAP" panose="020B0609020202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Domain: Machine Learning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1128938"/>
            <a:ext cx="10065859" cy="512769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is a sub-topic of Artificial Intelligence where the development and study of statistical algorithms arise that can learn from </a:t>
            </a:r>
            <a:r>
              <a:rPr lang="en-US" sz="1800" b="1" dirty="0" smtClean="0"/>
              <a:t>data </a:t>
            </a:r>
            <a:r>
              <a:rPr lang="en-US" sz="1800" dirty="0" smtClean="0"/>
              <a:t>and </a:t>
            </a:r>
            <a:r>
              <a:rPr lang="en-US" sz="1800" b="1" dirty="0" smtClean="0"/>
              <a:t>experience.</a:t>
            </a:r>
          </a:p>
          <a:p>
            <a:endParaRPr lang="en-US" sz="1800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As per </a:t>
            </a:r>
            <a:r>
              <a:rPr lang="en-US" sz="1800" b="1" dirty="0" smtClean="0"/>
              <a:t>Arthur Samuel’s </a:t>
            </a:r>
            <a:r>
              <a:rPr lang="en-US" sz="1800" dirty="0" smtClean="0"/>
              <a:t>definition of ML: Without being explicitly programmed, ML enables a machine to automatically learn from data, improve performance from </a:t>
            </a:r>
            <a:r>
              <a:rPr lang="en-US" sz="1800" b="1" dirty="0" smtClean="0"/>
              <a:t>experience </a:t>
            </a:r>
            <a:r>
              <a:rPr lang="en-US" sz="1800" dirty="0" smtClean="0"/>
              <a:t>&amp; can </a:t>
            </a:r>
            <a:r>
              <a:rPr lang="en-US" sz="1800" b="1" dirty="0" smtClean="0"/>
              <a:t>predict </a:t>
            </a:r>
            <a:r>
              <a:rPr lang="en-US" sz="1800" dirty="0" smtClean="0"/>
              <a:t>things.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Instead of being </a:t>
            </a:r>
            <a:r>
              <a:rPr lang="en-US" sz="1800" b="1" dirty="0" smtClean="0"/>
              <a:t>explicitly programmed </a:t>
            </a:r>
            <a:r>
              <a:rPr lang="en-US" sz="1800" dirty="0" smtClean="0"/>
              <a:t>to perform specific tasks, ML algorithms </a:t>
            </a:r>
            <a:r>
              <a:rPr lang="en-US" sz="1800" b="1" dirty="0" smtClean="0"/>
              <a:t>analyze data, identify patterns, and improve their performance over time.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Key features include: Learning from </a:t>
            </a:r>
            <a:r>
              <a:rPr lang="en-US" sz="1800" b="1" dirty="0" smtClean="0"/>
              <a:t>data and experience </a:t>
            </a:r>
            <a:r>
              <a:rPr lang="en-US" sz="1800" dirty="0" smtClean="0"/>
              <a:t>using dataset to </a:t>
            </a:r>
            <a:r>
              <a:rPr lang="en-US" sz="1800" b="1" dirty="0" smtClean="0"/>
              <a:t>train and develop </a:t>
            </a:r>
            <a:r>
              <a:rPr lang="en-US" sz="1800" dirty="0" smtClean="0"/>
              <a:t>models, To perform well on </a:t>
            </a:r>
            <a:r>
              <a:rPr lang="en-US" sz="1800" b="1" dirty="0" smtClean="0"/>
              <a:t>unseen data</a:t>
            </a:r>
            <a:r>
              <a:rPr lang="en-US" sz="1800" dirty="0" smtClean="0"/>
              <a:t>(not just the training dataset), &amp; </a:t>
            </a:r>
            <a:r>
              <a:rPr lang="en-US" sz="1800" b="1" dirty="0" smtClean="0"/>
              <a:t>improvements</a:t>
            </a:r>
            <a:r>
              <a:rPr lang="en-US" sz="1800" dirty="0" smtClean="0"/>
              <a:t> through more data and better algorithms.</a:t>
            </a:r>
            <a:endParaRPr lang="en-US" sz="1800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16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Domain: Machine Learning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1128938"/>
            <a:ext cx="10065859" cy="5321289"/>
          </a:xfrm>
        </p:spPr>
        <p:txBody>
          <a:bodyPr/>
          <a:lstStyle/>
          <a:p>
            <a:r>
              <a:rPr lang="en-US" sz="1800" b="1" dirty="0" smtClean="0"/>
              <a:t>Why Machine Learning?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can </a:t>
            </a:r>
            <a:r>
              <a:rPr lang="en-US" sz="1800" b="1" dirty="0" smtClean="0"/>
              <a:t>automate</a:t>
            </a:r>
            <a:r>
              <a:rPr lang="en-US" sz="1800" dirty="0" smtClean="0"/>
              <a:t> decision-making processes that are too complex to code explicitly.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algorithms can </a:t>
            </a:r>
            <a:r>
              <a:rPr lang="en-US" sz="1800" b="1" dirty="0" smtClean="0"/>
              <a:t>process and analyze </a:t>
            </a:r>
            <a:r>
              <a:rPr lang="en-US" sz="1800" dirty="0" smtClean="0"/>
              <a:t>massive datasets that are </a:t>
            </a:r>
            <a:r>
              <a:rPr lang="en-US" sz="1800" b="1" dirty="0" smtClean="0"/>
              <a:t>infeasible to handle manually.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</a:t>
            </a:r>
            <a:r>
              <a:rPr lang="en-US" sz="1800" b="1" dirty="0" smtClean="0"/>
              <a:t>models can learn and adapt </a:t>
            </a:r>
            <a:r>
              <a:rPr lang="en-US" sz="1800" dirty="0" smtClean="0"/>
              <a:t>to new data without requiring significant </a:t>
            </a:r>
            <a:r>
              <a:rPr lang="en-US" sz="1800" b="1" dirty="0" smtClean="0"/>
              <a:t>reprogramming.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reduces human effort by </a:t>
            </a:r>
            <a:r>
              <a:rPr lang="en-US" sz="1800" b="1" dirty="0" smtClean="0"/>
              <a:t>automating repetitive tasks </a:t>
            </a:r>
            <a:r>
              <a:rPr lang="en-US" sz="1800" dirty="0" smtClean="0"/>
              <a:t>and scaling efficiently with increased data.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algorithms can </a:t>
            </a:r>
            <a:r>
              <a:rPr lang="en-US" sz="1800" b="1" dirty="0" smtClean="0"/>
              <a:t>uncover insights and patterns </a:t>
            </a:r>
            <a:r>
              <a:rPr lang="en-US" sz="1800" dirty="0" smtClean="0"/>
              <a:t>in data, and is used in a wide range of fields, from healthcare and finance to gaming and autonomous systems.</a:t>
            </a:r>
            <a:endParaRPr lang="en-US" sz="1800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6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Domain: Machine Learning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1128938"/>
            <a:ext cx="10065859" cy="5321289"/>
          </a:xfrm>
        </p:spPr>
        <p:txBody>
          <a:bodyPr/>
          <a:lstStyle/>
          <a:p>
            <a:r>
              <a:rPr lang="en-US" sz="1800" b="1" dirty="0" smtClean="0"/>
              <a:t>Applications: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Healthcare: </a:t>
            </a:r>
            <a:r>
              <a:rPr lang="en-US" sz="1800" dirty="0" smtClean="0"/>
              <a:t>Disease prediction and diagnosis, Medical imaging, drug discovery, personalized treatment.</a:t>
            </a:r>
            <a:endParaRPr lang="en-US" sz="1800" b="1" dirty="0" smtClean="0"/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Finance: </a:t>
            </a:r>
            <a:r>
              <a:rPr lang="en-US" sz="1800" dirty="0" smtClean="0"/>
              <a:t>Fraud detection, credit scoring, algorithmic trading, risk management.</a:t>
            </a:r>
            <a:endParaRPr lang="en-US" sz="1800" b="1" dirty="0" smtClean="0"/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Retail and E-commerce: </a:t>
            </a:r>
            <a:r>
              <a:rPr lang="en-US" sz="1800" dirty="0" smtClean="0"/>
              <a:t>Personalized recommendations, dynamic pricing, inventory management, customer sentiment analysis.</a:t>
            </a:r>
            <a:endParaRPr lang="en-US" sz="1800" b="1" dirty="0" smtClean="0"/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Transportation and Logistics: </a:t>
            </a:r>
            <a:r>
              <a:rPr lang="en-US" sz="1800" dirty="0" smtClean="0"/>
              <a:t>Autonomous Vehicles, Route Optimization, Predictive maintenance, Traffic management.</a:t>
            </a:r>
            <a:endParaRPr lang="en-US" sz="1800" b="1" dirty="0" smtClean="0"/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Education: </a:t>
            </a:r>
            <a:r>
              <a:rPr lang="en-US" sz="1800" dirty="0" smtClean="0"/>
              <a:t>Adaptive Learning systems, Automated Grading, Student retention, Content recommendation.</a:t>
            </a:r>
            <a:endParaRPr lang="en-US" sz="1800" b="1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Topic: </a:t>
            </a:r>
            <a:r>
              <a:rPr lang="en-US" dirty="0" smtClean="0"/>
              <a:t>Smart Vitality Tracker With AI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1754580"/>
            <a:ext cx="10065859" cy="532128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Learning is an exceptionally great way of handling </a:t>
            </a:r>
            <a:r>
              <a:rPr lang="en-US" sz="1800" b="1" dirty="0" smtClean="0"/>
              <a:t>time-series datasets, </a:t>
            </a:r>
            <a:r>
              <a:rPr lang="en-US" sz="1800" dirty="0" smtClean="0"/>
              <a:t>thanks to which it is implemented in fields like Healthcare.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And so we can use ML as a </a:t>
            </a:r>
            <a:r>
              <a:rPr lang="en-US" sz="1800" b="1" dirty="0" smtClean="0"/>
              <a:t>Healthcare Assistant.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Creating a personal health assistant through machine learning (ML) involves the application of various </a:t>
            </a:r>
            <a:r>
              <a:rPr lang="en-US" sz="1800" dirty="0" smtClean="0"/>
              <a:t>techniques </a:t>
            </a:r>
            <a:r>
              <a:rPr lang="en-US" sz="1800" dirty="0"/>
              <a:t>to analyze and predict an individual’s health status and help manage health-related tasks</a:t>
            </a:r>
            <a:r>
              <a:rPr lang="en-US" sz="18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And since it’s done through Machine Learning, we can use publicly available </a:t>
            </a:r>
            <a:r>
              <a:rPr lang="en-US" sz="1800" b="1" dirty="0" smtClean="0"/>
              <a:t>APIs to train the model </a:t>
            </a:r>
            <a:r>
              <a:rPr lang="en-US" sz="1800" dirty="0" smtClean="0"/>
              <a:t>for it, which will keep track of patient’s health and recommend treatment according to the </a:t>
            </a:r>
            <a:r>
              <a:rPr lang="en-US" sz="1800" b="1" dirty="0" smtClean="0"/>
              <a:t>live dataset </a:t>
            </a:r>
            <a:r>
              <a:rPr lang="en-US" sz="1800" dirty="0" smtClean="0"/>
              <a:t>provided.</a:t>
            </a:r>
          </a:p>
          <a:p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 smtClean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58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Topic: </a:t>
            </a:r>
            <a:r>
              <a:rPr lang="en-US" dirty="0"/>
              <a:t>Smart Vitality Tracker With AI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856735"/>
            <a:ext cx="10065859" cy="5672402"/>
          </a:xfrm>
        </p:spPr>
        <p:txBody>
          <a:bodyPr/>
          <a:lstStyle/>
          <a:p>
            <a:r>
              <a:rPr lang="en-US" sz="1800" b="1" dirty="0" smtClean="0"/>
              <a:t>Why Choose this topic?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Relevance and Growth of the Health Tech Industry: </a:t>
            </a:r>
            <a:r>
              <a:rPr lang="en-US" sz="1800" dirty="0" smtClean="0"/>
              <a:t>The </a:t>
            </a:r>
            <a:r>
              <a:rPr lang="en-US" sz="1800" dirty="0"/>
              <a:t>global health tech market is booming, with an increasing demand for personalized health solutions</a:t>
            </a:r>
            <a:r>
              <a:rPr lang="en-US" sz="1800" dirty="0" smtClean="0"/>
              <a:t>. </a:t>
            </a:r>
            <a:r>
              <a:rPr lang="en-US" sz="1800" dirty="0"/>
              <a:t>Wearables and health apps are becoming a standard part of modern </a:t>
            </a:r>
            <a:r>
              <a:rPr lang="en-US" sz="1800" dirty="0" smtClean="0"/>
              <a:t>lifestyles.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 Personal Relevance</a:t>
            </a:r>
            <a:r>
              <a:rPr lang="en-US" sz="1800" b="1" dirty="0" smtClean="0"/>
              <a:t>: </a:t>
            </a:r>
            <a:r>
              <a:rPr lang="en-US" sz="1800" dirty="0"/>
              <a:t>Health and well-being are universal concerns.        Many people struggle with tracking or maintaining their health goals.        “We wanted to create a tool that empowers users to take control of their health</a:t>
            </a:r>
            <a:r>
              <a:rPr lang="en-US" sz="1800" dirty="0" smtClean="0"/>
              <a:t>.”</a:t>
            </a:r>
          </a:p>
          <a:p>
            <a:endParaRPr lang="en-US" sz="1800" b="1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 Intersection of Machine Learning and Real-Life Impact</a:t>
            </a:r>
            <a:r>
              <a:rPr lang="en-US" sz="1800" b="1" dirty="0" smtClean="0"/>
              <a:t>: </a:t>
            </a:r>
            <a:r>
              <a:rPr lang="en-US" sz="1800" dirty="0"/>
              <a:t>The project applies cutting-edge ML techniques (time-series forecasting, recommendation systems) to solve real-world problems.        Demonstrates the power of data science in driving positive change</a:t>
            </a:r>
            <a:r>
              <a:rPr lang="en-US" sz="1800" dirty="0" smtClean="0"/>
              <a:t>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 </a:t>
            </a:r>
            <a:r>
              <a:rPr lang="en-US" sz="1800" b="1" dirty="0"/>
              <a:t>Future Potential</a:t>
            </a:r>
            <a:r>
              <a:rPr lang="en-US" sz="1800" b="1" dirty="0" smtClean="0"/>
              <a:t>: </a:t>
            </a:r>
            <a:r>
              <a:rPr lang="en-US" sz="1800" dirty="0"/>
              <a:t>The system can be expanded to integrate mental health, gamification, and real-time alerts</a:t>
            </a:r>
            <a:r>
              <a:rPr lang="en-US" sz="1800" dirty="0" smtClean="0"/>
              <a:t>. </a:t>
            </a:r>
            <a:r>
              <a:rPr lang="en-US" sz="1800" dirty="0"/>
              <a:t>Scalable to industries like insurance, fitness, and nutrition.</a:t>
            </a:r>
            <a:endParaRPr lang="en-US" sz="1800" dirty="0" smtClean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3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Topic: </a:t>
            </a:r>
            <a:r>
              <a:rPr lang="en-US" dirty="0"/>
              <a:t>Smart Vitality Tracker With AI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856735"/>
            <a:ext cx="10065859" cy="5672402"/>
          </a:xfrm>
        </p:spPr>
        <p:txBody>
          <a:bodyPr/>
          <a:lstStyle/>
          <a:p>
            <a:r>
              <a:rPr lang="en-US" sz="1800" b="1" dirty="0" smtClean="0"/>
              <a:t>Technology to be used in the project: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APIs</a:t>
            </a:r>
            <a:r>
              <a:rPr lang="en-US" sz="1800" b="1" dirty="0"/>
              <a:t>: Google Fit API, Fitbit </a:t>
            </a:r>
            <a:r>
              <a:rPr lang="en-US" sz="1800" b="1" dirty="0" smtClean="0"/>
              <a:t>API.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 smtClean="0"/>
              <a:t>Database: </a:t>
            </a:r>
            <a:r>
              <a:rPr lang="en-US" sz="1800" dirty="0" smtClean="0"/>
              <a:t>MySQL.</a:t>
            </a:r>
          </a:p>
          <a:p>
            <a:r>
              <a:rPr lang="en-US" sz="1800" b="1" dirty="0" smtClean="0"/>
              <a:t>Why?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 APIs allow integration with existing health platforms to collect real-time data.    </a:t>
            </a:r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Relational </a:t>
            </a:r>
            <a:r>
              <a:rPr lang="en-US" sz="1800" dirty="0"/>
              <a:t>Databases ensure organized storage and efficient queries for structured data</a:t>
            </a:r>
            <a:r>
              <a:rPr lang="en-US" sz="18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Data </a:t>
            </a:r>
            <a:r>
              <a:rPr lang="en-US" sz="1800" dirty="0"/>
              <a:t>Processing and </a:t>
            </a:r>
            <a:r>
              <a:rPr lang="en-US" sz="1800" dirty="0" smtClean="0"/>
              <a:t>Analysis Technologies: </a:t>
            </a:r>
            <a:r>
              <a:rPr lang="en-US" sz="1800" dirty="0"/>
              <a:t>Pandas, </a:t>
            </a:r>
            <a:r>
              <a:rPr lang="en-US" sz="1800" dirty="0" err="1" smtClean="0"/>
              <a:t>NumPy</a:t>
            </a:r>
            <a:r>
              <a:rPr lang="en-US" sz="1800" dirty="0" smtClean="0"/>
              <a:t>, </a:t>
            </a:r>
            <a:r>
              <a:rPr lang="en-US" sz="1800" dirty="0" err="1" smtClean="0"/>
              <a:t>SciPy</a:t>
            </a:r>
            <a:r>
              <a:rPr lang="en-US" sz="1800" dirty="0" smtClean="0"/>
              <a:t> </a:t>
            </a:r>
            <a:r>
              <a:rPr lang="en-US" sz="1800" dirty="0"/>
              <a:t>Python </a:t>
            </a:r>
            <a:r>
              <a:rPr lang="en-US" sz="1800" dirty="0" smtClean="0"/>
              <a:t>Libraries.</a:t>
            </a:r>
          </a:p>
          <a:p>
            <a:r>
              <a:rPr lang="en-US" sz="1800" b="1" dirty="0" smtClean="0"/>
              <a:t>Why?</a:t>
            </a:r>
          </a:p>
          <a:p>
            <a:r>
              <a:rPr lang="en-US" sz="1800" dirty="0" smtClean="0"/>
              <a:t>Pandas </a:t>
            </a:r>
            <a:r>
              <a:rPr lang="en-US" sz="1800" dirty="0"/>
              <a:t>and </a:t>
            </a:r>
            <a:r>
              <a:rPr lang="en-US" sz="1800" dirty="0" err="1"/>
              <a:t>NumPy</a:t>
            </a:r>
            <a:r>
              <a:rPr lang="en-US" sz="1800" dirty="0"/>
              <a:t> simplify data cleaning, transformation, and analysis</a:t>
            </a:r>
            <a:r>
              <a:rPr lang="en-US" sz="18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 smtClean="0"/>
              <a:t>Machine </a:t>
            </a:r>
            <a:r>
              <a:rPr lang="en-US" sz="1800" dirty="0"/>
              <a:t>Learning </a:t>
            </a:r>
            <a:r>
              <a:rPr lang="en-US" sz="1800" dirty="0" smtClean="0"/>
              <a:t>Models Frameworks: </a:t>
            </a:r>
            <a:r>
              <a:rPr lang="en-US" sz="1800" dirty="0" err="1" smtClean="0"/>
              <a:t>TensorFlow</a:t>
            </a:r>
            <a:r>
              <a:rPr lang="en-US" sz="1800" dirty="0" smtClean="0"/>
              <a:t>(deep </a:t>
            </a:r>
            <a:r>
              <a:rPr lang="en-US" sz="1800" dirty="0"/>
              <a:t>learning for time-series and recommendations</a:t>
            </a:r>
            <a:r>
              <a:rPr lang="en-US" sz="1800" dirty="0" smtClean="0"/>
              <a:t>). </a:t>
            </a:r>
            <a:r>
              <a:rPr lang="en-US" sz="1800" dirty="0" err="1"/>
              <a:t>Scikit</a:t>
            </a:r>
            <a:r>
              <a:rPr lang="en-US" sz="1800" dirty="0"/>
              <a:t>-learn (traditional machine learning algorithms).</a:t>
            </a:r>
            <a:endParaRPr lang="en-US" sz="1800" dirty="0" smtClean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8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8"/>
            <a:ext cx="8333222" cy="64770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Topic</a:t>
            </a:r>
            <a:r>
              <a:rPr lang="en-US" smtClean="0"/>
              <a:t>: </a:t>
            </a:r>
            <a:r>
              <a:rPr lang="en-US"/>
              <a:t>Smart Vitality Tracker With AI</a:t>
            </a:r>
            <a:endParaRPr lang="en-US" b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856735"/>
            <a:ext cx="10065859" cy="5672402"/>
          </a:xfrm>
        </p:spPr>
        <p:txBody>
          <a:bodyPr/>
          <a:lstStyle/>
          <a:p>
            <a:r>
              <a:rPr lang="en-US" sz="1800" b="1" dirty="0" smtClean="0"/>
              <a:t>Why?</a:t>
            </a:r>
          </a:p>
          <a:p>
            <a:r>
              <a:rPr lang="en-US" sz="1800" dirty="0" err="1" smtClean="0"/>
              <a:t>TensorFlow</a:t>
            </a:r>
            <a:r>
              <a:rPr lang="en-US" sz="1800" dirty="0" smtClean="0"/>
              <a:t> </a:t>
            </a:r>
            <a:r>
              <a:rPr lang="en-US" sz="1800" dirty="0"/>
              <a:t>are industry-standard frameworks with flexibility and scalability for deep learning models</a:t>
            </a:r>
            <a:r>
              <a:rPr lang="en-US" sz="1800" dirty="0" smtClean="0"/>
              <a:t>.</a:t>
            </a:r>
          </a:p>
          <a:p>
            <a:r>
              <a:rPr lang="en-US" sz="1800" dirty="0" err="1"/>
              <a:t>Scikit</a:t>
            </a:r>
            <a:r>
              <a:rPr lang="en-US" sz="1800" dirty="0"/>
              <a:t>-learn offers a simple interface for implementing traditional ML algorithms</a:t>
            </a:r>
            <a:r>
              <a:rPr lang="en-US" sz="1800" dirty="0" smtClean="0"/>
              <a:t>.</a:t>
            </a:r>
          </a:p>
          <a:p>
            <a:endParaRPr lang="en-US" sz="18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Visualization and </a:t>
            </a:r>
            <a:r>
              <a:rPr lang="en-US" sz="1800" dirty="0" smtClean="0"/>
              <a:t>Reporting Libraries: </a:t>
            </a:r>
            <a:r>
              <a:rPr lang="en-US" sz="1800" dirty="0" err="1" smtClean="0"/>
              <a:t>Matplotlib</a:t>
            </a:r>
            <a:r>
              <a:rPr lang="en-US" sz="1800" dirty="0"/>
              <a:t>, </a:t>
            </a:r>
            <a:r>
              <a:rPr lang="en-US" sz="1800" dirty="0" err="1" smtClean="0"/>
              <a:t>Seaborn</a:t>
            </a:r>
            <a:r>
              <a:rPr lang="en-US" sz="1800" dirty="0" smtClean="0"/>
              <a:t>(interactive </a:t>
            </a:r>
            <a:r>
              <a:rPr lang="en-US" sz="1800" dirty="0"/>
              <a:t>dashboards</a:t>
            </a:r>
            <a:r>
              <a:rPr lang="en-US" sz="1800" dirty="0" smtClean="0"/>
              <a:t>).</a:t>
            </a:r>
          </a:p>
          <a:p>
            <a:r>
              <a:rPr lang="en-US" sz="1800" b="1" dirty="0"/>
              <a:t>Why</a:t>
            </a:r>
            <a:r>
              <a:rPr lang="en-US" sz="1800" b="1" dirty="0" smtClean="0"/>
              <a:t>?</a:t>
            </a:r>
          </a:p>
          <a:p>
            <a:r>
              <a:rPr lang="en-US" sz="1800" dirty="0" err="1" smtClean="0"/>
              <a:t>Matplotlib</a:t>
            </a:r>
            <a:r>
              <a:rPr lang="en-US" sz="1800" dirty="0" smtClean="0"/>
              <a:t> </a:t>
            </a:r>
            <a:r>
              <a:rPr lang="en-US" sz="1800" dirty="0"/>
              <a:t>and </a:t>
            </a:r>
            <a:r>
              <a:rPr lang="en-US" sz="1800" dirty="0" err="1"/>
              <a:t>Seaborn</a:t>
            </a:r>
            <a:r>
              <a:rPr lang="en-US" sz="1800" dirty="0"/>
              <a:t> are great for creating basic graphs and reports.</a:t>
            </a:r>
            <a:endParaRPr lang="en-US" sz="1800" dirty="0" smtClean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1146971" y="329514"/>
            <a:ext cx="657851" cy="387178"/>
          </a:xfrm>
          <a:prstGeom prst="rect">
            <a:avLst/>
          </a:prstGeom>
          <a:ln>
            <a:solidFill>
              <a:srgbClr val="0019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55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89027928_Hexagon presentation dark_AAS_v4" id="{00715B48-F6B0-4FD0-BA2D-34714F23D55A}" vid="{445656DE-313E-4A78-B834-A775A8573B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3589D-EF2D-4AF3-8B55-088F4B14D6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40343A-75DB-4E03-95EA-4A75BA0D7FF2}">
  <ds:schemaRefs>
    <ds:schemaRef ds:uri="71af3243-3dd4-4a8d-8c0d-dd76da1f02a5"/>
    <ds:schemaRef ds:uri="http://purl.org/dc/dcmitype/"/>
    <ds:schemaRef ds:uri="http://purl.org/dc/terms/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B759597-1FA4-4F46-9BA8-01240C5602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0</TotalTime>
  <Words>767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Arial Black</vt:lpstr>
      <vt:lpstr>Arial monospaced for SAP</vt:lpstr>
      <vt:lpstr>Calibri</vt:lpstr>
      <vt:lpstr>Calibri Light</vt:lpstr>
      <vt:lpstr>CiscoSans ExtraLight</vt:lpstr>
      <vt:lpstr>Gill Sans SemiBold</vt:lpstr>
      <vt:lpstr>Times New Roman</vt:lpstr>
      <vt:lpstr>Wingdings</vt:lpstr>
      <vt:lpstr>Office Theme</vt:lpstr>
      <vt:lpstr>Mini-Project</vt:lpstr>
      <vt:lpstr>Domain: Machine Learning</vt:lpstr>
      <vt:lpstr>Domain: Machine Learning</vt:lpstr>
      <vt:lpstr>Domain: Machine Learning</vt:lpstr>
      <vt:lpstr>Topic: Smart Vitality Tracker With AI</vt:lpstr>
      <vt:lpstr>Topic: Smart Vitality Tracker With AI</vt:lpstr>
      <vt:lpstr>Topic: Smart Vitality Tracker With AI</vt:lpstr>
      <vt:lpstr>Topic: Smart Vitality Tracker With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2025-01-27T14:17:01Z</dcterms:created>
  <dcterms:modified xsi:type="dcterms:W3CDTF">2025-01-28T06:00:14Z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